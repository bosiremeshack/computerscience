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sldSz cx="12192000" cy="6858000"/>
  <p:notesSz cx="12192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106" d="100"/>
          <a:sy n="106" d="100"/>
        </p:scale>
        <p:origin x="756" y="96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1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9/26/2024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800" b="1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9/26/2024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800" b="1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9/26/2024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800" b="1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9/26/2024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9/26/2024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78739" y="16891"/>
            <a:ext cx="4501515" cy="50114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1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2386329" y="3101085"/>
            <a:ext cx="7868920" cy="241363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9/26/2024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5.xml"/><Relationship Id="rId4" Type="http://schemas.microsoft.com/office/2007/relationships/hdphoto" Target="../media/hdphoto1.wdp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515600" y="307297"/>
            <a:ext cx="1251444" cy="1496309"/>
          </a:xfrm>
          <a:prstGeom prst="rect">
            <a:avLst/>
          </a:prstGeom>
        </p:spPr>
      </p:pic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235265" y="307297"/>
            <a:ext cx="2822575" cy="8483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5400" b="0" dirty="0">
                <a:latin typeface="Calibri"/>
                <a:cs typeface="Calibri"/>
              </a:rPr>
              <a:t>Lecture</a:t>
            </a:r>
            <a:r>
              <a:rPr sz="5400" b="0" spc="-225" dirty="0">
                <a:latin typeface="Calibri"/>
                <a:cs typeface="Calibri"/>
              </a:rPr>
              <a:t> </a:t>
            </a:r>
            <a:r>
              <a:rPr sz="5400" b="0" dirty="0">
                <a:latin typeface="Calibri"/>
                <a:cs typeface="Calibri"/>
              </a:rPr>
              <a:t>-</a:t>
            </a:r>
            <a:r>
              <a:rPr sz="5400" b="0" spc="-50" dirty="0">
                <a:latin typeface="Calibri"/>
                <a:cs typeface="Calibri"/>
              </a:rPr>
              <a:t>3</a:t>
            </a:r>
            <a:endParaRPr sz="5400" dirty="0">
              <a:latin typeface="Calibri"/>
              <a:cs typeface="Calibri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235265" y="2514600"/>
            <a:ext cx="10737535" cy="324473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601595">
              <a:lnSpc>
                <a:spcPct val="100000"/>
              </a:lnSpc>
              <a:spcBef>
                <a:spcPts val="100"/>
              </a:spcBef>
            </a:pPr>
            <a:r>
              <a:rPr lang="en-US" sz="5400" dirty="0">
                <a:latin typeface="Calibri"/>
                <a:cs typeface="Calibri"/>
              </a:rPr>
              <a:t>Programming</a:t>
            </a:r>
            <a:r>
              <a:rPr sz="5400" spc="-140" dirty="0">
                <a:latin typeface="Calibri"/>
                <a:cs typeface="Calibri"/>
              </a:rPr>
              <a:t> </a:t>
            </a:r>
            <a:r>
              <a:rPr sz="5400" dirty="0">
                <a:latin typeface="Calibri"/>
                <a:cs typeface="Calibri"/>
              </a:rPr>
              <a:t>in</a:t>
            </a:r>
            <a:r>
              <a:rPr sz="5400" spc="-140" dirty="0">
                <a:latin typeface="Calibri"/>
                <a:cs typeface="Calibri"/>
              </a:rPr>
              <a:t> </a:t>
            </a:r>
            <a:r>
              <a:rPr sz="5400" spc="-10" dirty="0">
                <a:latin typeface="Calibri"/>
                <a:cs typeface="Calibri"/>
              </a:rPr>
              <a:t>Python</a:t>
            </a:r>
            <a:endParaRPr sz="5400" dirty="0">
              <a:latin typeface="Calibri"/>
              <a:cs typeface="Calibri"/>
            </a:endParaRPr>
          </a:p>
          <a:p>
            <a:pPr marL="1844675" algn="ctr">
              <a:lnSpc>
                <a:spcPct val="100000"/>
              </a:lnSpc>
              <a:spcBef>
                <a:spcPts val="1265"/>
              </a:spcBef>
              <a:tabLst>
                <a:tab pos="6383020" algn="l"/>
              </a:tabLst>
            </a:pPr>
            <a:r>
              <a:rPr sz="1600" b="1" spc="-25" dirty="0">
                <a:solidFill>
                  <a:srgbClr val="4471C4"/>
                </a:solidFill>
                <a:latin typeface="Calibri"/>
                <a:cs typeface="Calibri"/>
              </a:rPr>
              <a:t>AALWAHAB</a:t>
            </a:r>
            <a:r>
              <a:rPr sz="1600" b="1" spc="20" dirty="0">
                <a:solidFill>
                  <a:srgbClr val="4471C4"/>
                </a:solidFill>
                <a:latin typeface="Calibri"/>
                <a:cs typeface="Calibri"/>
              </a:rPr>
              <a:t> </a:t>
            </a:r>
            <a:r>
              <a:rPr sz="1600" b="1" spc="-10" dirty="0">
                <a:solidFill>
                  <a:srgbClr val="4471C4"/>
                </a:solidFill>
                <a:latin typeface="Calibri"/>
                <a:cs typeface="Calibri"/>
              </a:rPr>
              <a:t>DHULFIQAR</a:t>
            </a:r>
            <a:r>
              <a:rPr lang="en-US" sz="1600" b="1" spc="-10" dirty="0">
                <a:solidFill>
                  <a:srgbClr val="4471C4"/>
                </a:solidFill>
                <a:latin typeface="Calibri"/>
                <a:cs typeface="Calibri"/>
              </a:rPr>
              <a:t> ZOLTAN</a:t>
            </a:r>
            <a:r>
              <a:rPr sz="1600" b="1" dirty="0">
                <a:solidFill>
                  <a:srgbClr val="4471C4"/>
                </a:solidFill>
                <a:latin typeface="Calibri"/>
                <a:cs typeface="Calibri"/>
              </a:rPr>
              <a:t>	</a:t>
            </a:r>
            <a:endParaRPr sz="1600" b="1" dirty="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1600" dirty="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60"/>
              </a:spcBef>
            </a:pPr>
            <a:endParaRPr sz="1600" dirty="0">
              <a:latin typeface="Calibri"/>
              <a:cs typeface="Calibri"/>
            </a:endParaRPr>
          </a:p>
          <a:p>
            <a:pPr marL="53340">
              <a:lnSpc>
                <a:spcPct val="100000"/>
              </a:lnSpc>
            </a:pPr>
            <a:r>
              <a:rPr sz="2400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What</a:t>
            </a:r>
            <a:r>
              <a:rPr sz="2400" u="sng" spc="-5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2400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you</a:t>
            </a:r>
            <a:r>
              <a:rPr sz="2400" u="sng" spc="-65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2400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will</a:t>
            </a:r>
            <a:r>
              <a:rPr sz="2400" u="sng" spc="-55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2400" u="sng" spc="-1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learn:</a:t>
            </a:r>
            <a:endParaRPr sz="2400" dirty="0">
              <a:latin typeface="Calibri"/>
              <a:cs typeface="Calibri"/>
            </a:endParaRPr>
          </a:p>
          <a:p>
            <a:pPr marL="297815" marR="6033770" indent="-285750" algn="l">
              <a:lnSpc>
                <a:spcPct val="123900"/>
              </a:lnSpc>
              <a:spcBef>
                <a:spcPts val="465"/>
              </a:spcBef>
              <a:buFont typeface="Arial" panose="020B0604020202020204" pitchFamily="34" charset="0"/>
              <a:buChar char="•"/>
            </a:pPr>
            <a:r>
              <a:rPr sz="1600" dirty="0">
                <a:solidFill>
                  <a:srgbClr val="4471C4"/>
                </a:solidFill>
                <a:latin typeface="Calibri"/>
                <a:cs typeface="Calibri"/>
              </a:rPr>
              <a:t>Making</a:t>
            </a:r>
            <a:r>
              <a:rPr sz="1600" spc="-40" dirty="0">
                <a:solidFill>
                  <a:srgbClr val="4471C4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4471C4"/>
                </a:solidFill>
                <a:latin typeface="Calibri"/>
                <a:cs typeface="Calibri"/>
              </a:rPr>
              <a:t>decisions</a:t>
            </a:r>
            <a:r>
              <a:rPr sz="1600" spc="-20" dirty="0">
                <a:solidFill>
                  <a:srgbClr val="4471C4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4471C4"/>
                </a:solidFill>
                <a:latin typeface="Calibri"/>
                <a:cs typeface="Calibri"/>
              </a:rPr>
              <a:t>(if</a:t>
            </a:r>
            <a:r>
              <a:rPr sz="1600" spc="-20" dirty="0">
                <a:solidFill>
                  <a:srgbClr val="4471C4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4471C4"/>
                </a:solidFill>
                <a:latin typeface="Calibri"/>
                <a:cs typeface="Calibri"/>
              </a:rPr>
              <a:t>statement) loops</a:t>
            </a:r>
            <a:endParaRPr sz="1600" dirty="0">
              <a:latin typeface="Calibri"/>
              <a:cs typeface="Calibri"/>
            </a:endParaRPr>
          </a:p>
          <a:p>
            <a:pPr marL="320041" marR="6286500" indent="-285750" algn="l">
              <a:lnSpc>
                <a:spcPct val="124000"/>
              </a:lnSpc>
              <a:spcBef>
                <a:spcPts val="530"/>
              </a:spcBef>
              <a:buFont typeface="Arial" panose="020B0604020202020204" pitchFamily="34" charset="0"/>
              <a:buChar char="•"/>
            </a:pPr>
            <a:r>
              <a:rPr sz="1600" dirty="0">
                <a:solidFill>
                  <a:srgbClr val="4471C4"/>
                </a:solidFill>
                <a:latin typeface="Calibri"/>
                <a:cs typeface="Calibri"/>
              </a:rPr>
              <a:t>logic</a:t>
            </a:r>
            <a:r>
              <a:rPr sz="1600" spc="-40" dirty="0">
                <a:solidFill>
                  <a:srgbClr val="4471C4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4471C4"/>
                </a:solidFill>
                <a:latin typeface="Calibri"/>
                <a:cs typeface="Calibri"/>
              </a:rPr>
              <a:t>and</a:t>
            </a:r>
            <a:r>
              <a:rPr sz="1600" spc="-25" dirty="0">
                <a:solidFill>
                  <a:srgbClr val="4471C4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4471C4"/>
                </a:solidFill>
                <a:latin typeface="Calibri"/>
                <a:cs typeface="Calibri"/>
              </a:rPr>
              <a:t>bitwise</a:t>
            </a:r>
            <a:r>
              <a:rPr sz="1600" spc="-30" dirty="0">
                <a:solidFill>
                  <a:srgbClr val="4471C4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4471C4"/>
                </a:solidFill>
                <a:latin typeface="Calibri"/>
                <a:cs typeface="Calibri"/>
              </a:rPr>
              <a:t>operations </a:t>
            </a:r>
            <a:r>
              <a:rPr sz="1600" dirty="0">
                <a:solidFill>
                  <a:srgbClr val="4471C4"/>
                </a:solidFill>
                <a:latin typeface="Calibri"/>
                <a:cs typeface="Calibri"/>
              </a:rPr>
              <a:t>lists</a:t>
            </a:r>
            <a:r>
              <a:rPr sz="1600" spc="-45" dirty="0">
                <a:solidFill>
                  <a:srgbClr val="4471C4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4471C4"/>
                </a:solidFill>
                <a:latin typeface="Calibri"/>
                <a:cs typeface="Calibri"/>
              </a:rPr>
              <a:t>in</a:t>
            </a:r>
            <a:r>
              <a:rPr lang="en-US" sz="1600" dirty="0">
                <a:solidFill>
                  <a:srgbClr val="4471C4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4471C4"/>
                </a:solidFill>
                <a:latin typeface="Calibri"/>
                <a:cs typeface="Calibri"/>
              </a:rPr>
              <a:t>Python</a:t>
            </a:r>
            <a:endParaRPr lang="en-US" sz="1600" spc="-10" dirty="0">
              <a:latin typeface="Calibri"/>
              <a:cs typeface="Calibri"/>
            </a:endParaRPr>
          </a:p>
          <a:p>
            <a:pPr marL="320041" marR="6286500" indent="-285750" algn="l">
              <a:lnSpc>
                <a:spcPct val="124000"/>
              </a:lnSpc>
              <a:spcBef>
                <a:spcPts val="530"/>
              </a:spcBef>
              <a:buFont typeface="Arial" panose="020B0604020202020204" pitchFamily="34" charset="0"/>
              <a:buChar char="•"/>
            </a:pPr>
            <a:r>
              <a:rPr sz="1600" dirty="0">
                <a:solidFill>
                  <a:srgbClr val="4471C4"/>
                </a:solidFill>
                <a:latin typeface="Calibri"/>
                <a:cs typeface="Calibri"/>
              </a:rPr>
              <a:t>Functions,</a:t>
            </a:r>
            <a:r>
              <a:rPr sz="1600" spc="-20" dirty="0">
                <a:solidFill>
                  <a:srgbClr val="4471C4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4471C4"/>
                </a:solidFill>
                <a:latin typeface="Calibri"/>
                <a:cs typeface="Calibri"/>
              </a:rPr>
              <a:t>tuples</a:t>
            </a:r>
            <a:r>
              <a:rPr sz="1600" spc="-40" dirty="0">
                <a:solidFill>
                  <a:srgbClr val="4471C4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4471C4"/>
                </a:solidFill>
                <a:latin typeface="Calibri"/>
                <a:cs typeface="Calibri"/>
              </a:rPr>
              <a:t>and</a:t>
            </a:r>
            <a:r>
              <a:rPr sz="1600" spc="320" dirty="0">
                <a:solidFill>
                  <a:srgbClr val="4471C4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4471C4"/>
                </a:solidFill>
                <a:latin typeface="Calibri"/>
                <a:cs typeface="Calibri"/>
              </a:rPr>
              <a:t>dictionaries</a:t>
            </a:r>
            <a:endParaRPr sz="1600" dirty="0">
              <a:latin typeface="Calibri"/>
              <a:cs typeface="Calibri"/>
            </a:endParaRPr>
          </a:p>
        </p:txBody>
      </p:sp>
      <p:grpSp>
        <p:nvGrpSpPr>
          <p:cNvPr id="27" name="object 27"/>
          <p:cNvGrpSpPr/>
          <p:nvPr/>
        </p:nvGrpSpPr>
        <p:grpSpPr>
          <a:xfrm>
            <a:off x="6172200" y="4876800"/>
            <a:ext cx="6628130" cy="2146300"/>
            <a:chOff x="5564123" y="4546091"/>
            <a:chExt cx="6628130" cy="2146300"/>
          </a:xfrm>
        </p:grpSpPr>
        <p:pic>
          <p:nvPicPr>
            <p:cNvPr id="28" name="object 2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564123" y="5288279"/>
              <a:ext cx="2904744" cy="688847"/>
            </a:xfrm>
            <a:prstGeom prst="rect">
              <a:avLst/>
            </a:prstGeom>
          </p:spPr>
        </p:pic>
        <p:pic>
          <p:nvPicPr>
            <p:cNvPr id="29" name="object 2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917179" y="4546091"/>
              <a:ext cx="4274820" cy="2145792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65988" rIns="0" bIns="0" rtlCol="0">
            <a:spAutoFit/>
          </a:bodyPr>
          <a:lstStyle/>
          <a:p>
            <a:pPr marL="140970">
              <a:lnSpc>
                <a:spcPct val="100000"/>
              </a:lnSpc>
              <a:spcBef>
                <a:spcPts val="100"/>
              </a:spcBef>
            </a:pPr>
            <a:r>
              <a:rPr dirty="0">
                <a:solidFill>
                  <a:srgbClr val="4471C4"/>
                </a:solidFill>
              </a:rPr>
              <a:t>Questions</a:t>
            </a:r>
            <a:r>
              <a:rPr spc="-30" dirty="0">
                <a:solidFill>
                  <a:srgbClr val="4471C4"/>
                </a:solidFill>
              </a:rPr>
              <a:t> </a:t>
            </a:r>
            <a:r>
              <a:rPr dirty="0">
                <a:solidFill>
                  <a:srgbClr val="4471C4"/>
                </a:solidFill>
              </a:rPr>
              <a:t>and</a:t>
            </a:r>
            <a:r>
              <a:rPr spc="-50" dirty="0">
                <a:solidFill>
                  <a:srgbClr val="4471C4"/>
                </a:solidFill>
              </a:rPr>
              <a:t> </a:t>
            </a:r>
            <a:r>
              <a:rPr spc="-10" dirty="0">
                <a:solidFill>
                  <a:srgbClr val="4471C4"/>
                </a:solidFill>
              </a:rPr>
              <a:t>answers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28015" y="690372"/>
            <a:ext cx="4813300" cy="2117090"/>
          </a:xfrm>
          <a:prstGeom prst="rect">
            <a:avLst/>
          </a:prstGeom>
          <a:solidFill>
            <a:srgbClr val="4471C4"/>
          </a:solidFill>
          <a:ln w="12700">
            <a:solidFill>
              <a:srgbClr val="2E528F"/>
            </a:solidFill>
          </a:ln>
        </p:spPr>
        <p:txBody>
          <a:bodyPr vert="horz" wrap="square" lIns="0" tIns="9461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745"/>
              </a:spcBef>
            </a:pPr>
            <a:endParaRPr sz="1800">
              <a:latin typeface="Times New Roman"/>
              <a:cs typeface="Times New Roman"/>
            </a:endParaRPr>
          </a:p>
          <a:p>
            <a:pPr marL="91440" marR="359410">
              <a:lnSpc>
                <a:spcPct val="100000"/>
              </a:lnSpc>
            </a:pPr>
            <a:r>
              <a:rPr sz="1800" spc="-20" dirty="0">
                <a:solidFill>
                  <a:srgbClr val="FFFFFF"/>
                </a:solidFill>
                <a:latin typeface="Calibri"/>
                <a:cs typeface="Calibri"/>
              </a:rPr>
              <a:t>Fortunately,</a:t>
            </a:r>
            <a:r>
              <a:rPr sz="18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Calibri"/>
                <a:cs typeface="Calibri"/>
              </a:rPr>
              <a:t>computers</a:t>
            </a:r>
            <a:r>
              <a:rPr sz="1800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know</a:t>
            </a:r>
            <a:r>
              <a:rPr sz="18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only</a:t>
            </a:r>
            <a:r>
              <a:rPr sz="18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two</a:t>
            </a:r>
            <a:r>
              <a:rPr sz="18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kinds</a:t>
            </a:r>
            <a:r>
              <a:rPr sz="18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-25" dirty="0">
                <a:solidFill>
                  <a:srgbClr val="FFFFFF"/>
                </a:solidFill>
                <a:latin typeface="Calibri"/>
                <a:cs typeface="Calibri"/>
              </a:rPr>
              <a:t>of </a:t>
            </a:r>
            <a:r>
              <a:rPr sz="1800" spc="-10" dirty="0">
                <a:solidFill>
                  <a:srgbClr val="FFFFFF"/>
                </a:solidFill>
                <a:latin typeface="Calibri"/>
                <a:cs typeface="Calibri"/>
              </a:rPr>
              <a:t>answers:</a:t>
            </a:r>
            <a:endParaRPr sz="1800">
              <a:latin typeface="Calibri"/>
              <a:cs typeface="Calibri"/>
            </a:endParaRPr>
          </a:p>
          <a:p>
            <a:pPr marL="300355">
              <a:lnSpc>
                <a:spcPct val="100000"/>
              </a:lnSpc>
              <a:spcBef>
                <a:spcPts val="2160"/>
              </a:spcBef>
            </a:pP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yes,</a:t>
            </a:r>
            <a:r>
              <a:rPr sz="1800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this</a:t>
            </a:r>
            <a:r>
              <a:rPr sz="1800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is</a:t>
            </a:r>
            <a:r>
              <a:rPr sz="1800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-20" dirty="0">
                <a:solidFill>
                  <a:srgbClr val="FFFFFF"/>
                </a:solidFill>
                <a:latin typeface="Calibri"/>
                <a:cs typeface="Calibri"/>
              </a:rPr>
              <a:t>true;</a:t>
            </a:r>
            <a:endParaRPr sz="1800">
              <a:latin typeface="Calibri"/>
              <a:cs typeface="Calibri"/>
            </a:endParaRPr>
          </a:p>
          <a:p>
            <a:pPr marL="300355">
              <a:lnSpc>
                <a:spcPct val="100000"/>
              </a:lnSpc>
            </a:pP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no,</a:t>
            </a:r>
            <a:r>
              <a:rPr sz="1800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this</a:t>
            </a:r>
            <a:r>
              <a:rPr sz="18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is</a:t>
            </a:r>
            <a:r>
              <a:rPr sz="1800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Calibri"/>
                <a:cs typeface="Calibri"/>
              </a:rPr>
              <a:t>false.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09154" y="4876800"/>
            <a:ext cx="285496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solidFill>
                  <a:srgbClr val="4471C4"/>
                </a:solidFill>
                <a:latin typeface="Calibri"/>
                <a:cs typeface="Calibri"/>
              </a:rPr>
              <a:t>How</a:t>
            </a:r>
            <a:r>
              <a:rPr sz="1800" b="1" spc="-15" dirty="0">
                <a:solidFill>
                  <a:srgbClr val="4471C4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4471C4"/>
                </a:solidFill>
                <a:latin typeface="Calibri"/>
                <a:cs typeface="Calibri"/>
              </a:rPr>
              <a:t>to</a:t>
            </a:r>
            <a:r>
              <a:rPr sz="1800" b="1" spc="-15" dirty="0">
                <a:solidFill>
                  <a:srgbClr val="4471C4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4471C4"/>
                </a:solidFill>
                <a:latin typeface="Calibri"/>
                <a:cs typeface="Calibri"/>
              </a:rPr>
              <a:t>ask</a:t>
            </a:r>
            <a:r>
              <a:rPr sz="1800" b="1" spc="-15" dirty="0">
                <a:solidFill>
                  <a:srgbClr val="4471C4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4471C4"/>
                </a:solidFill>
                <a:latin typeface="Calibri"/>
                <a:cs typeface="Calibri"/>
              </a:rPr>
              <a:t>python</a:t>
            </a:r>
            <a:r>
              <a:rPr sz="1800" b="1" spc="-40" dirty="0">
                <a:solidFill>
                  <a:srgbClr val="4471C4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4471C4"/>
                </a:solidFill>
                <a:latin typeface="Calibri"/>
                <a:cs typeface="Calibri"/>
              </a:rPr>
              <a:t>a</a:t>
            </a:r>
            <a:r>
              <a:rPr sz="1800" b="1" spc="5" dirty="0">
                <a:solidFill>
                  <a:srgbClr val="4471C4"/>
                </a:solidFill>
                <a:latin typeface="Calibri"/>
                <a:cs typeface="Calibri"/>
              </a:rPr>
              <a:t> </a:t>
            </a:r>
            <a:r>
              <a:rPr sz="1800" b="1" spc="-10" dirty="0">
                <a:solidFill>
                  <a:srgbClr val="4471C4"/>
                </a:solidFill>
                <a:latin typeface="Calibri"/>
                <a:cs typeface="Calibri"/>
              </a:rPr>
              <a:t>question</a:t>
            </a:r>
            <a:endParaRPr sz="1800" dirty="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28015" y="5334000"/>
            <a:ext cx="4813300" cy="1403985"/>
          </a:xfrm>
          <a:prstGeom prst="rect">
            <a:avLst/>
          </a:prstGeom>
          <a:solidFill>
            <a:srgbClr val="4471C4"/>
          </a:solidFill>
          <a:ln w="12700">
            <a:solidFill>
              <a:srgbClr val="2E528F"/>
            </a:solidFill>
          </a:ln>
        </p:spPr>
        <p:txBody>
          <a:bodyPr vert="horz" wrap="square" lIns="0" tIns="15049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185"/>
              </a:spcBef>
            </a:pPr>
            <a:endParaRPr sz="1800" dirty="0">
              <a:latin typeface="Times New Roman"/>
              <a:cs typeface="Times New Roman"/>
            </a:endParaRPr>
          </a:p>
          <a:p>
            <a:pPr marL="91440" marR="692785">
              <a:lnSpc>
                <a:spcPct val="100000"/>
              </a:lnSpc>
            </a:pPr>
            <a:r>
              <a:rPr sz="1800" b="1" spc="-60" dirty="0">
                <a:solidFill>
                  <a:srgbClr val="FFFFFF"/>
                </a:solidFill>
                <a:latin typeface="Calibri"/>
                <a:cs typeface="Calibri"/>
              </a:rPr>
              <a:t>To</a:t>
            </a:r>
            <a:r>
              <a:rPr sz="1800" b="1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FFFFFF"/>
                </a:solidFill>
                <a:latin typeface="Calibri"/>
                <a:cs typeface="Calibri"/>
              </a:rPr>
              <a:t>ask</a:t>
            </a:r>
            <a:r>
              <a:rPr sz="1800" b="1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FFFFFF"/>
                </a:solidFill>
                <a:latin typeface="Calibri"/>
                <a:cs typeface="Calibri"/>
              </a:rPr>
              <a:t>questions,</a:t>
            </a:r>
            <a:r>
              <a:rPr sz="1800" b="1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FFFFFF"/>
                </a:solidFill>
                <a:latin typeface="Calibri"/>
                <a:cs typeface="Calibri"/>
              </a:rPr>
              <a:t>Python</a:t>
            </a:r>
            <a:r>
              <a:rPr sz="1800" b="1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FFFFFF"/>
                </a:solidFill>
                <a:latin typeface="Calibri"/>
                <a:cs typeface="Calibri"/>
              </a:rPr>
              <a:t>uses</a:t>
            </a:r>
            <a:r>
              <a:rPr sz="1800" b="1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sz="1800" b="1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FFFFFF"/>
                </a:solidFill>
                <a:latin typeface="Calibri"/>
                <a:cs typeface="Calibri"/>
              </a:rPr>
              <a:t>set</a:t>
            </a:r>
            <a:r>
              <a:rPr sz="1800" b="1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FFFFFF"/>
                </a:solidFill>
                <a:latin typeface="Calibri"/>
                <a:cs typeface="Calibri"/>
              </a:rPr>
              <a:t>of</a:t>
            </a:r>
            <a:r>
              <a:rPr sz="1800" b="1" spc="-20" dirty="0">
                <a:solidFill>
                  <a:srgbClr val="FFFFFF"/>
                </a:solidFill>
                <a:latin typeface="Calibri"/>
                <a:cs typeface="Calibri"/>
              </a:rPr>
              <a:t> very </a:t>
            </a:r>
            <a:r>
              <a:rPr sz="1800" b="1" dirty="0">
                <a:solidFill>
                  <a:srgbClr val="FFFFFF"/>
                </a:solidFill>
                <a:latin typeface="Calibri"/>
                <a:cs typeface="Calibri"/>
              </a:rPr>
              <a:t>special</a:t>
            </a:r>
            <a:r>
              <a:rPr sz="1800" b="1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b="1" spc="-10" dirty="0">
                <a:solidFill>
                  <a:srgbClr val="FFFFFF"/>
                </a:solidFill>
                <a:latin typeface="Calibri"/>
                <a:cs typeface="Calibri"/>
              </a:rPr>
              <a:t>operators</a:t>
            </a:r>
            <a:r>
              <a:rPr sz="1800" spc="-10" dirty="0">
                <a:solidFill>
                  <a:srgbClr val="FFFFFF"/>
                </a:solidFill>
                <a:latin typeface="Calibri"/>
                <a:cs typeface="Calibri"/>
              </a:rPr>
              <a:t>.</a:t>
            </a:r>
            <a:endParaRPr sz="1800" dirty="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7266558" y="170179"/>
            <a:ext cx="292862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solidFill>
                  <a:srgbClr val="4471C4"/>
                </a:solidFill>
                <a:latin typeface="Calibri"/>
                <a:cs typeface="Calibri"/>
              </a:rPr>
              <a:t>Comparison:</a:t>
            </a:r>
            <a:r>
              <a:rPr sz="1800" b="1" spc="-45" dirty="0">
                <a:solidFill>
                  <a:srgbClr val="4471C4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4471C4"/>
                </a:solidFill>
                <a:latin typeface="Calibri"/>
                <a:cs typeface="Calibri"/>
              </a:rPr>
              <a:t>equality</a:t>
            </a:r>
            <a:r>
              <a:rPr sz="1800" b="1" spc="-45" dirty="0">
                <a:solidFill>
                  <a:srgbClr val="4471C4"/>
                </a:solidFill>
                <a:latin typeface="Calibri"/>
                <a:cs typeface="Calibri"/>
              </a:rPr>
              <a:t> </a:t>
            </a:r>
            <a:r>
              <a:rPr sz="1800" b="1" spc="-10" dirty="0">
                <a:solidFill>
                  <a:srgbClr val="4471C4"/>
                </a:solidFill>
                <a:latin typeface="Calibri"/>
                <a:cs typeface="Calibri"/>
              </a:rPr>
              <a:t>operator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5141976" y="690372"/>
            <a:ext cx="6642100" cy="2033249"/>
          </a:xfrm>
          <a:prstGeom prst="rect">
            <a:avLst/>
          </a:prstGeom>
          <a:solidFill>
            <a:srgbClr val="4471C4"/>
          </a:solidFill>
          <a:ln w="12700">
            <a:solidFill>
              <a:srgbClr val="2E528F"/>
            </a:solidFill>
          </a:ln>
        </p:spPr>
        <p:txBody>
          <a:bodyPr vert="horz" wrap="square" lIns="0" tIns="83185" rIns="0" bIns="0" rtlCol="0">
            <a:spAutoFit/>
          </a:bodyPr>
          <a:lstStyle/>
          <a:p>
            <a:pPr marL="91440" algn="just">
              <a:lnSpc>
                <a:spcPct val="100000"/>
              </a:lnSpc>
              <a:spcBef>
                <a:spcPts val="655"/>
              </a:spcBef>
            </a:pP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Question:</a:t>
            </a:r>
            <a:r>
              <a:rPr sz="18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are</a:t>
            </a:r>
            <a:r>
              <a:rPr sz="1800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two</a:t>
            </a:r>
            <a:r>
              <a:rPr sz="1800" spc="-6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values</a:t>
            </a:r>
            <a:r>
              <a:rPr sz="1800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Calibri"/>
                <a:cs typeface="Calibri"/>
              </a:rPr>
              <a:t>equal?</a:t>
            </a:r>
            <a:endParaRPr sz="1800" dirty="0">
              <a:latin typeface="Calibri"/>
              <a:cs typeface="Calibri"/>
            </a:endParaRPr>
          </a:p>
          <a:p>
            <a:pPr marL="91440" marR="1067435" algn="just">
              <a:lnSpc>
                <a:spcPct val="100000"/>
              </a:lnSpc>
              <a:spcBef>
                <a:spcPts val="2160"/>
              </a:spcBef>
            </a:pPr>
            <a:r>
              <a:rPr sz="1800" spc="-80" dirty="0">
                <a:solidFill>
                  <a:srgbClr val="FFFFFF"/>
                </a:solidFill>
                <a:latin typeface="Calibri"/>
                <a:cs typeface="Calibri"/>
              </a:rPr>
              <a:t>To</a:t>
            </a:r>
            <a:r>
              <a:rPr sz="1800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ask</a:t>
            </a:r>
            <a:r>
              <a:rPr sz="1800" spc="-7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this</a:t>
            </a:r>
            <a:r>
              <a:rPr sz="1800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question,</a:t>
            </a:r>
            <a:r>
              <a:rPr sz="18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you</a:t>
            </a:r>
            <a:r>
              <a:rPr sz="18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use</a:t>
            </a:r>
            <a:r>
              <a:rPr sz="18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the</a:t>
            </a:r>
            <a:r>
              <a:rPr sz="18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0000"/>
                </a:solidFill>
                <a:highlight>
                  <a:srgbClr val="FFFF00"/>
                </a:highlight>
                <a:latin typeface="Calibri"/>
                <a:cs typeface="Calibri"/>
              </a:rPr>
              <a:t>==</a:t>
            </a:r>
            <a:r>
              <a:rPr sz="1800" spc="-20" dirty="0">
                <a:solidFill>
                  <a:srgbClr val="FFFFFF"/>
                </a:solidFill>
                <a:highlight>
                  <a:srgbClr val="FFFF00"/>
                </a:highlight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(equal</a:t>
            </a:r>
            <a:r>
              <a:rPr sz="1800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equal)</a:t>
            </a:r>
            <a:r>
              <a:rPr sz="18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Calibri"/>
                <a:cs typeface="Calibri"/>
              </a:rPr>
              <a:t>operator.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It</a:t>
            </a:r>
            <a:r>
              <a:rPr sz="1800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is</a:t>
            </a:r>
            <a:r>
              <a:rPr sz="1800" spc="-1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sz="1800" spc="-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FF0000"/>
                </a:solidFill>
                <a:latin typeface="Calibri"/>
                <a:cs typeface="Calibri"/>
              </a:rPr>
              <a:t>binary</a:t>
            </a:r>
            <a:r>
              <a:rPr sz="1800" b="1" spc="-3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800" b="1" spc="-10" dirty="0">
                <a:solidFill>
                  <a:srgbClr val="FF0000"/>
                </a:solidFill>
                <a:latin typeface="Calibri"/>
                <a:cs typeface="Calibri"/>
              </a:rPr>
              <a:t>operator</a:t>
            </a:r>
            <a:r>
              <a:rPr sz="1800" b="1" spc="-4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FF0000"/>
                </a:solidFill>
                <a:latin typeface="Calibri"/>
                <a:cs typeface="Calibri"/>
              </a:rPr>
              <a:t>with</a:t>
            </a:r>
            <a:r>
              <a:rPr sz="1800" b="1" spc="-1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800" b="1" spc="-10" dirty="0">
                <a:solidFill>
                  <a:srgbClr val="FF0000"/>
                </a:solidFill>
                <a:latin typeface="Calibri"/>
                <a:cs typeface="Calibri"/>
              </a:rPr>
              <a:t>left-</a:t>
            </a:r>
            <a:r>
              <a:rPr sz="1800" b="1" dirty="0">
                <a:solidFill>
                  <a:srgbClr val="FF0000"/>
                </a:solidFill>
                <a:latin typeface="Calibri"/>
                <a:cs typeface="Calibri"/>
              </a:rPr>
              <a:t>sided</a:t>
            </a:r>
            <a:r>
              <a:rPr sz="1800" b="1" spc="-1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FF0000"/>
                </a:solidFill>
                <a:latin typeface="Calibri"/>
                <a:cs typeface="Calibri"/>
              </a:rPr>
              <a:t>binding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.</a:t>
            </a:r>
            <a:r>
              <a:rPr sz="18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It</a:t>
            </a:r>
            <a:r>
              <a:rPr sz="1800" spc="-1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needs</a:t>
            </a:r>
            <a:r>
              <a:rPr sz="1800" spc="-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-25" dirty="0">
                <a:solidFill>
                  <a:srgbClr val="FFFFFF"/>
                </a:solidFill>
                <a:latin typeface="Calibri"/>
                <a:cs typeface="Calibri"/>
              </a:rPr>
              <a:t>two </a:t>
            </a:r>
            <a:r>
              <a:rPr sz="1800" spc="-10" dirty="0">
                <a:solidFill>
                  <a:srgbClr val="FFFFFF"/>
                </a:solidFill>
                <a:latin typeface="Calibri"/>
                <a:cs typeface="Calibri"/>
              </a:rPr>
              <a:t>arguments</a:t>
            </a:r>
            <a:r>
              <a:rPr sz="18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and</a:t>
            </a:r>
            <a:r>
              <a:rPr sz="1800" spc="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FFFFFF"/>
                </a:solidFill>
                <a:latin typeface="Calibri"/>
                <a:cs typeface="Calibri"/>
              </a:rPr>
              <a:t>checks</a:t>
            </a:r>
            <a:r>
              <a:rPr sz="1800" b="1" spc="-6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FFFFFF"/>
                </a:solidFill>
                <a:latin typeface="Calibri"/>
                <a:cs typeface="Calibri"/>
              </a:rPr>
              <a:t>if</a:t>
            </a:r>
            <a:r>
              <a:rPr sz="1800" b="1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FFFFFF"/>
                </a:solidFill>
                <a:latin typeface="Calibri"/>
                <a:cs typeface="Calibri"/>
              </a:rPr>
              <a:t>they</a:t>
            </a:r>
            <a:r>
              <a:rPr sz="1800" b="1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FFFFFF"/>
                </a:solidFill>
                <a:latin typeface="Calibri"/>
                <a:cs typeface="Calibri"/>
              </a:rPr>
              <a:t>are</a:t>
            </a:r>
            <a:r>
              <a:rPr sz="1800" b="1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b="1" spc="-10" dirty="0">
                <a:solidFill>
                  <a:srgbClr val="FFFFFF"/>
                </a:solidFill>
                <a:latin typeface="Calibri"/>
                <a:cs typeface="Calibri"/>
              </a:rPr>
              <a:t>equal</a:t>
            </a:r>
            <a:r>
              <a:rPr sz="1800" spc="-10" dirty="0">
                <a:solidFill>
                  <a:srgbClr val="FFFFFF"/>
                </a:solidFill>
                <a:latin typeface="Calibri"/>
                <a:cs typeface="Calibri"/>
              </a:rPr>
              <a:t>.</a:t>
            </a:r>
            <a:endParaRPr sz="1800" dirty="0">
              <a:latin typeface="Calibri"/>
              <a:cs typeface="Calibri"/>
            </a:endParaRPr>
          </a:p>
          <a:p>
            <a:pPr marL="91440" algn="just">
              <a:lnSpc>
                <a:spcPct val="100000"/>
              </a:lnSpc>
              <a:spcBef>
                <a:spcPts val="2160"/>
              </a:spcBef>
            </a:pP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Example</a:t>
            </a:r>
            <a:r>
              <a:rPr sz="18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:</a:t>
            </a:r>
            <a:r>
              <a:rPr sz="1800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A==B</a:t>
            </a:r>
            <a:r>
              <a:rPr sz="18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or</a:t>
            </a:r>
            <a:r>
              <a:rPr sz="18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-20" dirty="0">
                <a:solidFill>
                  <a:srgbClr val="FFFFFF"/>
                </a:solidFill>
                <a:latin typeface="Calibri"/>
                <a:cs typeface="Calibri"/>
              </a:rPr>
              <a:t>A!=B</a:t>
            </a:r>
            <a:endParaRPr sz="1800" dirty="0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629400" y="4267200"/>
            <a:ext cx="3415029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solidFill>
                  <a:srgbClr val="4471C4"/>
                </a:solidFill>
                <a:latin typeface="Calibri"/>
                <a:cs typeface="Calibri"/>
              </a:rPr>
              <a:t>Comparison</a:t>
            </a:r>
            <a:r>
              <a:rPr sz="1800" b="1" spc="-50" dirty="0">
                <a:solidFill>
                  <a:srgbClr val="4471C4"/>
                </a:solidFill>
                <a:latin typeface="Calibri"/>
                <a:cs typeface="Calibri"/>
              </a:rPr>
              <a:t> </a:t>
            </a:r>
            <a:r>
              <a:rPr sz="1800" b="1" spc="-10" dirty="0">
                <a:solidFill>
                  <a:srgbClr val="4471C4"/>
                </a:solidFill>
                <a:latin typeface="Calibri"/>
                <a:cs typeface="Calibri"/>
              </a:rPr>
              <a:t>operators:</a:t>
            </a:r>
            <a:r>
              <a:rPr sz="1800" b="1" spc="-40" dirty="0">
                <a:solidFill>
                  <a:srgbClr val="4471C4"/>
                </a:solidFill>
                <a:latin typeface="Calibri"/>
                <a:cs typeface="Calibri"/>
              </a:rPr>
              <a:t> </a:t>
            </a:r>
            <a:r>
              <a:rPr sz="1800" b="1" spc="-10" dirty="0">
                <a:solidFill>
                  <a:srgbClr val="4471C4"/>
                </a:solidFill>
                <a:latin typeface="Calibri"/>
                <a:cs typeface="Calibri"/>
              </a:rPr>
              <a:t>greater</a:t>
            </a:r>
            <a:r>
              <a:rPr sz="1800" b="1" spc="-40" dirty="0">
                <a:solidFill>
                  <a:srgbClr val="4471C4"/>
                </a:solidFill>
                <a:latin typeface="Calibri"/>
                <a:cs typeface="Calibri"/>
              </a:rPr>
              <a:t> </a:t>
            </a:r>
            <a:r>
              <a:rPr sz="1800" b="1" spc="-20" dirty="0">
                <a:solidFill>
                  <a:srgbClr val="4471C4"/>
                </a:solidFill>
                <a:latin typeface="Calibri"/>
                <a:cs typeface="Calibri"/>
              </a:rPr>
              <a:t>than</a:t>
            </a:r>
            <a:endParaRPr sz="1800" dirty="0">
              <a:latin typeface="Calibri"/>
              <a:cs typeface="Calibri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5257800" y="4698009"/>
            <a:ext cx="6642100" cy="1620315"/>
          </a:xfrm>
          <a:prstGeom prst="rect">
            <a:avLst/>
          </a:prstGeom>
          <a:solidFill>
            <a:srgbClr val="4471C4"/>
          </a:solidFill>
          <a:ln w="12700">
            <a:solidFill>
              <a:srgbClr val="2E528F"/>
            </a:solidFill>
          </a:ln>
        </p:spPr>
        <p:txBody>
          <a:bodyPr vert="horz" wrap="square" lIns="0" tIns="23304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835"/>
              </a:spcBef>
            </a:pPr>
            <a:endParaRPr sz="1800" dirty="0">
              <a:latin typeface="Times New Roman"/>
              <a:cs typeface="Times New Roman"/>
            </a:endParaRPr>
          </a:p>
          <a:p>
            <a:pPr marL="91440">
              <a:lnSpc>
                <a:spcPct val="100000"/>
              </a:lnSpc>
            </a:pP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Question:</a:t>
            </a:r>
            <a:r>
              <a:rPr sz="18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are</a:t>
            </a:r>
            <a:r>
              <a:rPr sz="1800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two</a:t>
            </a:r>
            <a:r>
              <a:rPr sz="1800" spc="-6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values</a:t>
            </a:r>
            <a:r>
              <a:rPr sz="1800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Calibri"/>
                <a:cs typeface="Calibri"/>
              </a:rPr>
              <a:t>equal?</a:t>
            </a:r>
            <a:endParaRPr sz="1800" dirty="0">
              <a:latin typeface="Calibri"/>
              <a:cs typeface="Calibri"/>
            </a:endParaRPr>
          </a:p>
          <a:p>
            <a:pPr marL="91440" marR="467359">
              <a:lnSpc>
                <a:spcPct val="100000"/>
              </a:lnSpc>
            </a:pPr>
            <a:r>
              <a:rPr sz="1800" spc="-40" dirty="0">
                <a:solidFill>
                  <a:srgbClr val="FFFFFF"/>
                </a:solidFill>
                <a:latin typeface="Calibri"/>
                <a:cs typeface="Calibri"/>
              </a:rPr>
              <a:t>You</a:t>
            </a:r>
            <a:r>
              <a:rPr sz="1800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can</a:t>
            </a:r>
            <a:r>
              <a:rPr sz="18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also</a:t>
            </a:r>
            <a:r>
              <a:rPr sz="18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ask</a:t>
            </a:r>
            <a:r>
              <a:rPr sz="18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sz="18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comparison</a:t>
            </a:r>
            <a:r>
              <a:rPr sz="18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question</a:t>
            </a:r>
            <a:r>
              <a:rPr sz="18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using</a:t>
            </a:r>
            <a:r>
              <a:rPr sz="18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the</a:t>
            </a:r>
            <a:r>
              <a:rPr sz="18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0000"/>
                </a:solidFill>
                <a:latin typeface="Calibri"/>
                <a:cs typeface="Calibri"/>
              </a:rPr>
              <a:t>&gt;</a:t>
            </a:r>
            <a:r>
              <a:rPr sz="18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(greater</a:t>
            </a:r>
            <a:r>
              <a:rPr sz="18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Calibri"/>
                <a:cs typeface="Calibri"/>
              </a:rPr>
              <a:t>than) operator.</a:t>
            </a:r>
            <a:endParaRPr sz="1800" dirty="0">
              <a:latin typeface="Calibri"/>
              <a:cs typeface="Calibri"/>
            </a:endParaRPr>
          </a:p>
          <a:p>
            <a:pPr marL="91440">
              <a:lnSpc>
                <a:spcPct val="100000"/>
              </a:lnSpc>
            </a:pP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black_sheep</a:t>
            </a:r>
            <a:r>
              <a:rPr sz="1800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&gt;</a:t>
            </a:r>
            <a:r>
              <a:rPr sz="18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white_sheep</a:t>
            </a:r>
            <a:r>
              <a:rPr sz="1800" spc="36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#</a:t>
            </a:r>
            <a:r>
              <a:rPr sz="18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Calibri"/>
                <a:cs typeface="Calibri"/>
              </a:rPr>
              <a:t>Greater</a:t>
            </a:r>
            <a:r>
              <a:rPr sz="18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-20" dirty="0">
                <a:solidFill>
                  <a:srgbClr val="FFFFFF"/>
                </a:solidFill>
                <a:latin typeface="Calibri"/>
                <a:cs typeface="Calibri"/>
              </a:rPr>
              <a:t>than</a:t>
            </a:r>
            <a:endParaRPr sz="18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14121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>
                <a:solidFill>
                  <a:srgbClr val="4471C4"/>
                </a:solidFill>
              </a:rPr>
              <a:t>Comparison</a:t>
            </a:r>
            <a:r>
              <a:rPr spc="-45" dirty="0">
                <a:solidFill>
                  <a:srgbClr val="4471C4"/>
                </a:solidFill>
              </a:rPr>
              <a:t> </a:t>
            </a:r>
            <a:r>
              <a:rPr spc="-10" dirty="0">
                <a:solidFill>
                  <a:srgbClr val="4471C4"/>
                </a:solidFill>
              </a:rPr>
              <a:t>operators:</a:t>
            </a:r>
            <a:r>
              <a:rPr spc="-35" dirty="0">
                <a:solidFill>
                  <a:srgbClr val="4471C4"/>
                </a:solidFill>
              </a:rPr>
              <a:t> </a:t>
            </a:r>
            <a:r>
              <a:rPr spc="-10" dirty="0">
                <a:solidFill>
                  <a:srgbClr val="4471C4"/>
                </a:solidFill>
              </a:rPr>
              <a:t>greater</a:t>
            </a:r>
            <a:r>
              <a:rPr spc="-35" dirty="0">
                <a:solidFill>
                  <a:srgbClr val="4471C4"/>
                </a:solidFill>
              </a:rPr>
              <a:t> </a:t>
            </a:r>
            <a:r>
              <a:rPr dirty="0">
                <a:solidFill>
                  <a:srgbClr val="4471C4"/>
                </a:solidFill>
              </a:rPr>
              <a:t>than</a:t>
            </a:r>
            <a:r>
              <a:rPr spc="-10" dirty="0">
                <a:solidFill>
                  <a:srgbClr val="4471C4"/>
                </a:solidFill>
              </a:rPr>
              <a:t> </a:t>
            </a:r>
            <a:r>
              <a:rPr dirty="0">
                <a:solidFill>
                  <a:srgbClr val="4471C4"/>
                </a:solidFill>
              </a:rPr>
              <a:t>or</a:t>
            </a:r>
            <a:r>
              <a:rPr spc="-10" dirty="0">
                <a:solidFill>
                  <a:srgbClr val="4471C4"/>
                </a:solidFill>
              </a:rPr>
              <a:t> </a:t>
            </a:r>
            <a:r>
              <a:rPr dirty="0">
                <a:solidFill>
                  <a:srgbClr val="4471C4"/>
                </a:solidFill>
              </a:rPr>
              <a:t>equal</a:t>
            </a:r>
            <a:r>
              <a:rPr spc="-40" dirty="0">
                <a:solidFill>
                  <a:srgbClr val="4471C4"/>
                </a:solidFill>
              </a:rPr>
              <a:t> </a:t>
            </a:r>
            <a:r>
              <a:rPr spc="-25" dirty="0">
                <a:solidFill>
                  <a:srgbClr val="4471C4"/>
                </a:solidFill>
              </a:rPr>
              <a:t>to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12776" y="722376"/>
            <a:ext cx="4410710" cy="1195840"/>
          </a:xfrm>
          <a:prstGeom prst="rect">
            <a:avLst/>
          </a:prstGeom>
          <a:solidFill>
            <a:srgbClr val="4471C4"/>
          </a:solidFill>
          <a:ln w="12700">
            <a:solidFill>
              <a:srgbClr val="2E528F"/>
            </a:solidFill>
          </a:ln>
        </p:spPr>
        <p:txBody>
          <a:bodyPr vert="horz" wrap="square" lIns="0" tIns="8699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685"/>
              </a:spcBef>
            </a:pPr>
            <a:endParaRPr sz="1800" dirty="0">
              <a:latin typeface="Times New Roman"/>
              <a:cs typeface="Times New Roman"/>
            </a:endParaRPr>
          </a:p>
          <a:p>
            <a:pPr marL="90805">
              <a:lnSpc>
                <a:spcPct val="100000"/>
              </a:lnSpc>
            </a:pPr>
            <a:r>
              <a:rPr sz="1800" dirty="0">
                <a:solidFill>
                  <a:srgbClr val="FF0000"/>
                </a:solidFill>
                <a:latin typeface="Calibri"/>
                <a:cs typeface="Calibri"/>
              </a:rPr>
              <a:t>&gt;=</a:t>
            </a:r>
            <a:r>
              <a:rPr sz="18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(greater</a:t>
            </a:r>
            <a:r>
              <a:rPr sz="18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than</a:t>
            </a:r>
            <a:r>
              <a:rPr sz="18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or</a:t>
            </a:r>
            <a:r>
              <a:rPr sz="18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equal</a:t>
            </a:r>
            <a:r>
              <a:rPr sz="18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-20" dirty="0">
                <a:solidFill>
                  <a:srgbClr val="FFFFFF"/>
                </a:solidFill>
                <a:latin typeface="Calibri"/>
                <a:cs typeface="Calibri"/>
              </a:rPr>
              <a:t>to).</a:t>
            </a:r>
            <a:endParaRPr sz="1800" dirty="0">
              <a:latin typeface="Calibri"/>
              <a:cs typeface="Calibri"/>
            </a:endParaRPr>
          </a:p>
          <a:p>
            <a:pPr marL="90805">
              <a:lnSpc>
                <a:spcPct val="100000"/>
              </a:lnSpc>
            </a:pPr>
            <a:r>
              <a:rPr sz="1800" dirty="0">
                <a:solidFill>
                  <a:srgbClr val="FF0000"/>
                </a:solidFill>
                <a:latin typeface="Calibri"/>
                <a:cs typeface="Calibri"/>
              </a:rPr>
              <a:t>&lt;</a:t>
            </a:r>
            <a:r>
              <a:rPr sz="18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(less</a:t>
            </a:r>
            <a:r>
              <a:rPr sz="1800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than)</a:t>
            </a:r>
            <a:r>
              <a:rPr sz="1800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Calibri"/>
                <a:cs typeface="Calibri"/>
              </a:rPr>
              <a:t>operator</a:t>
            </a:r>
            <a:r>
              <a:rPr sz="18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-50" dirty="0">
                <a:solidFill>
                  <a:srgbClr val="FFFFFF"/>
                </a:solidFill>
                <a:latin typeface="Calibri"/>
                <a:cs typeface="Calibri"/>
              </a:rPr>
              <a:t>.</a:t>
            </a:r>
            <a:endParaRPr sz="1800" dirty="0">
              <a:latin typeface="Calibri"/>
              <a:cs typeface="Calibri"/>
            </a:endParaRPr>
          </a:p>
          <a:p>
            <a:pPr marL="90805">
              <a:lnSpc>
                <a:spcPct val="100000"/>
              </a:lnSpc>
              <a:spcBef>
                <a:spcPts val="5"/>
              </a:spcBef>
            </a:pPr>
            <a:r>
              <a:rPr sz="1800" dirty="0">
                <a:solidFill>
                  <a:srgbClr val="FF0000"/>
                </a:solidFill>
                <a:latin typeface="Calibri"/>
                <a:cs typeface="Calibri"/>
              </a:rPr>
              <a:t>&lt;=</a:t>
            </a:r>
            <a:r>
              <a:rPr sz="18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(less</a:t>
            </a:r>
            <a:r>
              <a:rPr sz="1800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than</a:t>
            </a:r>
            <a:r>
              <a:rPr sz="18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or</a:t>
            </a:r>
            <a:r>
              <a:rPr sz="1800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equal</a:t>
            </a:r>
            <a:r>
              <a:rPr sz="1800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-25" dirty="0">
                <a:solidFill>
                  <a:srgbClr val="FFFFFF"/>
                </a:solidFill>
                <a:latin typeface="Calibri"/>
                <a:cs typeface="Calibri"/>
              </a:rPr>
              <a:t>to)</a:t>
            </a:r>
            <a:endParaRPr sz="1800" dirty="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91211" y="2776804"/>
            <a:ext cx="2560320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solidFill>
                  <a:srgbClr val="4471C4"/>
                </a:solidFill>
                <a:latin typeface="Calibri"/>
                <a:cs typeface="Calibri"/>
              </a:rPr>
              <a:t>Making</a:t>
            </a:r>
            <a:r>
              <a:rPr sz="1800" b="1" spc="-30" dirty="0">
                <a:solidFill>
                  <a:srgbClr val="4471C4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4471C4"/>
                </a:solidFill>
                <a:latin typeface="Calibri"/>
                <a:cs typeface="Calibri"/>
              </a:rPr>
              <a:t>use</a:t>
            </a:r>
            <a:r>
              <a:rPr sz="1800" b="1" spc="-25" dirty="0">
                <a:solidFill>
                  <a:srgbClr val="4471C4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4471C4"/>
                </a:solidFill>
                <a:latin typeface="Calibri"/>
                <a:cs typeface="Calibri"/>
              </a:rPr>
              <a:t>of</a:t>
            </a:r>
            <a:r>
              <a:rPr sz="1800" b="1" spc="-15" dirty="0">
                <a:solidFill>
                  <a:srgbClr val="4471C4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4471C4"/>
                </a:solidFill>
                <a:latin typeface="Calibri"/>
                <a:cs typeface="Calibri"/>
              </a:rPr>
              <a:t>the</a:t>
            </a:r>
            <a:r>
              <a:rPr sz="1800" b="1" spc="-20" dirty="0">
                <a:solidFill>
                  <a:srgbClr val="4471C4"/>
                </a:solidFill>
                <a:latin typeface="Calibri"/>
                <a:cs typeface="Calibri"/>
              </a:rPr>
              <a:t> </a:t>
            </a:r>
            <a:r>
              <a:rPr sz="1800" b="1" spc="-10" dirty="0">
                <a:solidFill>
                  <a:srgbClr val="4471C4"/>
                </a:solidFill>
                <a:latin typeface="Calibri"/>
                <a:cs typeface="Calibri"/>
              </a:rPr>
              <a:t>answers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106426" y="3120008"/>
            <a:ext cx="4904740" cy="3545204"/>
            <a:chOff x="106426" y="3120008"/>
            <a:chExt cx="4904740" cy="3545204"/>
          </a:xfrm>
        </p:grpSpPr>
        <p:sp>
          <p:nvSpPr>
            <p:cNvPr id="6" name="object 6"/>
            <p:cNvSpPr/>
            <p:nvPr/>
          </p:nvSpPr>
          <p:spPr>
            <a:xfrm>
              <a:off x="112776" y="3128771"/>
              <a:ext cx="4892040" cy="3529965"/>
            </a:xfrm>
            <a:custGeom>
              <a:avLst/>
              <a:gdLst/>
              <a:ahLst/>
              <a:cxnLst/>
              <a:rect l="l" t="t" r="r" b="b"/>
              <a:pathLst>
                <a:path w="4892040" h="3529965">
                  <a:moveTo>
                    <a:pt x="4892040" y="0"/>
                  </a:moveTo>
                  <a:lnTo>
                    <a:pt x="0" y="0"/>
                  </a:lnTo>
                  <a:lnTo>
                    <a:pt x="0" y="3529584"/>
                  </a:lnTo>
                  <a:lnTo>
                    <a:pt x="4892040" y="3529584"/>
                  </a:lnTo>
                  <a:lnTo>
                    <a:pt x="4892040" y="0"/>
                  </a:lnTo>
                  <a:close/>
                </a:path>
              </a:pathLst>
            </a:custGeom>
            <a:solidFill>
              <a:srgbClr val="4471C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112776" y="3128771"/>
              <a:ext cx="4892040" cy="3529965"/>
            </a:xfrm>
            <a:custGeom>
              <a:avLst/>
              <a:gdLst/>
              <a:ahLst/>
              <a:cxnLst/>
              <a:rect l="l" t="t" r="r" b="b"/>
              <a:pathLst>
                <a:path w="4892040" h="3529965">
                  <a:moveTo>
                    <a:pt x="0" y="3529584"/>
                  </a:moveTo>
                  <a:lnTo>
                    <a:pt x="4892040" y="3529584"/>
                  </a:lnTo>
                  <a:lnTo>
                    <a:pt x="4892040" y="0"/>
                  </a:lnTo>
                  <a:lnTo>
                    <a:pt x="0" y="0"/>
                  </a:lnTo>
                  <a:lnTo>
                    <a:pt x="0" y="3529584"/>
                  </a:lnTo>
                  <a:close/>
                </a:path>
              </a:pathLst>
            </a:custGeom>
            <a:ln w="12700">
              <a:solidFill>
                <a:srgbClr val="2E528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694181" y="3129533"/>
              <a:ext cx="3489960" cy="1183005"/>
            </a:xfrm>
            <a:custGeom>
              <a:avLst/>
              <a:gdLst/>
              <a:ahLst/>
              <a:cxnLst/>
              <a:rect l="l" t="t" r="r" b="b"/>
              <a:pathLst>
                <a:path w="3489960" h="1183004">
                  <a:moveTo>
                    <a:pt x="0" y="1182623"/>
                  </a:moveTo>
                  <a:lnTo>
                    <a:pt x="767" y="1108462"/>
                  </a:lnTo>
                  <a:lnTo>
                    <a:pt x="3009" y="1037045"/>
                  </a:lnTo>
                  <a:lnTo>
                    <a:pt x="6633" y="968930"/>
                  </a:lnTo>
                  <a:lnTo>
                    <a:pt x="11546" y="904669"/>
                  </a:lnTo>
                  <a:lnTo>
                    <a:pt x="17656" y="844819"/>
                  </a:lnTo>
                  <a:lnTo>
                    <a:pt x="24871" y="789932"/>
                  </a:lnTo>
                  <a:lnTo>
                    <a:pt x="33098" y="740564"/>
                  </a:lnTo>
                  <a:lnTo>
                    <a:pt x="42245" y="697270"/>
                  </a:lnTo>
                  <a:lnTo>
                    <a:pt x="62931" y="631120"/>
                  </a:lnTo>
                  <a:lnTo>
                    <a:pt x="86189" y="595920"/>
                  </a:lnTo>
                  <a:lnTo>
                    <a:pt x="98552" y="591311"/>
                  </a:lnTo>
                  <a:lnTo>
                    <a:pt x="1646428" y="591311"/>
                  </a:lnTo>
                  <a:lnTo>
                    <a:pt x="1658800" y="586703"/>
                  </a:lnTo>
                  <a:lnTo>
                    <a:pt x="1682069" y="551503"/>
                  </a:lnTo>
                  <a:lnTo>
                    <a:pt x="1702756" y="485353"/>
                  </a:lnTo>
                  <a:lnTo>
                    <a:pt x="1711902" y="442059"/>
                  </a:lnTo>
                  <a:lnTo>
                    <a:pt x="1720126" y="392691"/>
                  </a:lnTo>
                  <a:lnTo>
                    <a:pt x="1727337" y="337804"/>
                  </a:lnTo>
                  <a:lnTo>
                    <a:pt x="1733443" y="277954"/>
                  </a:lnTo>
                  <a:lnTo>
                    <a:pt x="1738352" y="213693"/>
                  </a:lnTo>
                  <a:lnTo>
                    <a:pt x="1741973" y="145578"/>
                  </a:lnTo>
                  <a:lnTo>
                    <a:pt x="1744213" y="74161"/>
                  </a:lnTo>
                  <a:lnTo>
                    <a:pt x="1744980" y="0"/>
                  </a:lnTo>
                  <a:lnTo>
                    <a:pt x="1745746" y="74161"/>
                  </a:lnTo>
                  <a:lnTo>
                    <a:pt x="1747986" y="145578"/>
                  </a:lnTo>
                  <a:lnTo>
                    <a:pt x="1751607" y="213693"/>
                  </a:lnTo>
                  <a:lnTo>
                    <a:pt x="1756516" y="277954"/>
                  </a:lnTo>
                  <a:lnTo>
                    <a:pt x="1762622" y="337804"/>
                  </a:lnTo>
                  <a:lnTo>
                    <a:pt x="1769833" y="392691"/>
                  </a:lnTo>
                  <a:lnTo>
                    <a:pt x="1778057" y="442059"/>
                  </a:lnTo>
                  <a:lnTo>
                    <a:pt x="1787203" y="485353"/>
                  </a:lnTo>
                  <a:lnTo>
                    <a:pt x="1807890" y="551503"/>
                  </a:lnTo>
                  <a:lnTo>
                    <a:pt x="1831159" y="586703"/>
                  </a:lnTo>
                  <a:lnTo>
                    <a:pt x="1843532" y="591311"/>
                  </a:lnTo>
                  <a:lnTo>
                    <a:pt x="3391407" y="591311"/>
                  </a:lnTo>
                  <a:lnTo>
                    <a:pt x="3403780" y="595920"/>
                  </a:lnTo>
                  <a:lnTo>
                    <a:pt x="3427049" y="631120"/>
                  </a:lnTo>
                  <a:lnTo>
                    <a:pt x="3447736" y="697270"/>
                  </a:lnTo>
                  <a:lnTo>
                    <a:pt x="3456882" y="740564"/>
                  </a:lnTo>
                  <a:lnTo>
                    <a:pt x="3465106" y="789932"/>
                  </a:lnTo>
                  <a:lnTo>
                    <a:pt x="3472317" y="844819"/>
                  </a:lnTo>
                  <a:lnTo>
                    <a:pt x="3478423" y="904669"/>
                  </a:lnTo>
                  <a:lnTo>
                    <a:pt x="3483332" y="968930"/>
                  </a:lnTo>
                  <a:lnTo>
                    <a:pt x="3486953" y="1037045"/>
                  </a:lnTo>
                  <a:lnTo>
                    <a:pt x="3489193" y="1108462"/>
                  </a:lnTo>
                  <a:lnTo>
                    <a:pt x="3489959" y="1182623"/>
                  </a:lnTo>
                </a:path>
              </a:pathLst>
            </a:custGeom>
            <a:ln w="190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110744" y="4356861"/>
            <a:ext cx="185610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alibri"/>
                <a:cs typeface="Calibri"/>
              </a:rPr>
              <a:t>store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it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in</a:t>
            </a:r>
            <a:r>
              <a:rPr sz="1800" spc="-1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variable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3265170" y="4329810"/>
            <a:ext cx="150622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alibri"/>
                <a:cs typeface="Calibri"/>
              </a:rPr>
              <a:t>make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decision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3265170" y="4604130"/>
            <a:ext cx="180975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alibri"/>
                <a:cs typeface="Calibri"/>
              </a:rPr>
              <a:t>about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the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future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spc="-25" dirty="0">
                <a:latin typeface="Calibri"/>
                <a:cs typeface="Calibri"/>
              </a:rPr>
              <a:t>of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3265170" y="4878451"/>
            <a:ext cx="118237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alibri"/>
                <a:cs typeface="Calibri"/>
              </a:rPr>
              <a:t>the</a:t>
            </a:r>
            <a:r>
              <a:rPr sz="1800" spc="-10" dirty="0">
                <a:latin typeface="Calibri"/>
                <a:cs typeface="Calibri"/>
              </a:rPr>
              <a:t> program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447852" y="4949190"/>
            <a:ext cx="97345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alibri"/>
                <a:cs typeface="Calibri"/>
              </a:rPr>
              <a:t>A</a:t>
            </a:r>
            <a:r>
              <a:rPr sz="1800" spc="-1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=</a:t>
            </a:r>
            <a:r>
              <a:rPr sz="1800" spc="-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B</a:t>
            </a:r>
            <a:r>
              <a:rPr sz="1800" spc="-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==</a:t>
            </a:r>
            <a:r>
              <a:rPr sz="1800" spc="-5" dirty="0">
                <a:latin typeface="Calibri"/>
                <a:cs typeface="Calibri"/>
              </a:rPr>
              <a:t> </a:t>
            </a:r>
            <a:r>
              <a:rPr sz="1800" spc="-50" dirty="0">
                <a:latin typeface="Calibri"/>
                <a:cs typeface="Calibri"/>
              </a:rPr>
              <a:t>D</a:t>
            </a:r>
            <a:endParaRPr sz="1800">
              <a:latin typeface="Calibri"/>
              <a:cs typeface="Calibri"/>
            </a:endParaRPr>
          </a:p>
        </p:txBody>
      </p:sp>
      <p:graphicFrame>
        <p:nvGraphicFramePr>
          <p:cNvPr id="14" name="object 14"/>
          <p:cNvGraphicFramePr>
            <a:graphicFrameLocks noGrp="1"/>
          </p:cNvGraphicFramePr>
          <p:nvPr/>
        </p:nvGraphicFramePr>
        <p:xfrm>
          <a:off x="5647309" y="656716"/>
          <a:ext cx="5908675" cy="242125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686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9590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2621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97180">
                <a:tc>
                  <a:txBody>
                    <a:bodyPr/>
                    <a:lstStyle/>
                    <a:p>
                      <a:pPr marL="31750">
                        <a:lnSpc>
                          <a:spcPts val="1710"/>
                        </a:lnSpc>
                      </a:pPr>
                      <a:r>
                        <a:rPr sz="1800" spc="-10" dirty="0">
                          <a:latin typeface="Calibri"/>
                          <a:cs typeface="Calibri"/>
                        </a:rPr>
                        <a:t>Priority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974090">
                        <a:lnSpc>
                          <a:spcPts val="1710"/>
                        </a:lnSpc>
                      </a:pPr>
                      <a:r>
                        <a:rPr sz="1800" spc="-10" dirty="0">
                          <a:latin typeface="Calibri"/>
                          <a:cs typeface="Calibri"/>
                        </a:rPr>
                        <a:t>Operator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125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1800" spc="-50" dirty="0">
                          <a:latin typeface="Calibri"/>
                          <a:cs typeface="Calibri"/>
                        </a:rPr>
                        <a:t>1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11430" marB="0"/>
                </a:tc>
                <a:tc>
                  <a:txBody>
                    <a:bodyPr/>
                    <a:lstStyle/>
                    <a:p>
                      <a:pPr marL="974090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+,</a:t>
                      </a:r>
                      <a:r>
                        <a:rPr sz="1800" spc="-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50" dirty="0">
                          <a:latin typeface="Calibri"/>
                          <a:cs typeface="Calibri"/>
                        </a:rPr>
                        <a:t>-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11430" marB="0"/>
                </a:tc>
                <a:tc>
                  <a:txBody>
                    <a:bodyPr/>
                    <a:lstStyle/>
                    <a:p>
                      <a:pPr marR="76200" algn="r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1800" spc="-10" dirty="0">
                          <a:latin typeface="Calibri"/>
                          <a:cs typeface="Calibri"/>
                        </a:rPr>
                        <a:t>unary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1143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1800" spc="-50" dirty="0">
                          <a:latin typeface="Calibri"/>
                          <a:cs typeface="Calibri"/>
                        </a:rPr>
                        <a:t>2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11430" marB="0"/>
                </a:tc>
                <a:tc>
                  <a:txBody>
                    <a:bodyPr/>
                    <a:lstStyle/>
                    <a:p>
                      <a:pPr marL="974090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1800" spc="-25" dirty="0">
                          <a:latin typeface="Calibri"/>
                          <a:cs typeface="Calibri"/>
                        </a:rPr>
                        <a:t>**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1143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1800" spc="-50" dirty="0">
                          <a:latin typeface="Calibri"/>
                          <a:cs typeface="Calibri"/>
                        </a:rPr>
                        <a:t>3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11430" marB="0"/>
                </a:tc>
                <a:tc>
                  <a:txBody>
                    <a:bodyPr/>
                    <a:lstStyle/>
                    <a:p>
                      <a:pPr marL="974090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*,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/,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//,</a:t>
                      </a:r>
                      <a:r>
                        <a:rPr sz="1800" spc="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50" dirty="0">
                          <a:latin typeface="Calibri"/>
                          <a:cs typeface="Calibri"/>
                        </a:rPr>
                        <a:t>%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1143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1800" spc="-50" dirty="0">
                          <a:latin typeface="Calibri"/>
                          <a:cs typeface="Calibri"/>
                        </a:rPr>
                        <a:t>4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11430" marB="0"/>
                </a:tc>
                <a:tc>
                  <a:txBody>
                    <a:bodyPr/>
                    <a:lstStyle/>
                    <a:p>
                      <a:pPr marL="974090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+,</a:t>
                      </a:r>
                      <a:r>
                        <a:rPr sz="1800" spc="-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50" dirty="0">
                          <a:latin typeface="Calibri"/>
                          <a:cs typeface="Calibri"/>
                        </a:rPr>
                        <a:t>-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11430" marB="0"/>
                </a:tc>
                <a:tc>
                  <a:txBody>
                    <a:bodyPr/>
                    <a:lstStyle/>
                    <a:p>
                      <a:pPr marR="24130" algn="r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1800" spc="-10" dirty="0">
                          <a:latin typeface="Calibri"/>
                          <a:cs typeface="Calibri"/>
                        </a:rPr>
                        <a:t>binary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11430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125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1800" spc="-50" dirty="0">
                          <a:latin typeface="Calibri"/>
                          <a:cs typeface="Calibri"/>
                        </a:rPr>
                        <a:t>5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11430" marB="0"/>
                </a:tc>
                <a:tc>
                  <a:txBody>
                    <a:bodyPr/>
                    <a:lstStyle/>
                    <a:p>
                      <a:pPr marL="974090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&lt;,</a:t>
                      </a:r>
                      <a:r>
                        <a:rPr sz="180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&lt;=,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&gt;,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25" dirty="0">
                          <a:latin typeface="Calibri"/>
                          <a:cs typeface="Calibri"/>
                        </a:rPr>
                        <a:t>&gt;=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1143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96545">
                <a:tc>
                  <a:txBody>
                    <a:bodyPr/>
                    <a:lstStyle/>
                    <a:p>
                      <a:pPr marL="31750">
                        <a:lnSpc>
                          <a:spcPts val="2150"/>
                        </a:lnSpc>
                        <a:spcBef>
                          <a:spcPts val="90"/>
                        </a:spcBef>
                      </a:pPr>
                      <a:r>
                        <a:rPr sz="1800" spc="-50" dirty="0">
                          <a:latin typeface="Calibri"/>
                          <a:cs typeface="Calibri"/>
                        </a:rPr>
                        <a:t>6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11430" marB="0"/>
                </a:tc>
                <a:tc>
                  <a:txBody>
                    <a:bodyPr/>
                    <a:lstStyle/>
                    <a:p>
                      <a:pPr marL="974090">
                        <a:lnSpc>
                          <a:spcPts val="2150"/>
                        </a:lnSpc>
                        <a:spcBef>
                          <a:spcPts val="90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==,</a:t>
                      </a:r>
                      <a:r>
                        <a:rPr sz="180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25" dirty="0">
                          <a:latin typeface="Calibri"/>
                          <a:cs typeface="Calibri"/>
                        </a:rPr>
                        <a:t>!=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1143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grpSp>
        <p:nvGrpSpPr>
          <p:cNvPr id="15" name="object 15"/>
          <p:cNvGrpSpPr/>
          <p:nvPr/>
        </p:nvGrpSpPr>
        <p:grpSpPr>
          <a:xfrm>
            <a:off x="5580634" y="3713733"/>
            <a:ext cx="6617970" cy="3150870"/>
            <a:chOff x="5580634" y="3713733"/>
            <a:chExt cx="6617970" cy="3150870"/>
          </a:xfrm>
        </p:grpSpPr>
        <p:sp>
          <p:nvSpPr>
            <p:cNvPr id="16" name="object 16"/>
            <p:cNvSpPr/>
            <p:nvPr/>
          </p:nvSpPr>
          <p:spPr>
            <a:xfrm>
              <a:off x="5586984" y="3720083"/>
              <a:ext cx="6605270" cy="3138170"/>
            </a:xfrm>
            <a:custGeom>
              <a:avLst/>
              <a:gdLst/>
              <a:ahLst/>
              <a:cxnLst/>
              <a:rect l="l" t="t" r="r" b="b"/>
              <a:pathLst>
                <a:path w="6605270" h="3138170">
                  <a:moveTo>
                    <a:pt x="6605015" y="0"/>
                  </a:moveTo>
                  <a:lnTo>
                    <a:pt x="0" y="0"/>
                  </a:lnTo>
                  <a:lnTo>
                    <a:pt x="0" y="3137916"/>
                  </a:lnTo>
                  <a:lnTo>
                    <a:pt x="6605015" y="3137916"/>
                  </a:lnTo>
                  <a:lnTo>
                    <a:pt x="6605015" y="0"/>
                  </a:lnTo>
                  <a:close/>
                </a:path>
              </a:pathLst>
            </a:custGeom>
            <a:solidFill>
              <a:srgbClr val="4471C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5586984" y="3720083"/>
              <a:ext cx="6605270" cy="3138170"/>
            </a:xfrm>
            <a:custGeom>
              <a:avLst/>
              <a:gdLst/>
              <a:ahLst/>
              <a:cxnLst/>
              <a:rect l="l" t="t" r="r" b="b"/>
              <a:pathLst>
                <a:path w="6605270" h="3138170">
                  <a:moveTo>
                    <a:pt x="0" y="3137916"/>
                  </a:moveTo>
                  <a:lnTo>
                    <a:pt x="6605015" y="3137916"/>
                  </a:lnTo>
                  <a:lnTo>
                    <a:pt x="6605015" y="0"/>
                  </a:lnTo>
                  <a:lnTo>
                    <a:pt x="0" y="0"/>
                  </a:lnTo>
                  <a:lnTo>
                    <a:pt x="0" y="3137916"/>
                  </a:lnTo>
                  <a:close/>
                </a:path>
              </a:pathLst>
            </a:custGeom>
            <a:ln w="12699">
              <a:solidFill>
                <a:srgbClr val="2E528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8" name="object 18"/>
          <p:cNvSpPr txBox="1"/>
          <p:nvPr/>
        </p:nvSpPr>
        <p:spPr>
          <a:xfrm>
            <a:off x="6636766" y="3378200"/>
            <a:ext cx="4264660" cy="9493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solidFill>
                  <a:srgbClr val="4471C4"/>
                </a:solidFill>
                <a:latin typeface="Calibri"/>
                <a:cs typeface="Calibri"/>
              </a:rPr>
              <a:t>Conditions</a:t>
            </a:r>
            <a:r>
              <a:rPr sz="1800" b="1" spc="-55" dirty="0">
                <a:solidFill>
                  <a:srgbClr val="4471C4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4471C4"/>
                </a:solidFill>
                <a:latin typeface="Calibri"/>
                <a:cs typeface="Calibri"/>
              </a:rPr>
              <a:t>and</a:t>
            </a:r>
            <a:r>
              <a:rPr sz="1800" b="1" spc="-25" dirty="0">
                <a:solidFill>
                  <a:srgbClr val="4471C4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4471C4"/>
                </a:solidFill>
                <a:latin typeface="Calibri"/>
                <a:cs typeface="Calibri"/>
              </a:rPr>
              <a:t>conditional</a:t>
            </a:r>
            <a:r>
              <a:rPr sz="1800" b="1" spc="-55" dirty="0">
                <a:solidFill>
                  <a:srgbClr val="4471C4"/>
                </a:solidFill>
                <a:latin typeface="Calibri"/>
                <a:cs typeface="Calibri"/>
              </a:rPr>
              <a:t> </a:t>
            </a:r>
            <a:r>
              <a:rPr sz="1800" b="1" spc="-10" dirty="0">
                <a:solidFill>
                  <a:srgbClr val="4471C4"/>
                </a:solidFill>
                <a:latin typeface="Calibri"/>
                <a:cs typeface="Calibri"/>
              </a:rPr>
              <a:t>execution</a:t>
            </a:r>
            <a:endParaRPr sz="18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750"/>
              </a:spcBef>
            </a:pPr>
            <a:endParaRPr sz="1800">
              <a:latin typeface="Calibri"/>
              <a:cs typeface="Calibri"/>
            </a:endParaRPr>
          </a:p>
          <a:p>
            <a:pPr marL="254000">
              <a:lnSpc>
                <a:spcPct val="100000"/>
              </a:lnSpc>
              <a:spcBef>
                <a:spcPts val="5"/>
              </a:spcBef>
            </a:pP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if</a:t>
            </a:r>
            <a:r>
              <a:rPr sz="1800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sz="18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condition</a:t>
            </a:r>
            <a:r>
              <a:rPr sz="1800" spc="-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is</a:t>
            </a:r>
            <a:r>
              <a:rPr sz="1800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met,</a:t>
            </a:r>
            <a:r>
              <a:rPr sz="1800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and</a:t>
            </a:r>
            <a:r>
              <a:rPr sz="1800" spc="-1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not</a:t>
            </a:r>
            <a:r>
              <a:rPr sz="1800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do</a:t>
            </a:r>
            <a:r>
              <a:rPr sz="1800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it</a:t>
            </a:r>
            <a:r>
              <a:rPr sz="1800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if</a:t>
            </a:r>
            <a:r>
              <a:rPr sz="18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it</a:t>
            </a:r>
            <a:r>
              <a:rPr sz="1800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Calibri"/>
                <a:cs typeface="Calibri"/>
              </a:rPr>
              <a:t>isn’t.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5666359" y="4576064"/>
            <a:ext cx="166814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20979" marR="5080" indent="-208915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if </a:t>
            </a:r>
            <a:r>
              <a:rPr sz="1800" spc="-10" dirty="0">
                <a:solidFill>
                  <a:srgbClr val="FFFFFF"/>
                </a:solidFill>
                <a:latin typeface="Calibri"/>
                <a:cs typeface="Calibri"/>
              </a:rPr>
              <a:t>true_or_not: do_this_if_true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5666359" y="5398719"/>
            <a:ext cx="2299970" cy="11233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solidFill>
                  <a:srgbClr val="FFFFFF"/>
                </a:solidFill>
                <a:latin typeface="Calibri"/>
                <a:cs typeface="Calibri"/>
              </a:rPr>
              <a:t>Ex:</a:t>
            </a:r>
            <a:endParaRPr sz="1800">
              <a:latin typeface="Calibri"/>
              <a:cs typeface="Calibri"/>
            </a:endParaRPr>
          </a:p>
          <a:p>
            <a:pPr marL="220979" marR="5080" indent="-208915">
              <a:lnSpc>
                <a:spcPct val="100000"/>
              </a:lnSpc>
              <a:spcBef>
                <a:spcPts val="5"/>
              </a:spcBef>
            </a:pP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if </a:t>
            </a:r>
            <a:r>
              <a:rPr sz="1800" spc="-10" dirty="0">
                <a:solidFill>
                  <a:srgbClr val="FFFFFF"/>
                </a:solidFill>
                <a:latin typeface="Calibri"/>
                <a:cs typeface="Calibri"/>
              </a:rPr>
              <a:t>the_weather_is_good: go_for_a_walk()</a:t>
            </a:r>
            <a:endParaRPr sz="1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1800" spc="-10" dirty="0">
                <a:solidFill>
                  <a:srgbClr val="FFFFFF"/>
                </a:solidFill>
                <a:latin typeface="Calibri"/>
                <a:cs typeface="Calibri"/>
              </a:rPr>
              <a:t>have_lunch()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21" name="object 21"/>
          <p:cNvGrpSpPr/>
          <p:nvPr/>
        </p:nvGrpSpPr>
        <p:grpSpPr>
          <a:xfrm>
            <a:off x="8368030" y="4501641"/>
            <a:ext cx="3462020" cy="2362835"/>
            <a:chOff x="8368030" y="4501641"/>
            <a:chExt cx="3462020" cy="2362835"/>
          </a:xfrm>
        </p:grpSpPr>
        <p:sp>
          <p:nvSpPr>
            <p:cNvPr id="22" name="object 22"/>
            <p:cNvSpPr/>
            <p:nvPr/>
          </p:nvSpPr>
          <p:spPr>
            <a:xfrm>
              <a:off x="8374380" y="4507991"/>
              <a:ext cx="3449320" cy="2350135"/>
            </a:xfrm>
            <a:custGeom>
              <a:avLst/>
              <a:gdLst/>
              <a:ahLst/>
              <a:cxnLst/>
              <a:rect l="l" t="t" r="r" b="b"/>
              <a:pathLst>
                <a:path w="3449320" h="2350134">
                  <a:moveTo>
                    <a:pt x="3448812" y="0"/>
                  </a:moveTo>
                  <a:lnTo>
                    <a:pt x="0" y="0"/>
                  </a:lnTo>
                  <a:lnTo>
                    <a:pt x="0" y="2350007"/>
                  </a:lnTo>
                  <a:lnTo>
                    <a:pt x="3448812" y="2350007"/>
                  </a:lnTo>
                  <a:lnTo>
                    <a:pt x="3448812" y="0"/>
                  </a:lnTo>
                  <a:close/>
                </a:path>
              </a:pathLst>
            </a:custGeom>
            <a:solidFill>
              <a:srgbClr val="4471C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8374380" y="4507991"/>
              <a:ext cx="3449320" cy="2350135"/>
            </a:xfrm>
            <a:custGeom>
              <a:avLst/>
              <a:gdLst/>
              <a:ahLst/>
              <a:cxnLst/>
              <a:rect l="l" t="t" r="r" b="b"/>
              <a:pathLst>
                <a:path w="3449320" h="2350134">
                  <a:moveTo>
                    <a:pt x="0" y="2350007"/>
                  </a:moveTo>
                  <a:lnTo>
                    <a:pt x="3448812" y="2350007"/>
                  </a:lnTo>
                  <a:lnTo>
                    <a:pt x="3448812" y="0"/>
                  </a:lnTo>
                  <a:lnTo>
                    <a:pt x="0" y="0"/>
                  </a:lnTo>
                  <a:lnTo>
                    <a:pt x="0" y="2350007"/>
                  </a:lnTo>
                  <a:close/>
                </a:path>
              </a:pathLst>
            </a:custGeom>
            <a:ln w="12700">
              <a:solidFill>
                <a:srgbClr val="2E528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4" name="object 24"/>
          <p:cNvSpPr txBox="1"/>
          <p:nvPr/>
        </p:nvSpPr>
        <p:spPr>
          <a:xfrm>
            <a:off x="8453755" y="4970145"/>
            <a:ext cx="2338070" cy="13976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20979" marR="5080" indent="-208915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if</a:t>
            </a:r>
            <a:r>
              <a:rPr sz="1800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Calibri"/>
                <a:cs typeface="Calibri"/>
              </a:rPr>
              <a:t>sheep_counter</a:t>
            </a:r>
            <a:r>
              <a:rPr sz="1800" spc="-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&gt;=</a:t>
            </a:r>
            <a:r>
              <a:rPr sz="1800" spc="-20" dirty="0">
                <a:solidFill>
                  <a:srgbClr val="FFFFFF"/>
                </a:solidFill>
                <a:latin typeface="Calibri"/>
                <a:cs typeface="Calibri"/>
              </a:rPr>
              <a:t> 120: </a:t>
            </a:r>
            <a:r>
              <a:rPr sz="1800" spc="-10" dirty="0">
                <a:solidFill>
                  <a:srgbClr val="FFFFFF"/>
                </a:solidFill>
                <a:latin typeface="Calibri"/>
                <a:cs typeface="Calibri"/>
              </a:rPr>
              <a:t>make_a_bed() take_a_shower() sleep_and_dream()</a:t>
            </a:r>
            <a:endParaRPr sz="1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1800" spc="-10" dirty="0">
                <a:solidFill>
                  <a:srgbClr val="FFFFFF"/>
                </a:solidFill>
                <a:latin typeface="Calibri"/>
                <a:cs typeface="Calibri"/>
              </a:rPr>
              <a:t>feed_the_sheepdogs()</a:t>
            </a:r>
            <a:endParaRPr sz="1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417575"/>
            <a:ext cx="6882765" cy="6440805"/>
          </a:xfrm>
          <a:custGeom>
            <a:avLst/>
            <a:gdLst/>
            <a:ahLst/>
            <a:cxnLst/>
            <a:rect l="l" t="t" r="r" b="b"/>
            <a:pathLst>
              <a:path w="6882765" h="6440805">
                <a:moveTo>
                  <a:pt x="6882383" y="0"/>
                </a:moveTo>
                <a:lnTo>
                  <a:pt x="0" y="0"/>
                </a:lnTo>
                <a:lnTo>
                  <a:pt x="0" y="6440424"/>
                </a:lnTo>
                <a:lnTo>
                  <a:pt x="6882383" y="6440424"/>
                </a:lnTo>
                <a:lnTo>
                  <a:pt x="6882383" y="0"/>
                </a:lnTo>
                <a:close/>
              </a:path>
            </a:pathLst>
          </a:custGeom>
          <a:solidFill>
            <a:srgbClr val="4471C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0" y="417575"/>
            <a:ext cx="6882765" cy="6440805"/>
          </a:xfrm>
          <a:custGeom>
            <a:avLst/>
            <a:gdLst/>
            <a:ahLst/>
            <a:cxnLst/>
            <a:rect l="l" t="t" r="r" b="b"/>
            <a:pathLst>
              <a:path w="6882765" h="6440805">
                <a:moveTo>
                  <a:pt x="0" y="6440424"/>
                </a:moveTo>
                <a:lnTo>
                  <a:pt x="6882383" y="6440424"/>
                </a:lnTo>
                <a:lnTo>
                  <a:pt x="6882383" y="0"/>
                </a:lnTo>
                <a:lnTo>
                  <a:pt x="0" y="0"/>
                </a:lnTo>
                <a:lnTo>
                  <a:pt x="0" y="6440424"/>
                </a:lnTo>
                <a:close/>
              </a:path>
            </a:pathLst>
          </a:custGeom>
          <a:ln w="12700">
            <a:solidFill>
              <a:srgbClr val="2E528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78739" y="1140967"/>
            <a:ext cx="2769235" cy="11233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20979" marR="46355" indent="-208915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if </a:t>
            </a:r>
            <a:r>
              <a:rPr sz="1800" spc="-10" dirty="0">
                <a:solidFill>
                  <a:srgbClr val="FFFFFF"/>
                </a:solidFill>
                <a:latin typeface="Calibri"/>
                <a:cs typeface="Calibri"/>
              </a:rPr>
              <a:t>true_or_false_condition: perform_if_condition_true</a:t>
            </a:r>
            <a:endParaRPr sz="1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1800" spc="-10" dirty="0">
                <a:solidFill>
                  <a:srgbClr val="FFFFFF"/>
                </a:solidFill>
                <a:latin typeface="Calibri"/>
                <a:cs typeface="Calibri"/>
              </a:rPr>
              <a:t>else:</a:t>
            </a:r>
            <a:endParaRPr sz="1800">
              <a:latin typeface="Calibri"/>
              <a:cs typeface="Calibri"/>
            </a:endParaRPr>
          </a:p>
          <a:p>
            <a:pPr marL="220979">
              <a:lnSpc>
                <a:spcPct val="100000"/>
              </a:lnSpc>
            </a:pPr>
            <a:r>
              <a:rPr sz="1800" spc="-10" dirty="0">
                <a:solidFill>
                  <a:srgbClr val="FFFFFF"/>
                </a:solidFill>
                <a:latin typeface="Calibri"/>
                <a:cs typeface="Calibri"/>
              </a:rPr>
              <a:t>perform_if_condition_false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8739" y="2512821"/>
            <a:ext cx="2299970" cy="13976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20979" marR="5080" indent="-208915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if </a:t>
            </a:r>
            <a:r>
              <a:rPr sz="1800" spc="-10" dirty="0">
                <a:solidFill>
                  <a:srgbClr val="FFFFFF"/>
                </a:solidFill>
                <a:latin typeface="Calibri"/>
                <a:cs typeface="Calibri"/>
              </a:rPr>
              <a:t>the_weather_is_good: go_for_a_walk()</a:t>
            </a:r>
            <a:endParaRPr sz="1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1800" spc="-10" dirty="0">
                <a:solidFill>
                  <a:srgbClr val="FFFFFF"/>
                </a:solidFill>
                <a:latin typeface="Calibri"/>
                <a:cs typeface="Calibri"/>
              </a:rPr>
              <a:t>else:</a:t>
            </a:r>
            <a:endParaRPr sz="1800">
              <a:latin typeface="Calibri"/>
              <a:cs typeface="Calibri"/>
            </a:endParaRPr>
          </a:p>
          <a:p>
            <a:pPr marL="12700" marR="372110" indent="208279">
              <a:lnSpc>
                <a:spcPct val="100000"/>
              </a:lnSpc>
            </a:pPr>
            <a:r>
              <a:rPr sz="1800" spc="-10" dirty="0">
                <a:solidFill>
                  <a:srgbClr val="FFFFFF"/>
                </a:solidFill>
                <a:latin typeface="Calibri"/>
                <a:cs typeface="Calibri"/>
              </a:rPr>
              <a:t>go_to_a_theater() have_lunch()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78739" y="4159122"/>
            <a:ext cx="2299970" cy="19462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20979" marR="5080" indent="-208915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if </a:t>
            </a:r>
            <a:r>
              <a:rPr sz="1800" spc="-10" dirty="0">
                <a:solidFill>
                  <a:srgbClr val="FFFFFF"/>
                </a:solidFill>
                <a:latin typeface="Calibri"/>
                <a:cs typeface="Calibri"/>
              </a:rPr>
              <a:t>the_weather_is_good: go_for_a_walk() have_fun()</a:t>
            </a:r>
            <a:endParaRPr sz="1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1800" spc="-10" dirty="0">
                <a:solidFill>
                  <a:srgbClr val="FFFFFF"/>
                </a:solidFill>
                <a:latin typeface="Calibri"/>
                <a:cs typeface="Calibri"/>
              </a:rPr>
              <a:t>else:</a:t>
            </a:r>
            <a:endParaRPr sz="1800">
              <a:latin typeface="Calibri"/>
              <a:cs typeface="Calibri"/>
            </a:endParaRPr>
          </a:p>
          <a:p>
            <a:pPr marL="220979" marR="309880">
              <a:lnSpc>
                <a:spcPct val="100000"/>
              </a:lnSpc>
            </a:pPr>
            <a:r>
              <a:rPr sz="1800" spc="-10" dirty="0">
                <a:solidFill>
                  <a:srgbClr val="FFFFFF"/>
                </a:solidFill>
                <a:latin typeface="Calibri"/>
                <a:cs typeface="Calibri"/>
              </a:rPr>
              <a:t>go_to_a_theater() enjoy_the_movie()</a:t>
            </a:r>
            <a:endParaRPr sz="1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1800" spc="-10" dirty="0">
                <a:solidFill>
                  <a:srgbClr val="FFFFFF"/>
                </a:solidFill>
                <a:latin typeface="Calibri"/>
                <a:cs typeface="Calibri"/>
              </a:rPr>
              <a:t>have_lunch()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78739" y="17780"/>
            <a:ext cx="417004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solidFill>
                  <a:srgbClr val="4471C4"/>
                </a:solidFill>
                <a:latin typeface="Calibri"/>
                <a:cs typeface="Calibri"/>
              </a:rPr>
              <a:t>Conditional</a:t>
            </a:r>
            <a:r>
              <a:rPr sz="1800" b="1" spc="-40" dirty="0">
                <a:solidFill>
                  <a:srgbClr val="4471C4"/>
                </a:solidFill>
                <a:latin typeface="Calibri"/>
                <a:cs typeface="Calibri"/>
              </a:rPr>
              <a:t> </a:t>
            </a:r>
            <a:r>
              <a:rPr sz="1800" b="1" spc="-10" dirty="0">
                <a:solidFill>
                  <a:srgbClr val="4471C4"/>
                </a:solidFill>
                <a:latin typeface="Calibri"/>
                <a:cs typeface="Calibri"/>
              </a:rPr>
              <a:t>execution:</a:t>
            </a:r>
            <a:r>
              <a:rPr sz="1800" b="1" spc="-30" dirty="0">
                <a:solidFill>
                  <a:srgbClr val="4471C4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4471C4"/>
                </a:solidFill>
                <a:latin typeface="Calibri"/>
                <a:cs typeface="Calibri"/>
              </a:rPr>
              <a:t>the</a:t>
            </a:r>
            <a:r>
              <a:rPr sz="1800" b="1" spc="-25" dirty="0">
                <a:solidFill>
                  <a:srgbClr val="4471C4"/>
                </a:solidFill>
                <a:latin typeface="Calibri"/>
                <a:cs typeface="Calibri"/>
              </a:rPr>
              <a:t> </a:t>
            </a:r>
            <a:r>
              <a:rPr sz="1800" b="1" spc="-10" dirty="0">
                <a:solidFill>
                  <a:srgbClr val="4471C4"/>
                </a:solidFill>
                <a:latin typeface="Calibri"/>
                <a:cs typeface="Calibri"/>
              </a:rPr>
              <a:t>if-</a:t>
            </a:r>
            <a:r>
              <a:rPr sz="1800" b="1" dirty="0">
                <a:solidFill>
                  <a:srgbClr val="4471C4"/>
                </a:solidFill>
                <a:latin typeface="Calibri"/>
                <a:cs typeface="Calibri"/>
              </a:rPr>
              <a:t>else</a:t>
            </a:r>
            <a:r>
              <a:rPr sz="1800" b="1" spc="-25" dirty="0">
                <a:solidFill>
                  <a:srgbClr val="4471C4"/>
                </a:solidFill>
                <a:latin typeface="Calibri"/>
                <a:cs typeface="Calibri"/>
              </a:rPr>
              <a:t> </a:t>
            </a:r>
            <a:r>
              <a:rPr sz="1800" b="1" spc="-10" dirty="0">
                <a:solidFill>
                  <a:srgbClr val="4471C4"/>
                </a:solidFill>
                <a:latin typeface="Calibri"/>
                <a:cs typeface="Calibri"/>
              </a:rPr>
              <a:t>statement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3048000" y="1860804"/>
            <a:ext cx="3785870" cy="3554095"/>
          </a:xfrm>
          <a:prstGeom prst="rect">
            <a:avLst/>
          </a:prstGeom>
          <a:ln w="12700">
            <a:solidFill>
              <a:srgbClr val="2E528F"/>
            </a:solidFill>
          </a:ln>
        </p:spPr>
        <p:txBody>
          <a:bodyPr vert="horz" wrap="square" lIns="0" tIns="1270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0"/>
              </a:spcBef>
            </a:pPr>
            <a:endParaRPr sz="1800">
              <a:latin typeface="Times New Roman"/>
              <a:cs typeface="Times New Roman"/>
            </a:endParaRPr>
          </a:p>
          <a:p>
            <a:pPr marL="91440">
              <a:lnSpc>
                <a:spcPct val="100000"/>
              </a:lnSpc>
              <a:spcBef>
                <a:spcPts val="5"/>
              </a:spcBef>
            </a:pP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if </a:t>
            </a:r>
            <a:r>
              <a:rPr sz="1800" spc="-10" dirty="0">
                <a:solidFill>
                  <a:srgbClr val="FFFFFF"/>
                </a:solidFill>
                <a:latin typeface="Calibri"/>
                <a:cs typeface="Calibri"/>
              </a:rPr>
              <a:t>the_weather_is_good:</a:t>
            </a:r>
            <a:endParaRPr sz="1800">
              <a:latin typeface="Calibri"/>
              <a:cs typeface="Calibri"/>
            </a:endParaRPr>
          </a:p>
          <a:p>
            <a:pPr marL="511175" marR="865505" indent="-210820">
              <a:lnSpc>
                <a:spcPct val="100000"/>
              </a:lnSpc>
            </a:pP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if </a:t>
            </a:r>
            <a:r>
              <a:rPr sz="1800" spc="-10" dirty="0">
                <a:solidFill>
                  <a:srgbClr val="FFFFFF"/>
                </a:solidFill>
                <a:latin typeface="Calibri"/>
                <a:cs typeface="Calibri"/>
              </a:rPr>
              <a:t>nice_restaurant_is_found: have_lunch()</a:t>
            </a:r>
            <a:endParaRPr sz="1800">
              <a:latin typeface="Calibri"/>
              <a:cs typeface="Calibri"/>
            </a:endParaRPr>
          </a:p>
          <a:p>
            <a:pPr marL="300355">
              <a:lnSpc>
                <a:spcPct val="100000"/>
              </a:lnSpc>
            </a:pPr>
            <a:r>
              <a:rPr sz="1800" spc="-10" dirty="0">
                <a:solidFill>
                  <a:srgbClr val="FFFFFF"/>
                </a:solidFill>
                <a:latin typeface="Calibri"/>
                <a:cs typeface="Calibri"/>
              </a:rPr>
              <a:t>else:</a:t>
            </a:r>
            <a:endParaRPr sz="1800">
              <a:latin typeface="Calibri"/>
              <a:cs typeface="Calibri"/>
            </a:endParaRPr>
          </a:p>
          <a:p>
            <a:pPr marL="91440" marR="1620520" indent="419100">
              <a:lnSpc>
                <a:spcPct val="100000"/>
              </a:lnSpc>
            </a:pPr>
            <a:r>
              <a:rPr sz="1800" spc="-10" dirty="0">
                <a:solidFill>
                  <a:srgbClr val="FFFFFF"/>
                </a:solidFill>
                <a:latin typeface="Calibri"/>
                <a:cs typeface="Calibri"/>
              </a:rPr>
              <a:t>eat_a_sandwich() else:</a:t>
            </a:r>
            <a:endParaRPr sz="1800">
              <a:latin typeface="Calibri"/>
              <a:cs typeface="Calibri"/>
            </a:endParaRPr>
          </a:p>
          <a:p>
            <a:pPr marL="511175" marR="1296035" indent="-210820">
              <a:lnSpc>
                <a:spcPct val="100000"/>
              </a:lnSpc>
            </a:pP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if </a:t>
            </a:r>
            <a:r>
              <a:rPr sz="1800" spc="-10" dirty="0">
                <a:solidFill>
                  <a:srgbClr val="FFFFFF"/>
                </a:solidFill>
                <a:latin typeface="Calibri"/>
                <a:cs typeface="Calibri"/>
              </a:rPr>
              <a:t>tickets_are_available: go_to_the_theater()</a:t>
            </a:r>
            <a:endParaRPr sz="1800">
              <a:latin typeface="Calibri"/>
              <a:cs typeface="Calibri"/>
            </a:endParaRPr>
          </a:p>
          <a:p>
            <a:pPr marL="300355">
              <a:lnSpc>
                <a:spcPct val="100000"/>
              </a:lnSpc>
            </a:pPr>
            <a:r>
              <a:rPr sz="1800" spc="-10" dirty="0">
                <a:solidFill>
                  <a:srgbClr val="FFFFFF"/>
                </a:solidFill>
                <a:latin typeface="Calibri"/>
                <a:cs typeface="Calibri"/>
              </a:rPr>
              <a:t>else:</a:t>
            </a:r>
            <a:endParaRPr sz="1800">
              <a:latin typeface="Calibri"/>
              <a:cs typeface="Calibri"/>
            </a:endParaRPr>
          </a:p>
          <a:p>
            <a:pPr marL="511175">
              <a:lnSpc>
                <a:spcPct val="100000"/>
              </a:lnSpc>
            </a:pPr>
            <a:r>
              <a:rPr sz="1800" spc="-10" dirty="0">
                <a:solidFill>
                  <a:srgbClr val="FFFFFF"/>
                </a:solidFill>
                <a:latin typeface="Calibri"/>
                <a:cs typeface="Calibri"/>
              </a:rPr>
              <a:t>go_shopping()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8534400" y="2264282"/>
            <a:ext cx="3365500" cy="3060700"/>
          </a:xfrm>
          <a:prstGeom prst="rect">
            <a:avLst/>
          </a:prstGeom>
          <a:solidFill>
            <a:srgbClr val="4471C4"/>
          </a:solidFill>
          <a:ln w="12700">
            <a:solidFill>
              <a:srgbClr val="2E528F"/>
            </a:solidFill>
          </a:ln>
        </p:spPr>
        <p:txBody>
          <a:bodyPr vert="horz" wrap="square" lIns="0" tIns="15494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220"/>
              </a:spcBef>
            </a:pPr>
            <a:endParaRPr sz="1800" dirty="0">
              <a:latin typeface="Times New Roman"/>
              <a:cs typeface="Times New Roman"/>
            </a:endParaRPr>
          </a:p>
          <a:p>
            <a:pPr marL="300990" marR="989965" indent="-208915">
              <a:lnSpc>
                <a:spcPct val="100000"/>
              </a:lnSpc>
            </a:pP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if </a:t>
            </a:r>
            <a:r>
              <a:rPr sz="1800" spc="-10" dirty="0">
                <a:solidFill>
                  <a:srgbClr val="FFFFFF"/>
                </a:solidFill>
                <a:latin typeface="Calibri"/>
                <a:cs typeface="Calibri"/>
              </a:rPr>
              <a:t>the_weather_is_good: go_for_a_walk()</a:t>
            </a:r>
            <a:endParaRPr sz="1800" dirty="0">
              <a:latin typeface="Calibri"/>
              <a:cs typeface="Calibri"/>
            </a:endParaRPr>
          </a:p>
          <a:p>
            <a:pPr marL="92710">
              <a:lnSpc>
                <a:spcPct val="100000"/>
              </a:lnSpc>
            </a:pPr>
            <a:r>
              <a:rPr sz="1800" dirty="0">
                <a:solidFill>
                  <a:srgbClr val="FF0000"/>
                </a:solidFill>
                <a:latin typeface="Calibri"/>
                <a:cs typeface="Calibri"/>
              </a:rPr>
              <a:t>elif</a:t>
            </a:r>
            <a:r>
              <a:rPr sz="1800" spc="-2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Calibri"/>
                <a:cs typeface="Calibri"/>
              </a:rPr>
              <a:t>tickets_are_available:</a:t>
            </a:r>
            <a:endParaRPr sz="1800" dirty="0">
              <a:latin typeface="Calibri"/>
              <a:cs typeface="Calibri"/>
            </a:endParaRPr>
          </a:p>
          <a:p>
            <a:pPr marL="300990">
              <a:lnSpc>
                <a:spcPct val="100000"/>
              </a:lnSpc>
            </a:pPr>
            <a:r>
              <a:rPr sz="1800" spc="-10" dirty="0">
                <a:solidFill>
                  <a:srgbClr val="FFFFFF"/>
                </a:solidFill>
                <a:latin typeface="Calibri"/>
                <a:cs typeface="Calibri"/>
              </a:rPr>
              <a:t>go_to_the_theater()</a:t>
            </a:r>
            <a:endParaRPr sz="1800" dirty="0">
              <a:latin typeface="Calibri"/>
              <a:cs typeface="Calibri"/>
            </a:endParaRPr>
          </a:p>
          <a:p>
            <a:pPr marL="300990" marR="1205230" indent="-208915">
              <a:lnSpc>
                <a:spcPct val="100000"/>
              </a:lnSpc>
            </a:pPr>
            <a:r>
              <a:rPr sz="1800" dirty="0">
                <a:solidFill>
                  <a:srgbClr val="FF0000"/>
                </a:solidFill>
                <a:latin typeface="Calibri"/>
                <a:cs typeface="Calibri"/>
              </a:rPr>
              <a:t>elif</a:t>
            </a:r>
            <a:r>
              <a:rPr sz="1800" spc="-2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Calibri"/>
                <a:cs typeface="Calibri"/>
              </a:rPr>
              <a:t>table_is_available: go_for_lunch()</a:t>
            </a:r>
            <a:endParaRPr sz="1800" dirty="0">
              <a:latin typeface="Calibri"/>
              <a:cs typeface="Calibri"/>
            </a:endParaRPr>
          </a:p>
          <a:p>
            <a:pPr marL="92710">
              <a:lnSpc>
                <a:spcPct val="100000"/>
              </a:lnSpc>
            </a:pPr>
            <a:r>
              <a:rPr sz="1800" spc="-10" dirty="0">
                <a:solidFill>
                  <a:srgbClr val="FFFFFF"/>
                </a:solidFill>
                <a:latin typeface="Calibri"/>
                <a:cs typeface="Calibri"/>
              </a:rPr>
              <a:t>else:</a:t>
            </a:r>
            <a:endParaRPr sz="1800" dirty="0">
              <a:latin typeface="Calibri"/>
              <a:cs typeface="Calibri"/>
            </a:endParaRPr>
          </a:p>
          <a:p>
            <a:pPr marL="300990">
              <a:lnSpc>
                <a:spcPct val="100000"/>
              </a:lnSpc>
            </a:pPr>
            <a:r>
              <a:rPr sz="1800" spc="-10" dirty="0">
                <a:solidFill>
                  <a:srgbClr val="FFFFFF"/>
                </a:solidFill>
                <a:latin typeface="Calibri"/>
                <a:cs typeface="Calibri"/>
              </a:rPr>
              <a:t>play_chess_at_home()</a:t>
            </a:r>
            <a:endParaRPr sz="1800" dirty="0">
              <a:latin typeface="Calibri"/>
              <a:cs typeface="Calibri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title"/>
          </p:nvPr>
        </p:nvSpPr>
        <p:spPr>
          <a:xfrm>
            <a:off x="9360852" y="1710944"/>
            <a:ext cx="171259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b="0" dirty="0">
                <a:solidFill>
                  <a:srgbClr val="4471C4"/>
                </a:solidFill>
                <a:latin typeface="Calibri"/>
                <a:cs typeface="Calibri"/>
              </a:rPr>
              <a:t>The</a:t>
            </a:r>
            <a:r>
              <a:rPr b="0" spc="-25" dirty="0">
                <a:solidFill>
                  <a:srgbClr val="4471C4"/>
                </a:solidFill>
                <a:latin typeface="Calibri"/>
                <a:cs typeface="Calibri"/>
              </a:rPr>
              <a:t> </a:t>
            </a:r>
            <a:r>
              <a:rPr b="0" dirty="0">
                <a:solidFill>
                  <a:srgbClr val="4471C4"/>
                </a:solidFill>
                <a:latin typeface="Calibri"/>
                <a:cs typeface="Calibri"/>
              </a:rPr>
              <a:t>elif</a:t>
            </a:r>
            <a:r>
              <a:rPr b="0" spc="-15" dirty="0">
                <a:solidFill>
                  <a:srgbClr val="4471C4"/>
                </a:solidFill>
                <a:latin typeface="Calibri"/>
                <a:cs typeface="Calibri"/>
              </a:rPr>
              <a:t> </a:t>
            </a:r>
            <a:r>
              <a:rPr b="0" spc="-10" dirty="0">
                <a:solidFill>
                  <a:srgbClr val="4471C4"/>
                </a:solidFill>
                <a:latin typeface="Calibri"/>
                <a:cs typeface="Calibri"/>
              </a:rPr>
              <a:t>statement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8739" y="17780"/>
            <a:ext cx="3624579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>
                <a:solidFill>
                  <a:srgbClr val="4471C4"/>
                </a:solidFill>
              </a:rPr>
              <a:t>Pseudocode</a:t>
            </a:r>
            <a:r>
              <a:rPr spc="-60" dirty="0">
                <a:solidFill>
                  <a:srgbClr val="4471C4"/>
                </a:solidFill>
              </a:rPr>
              <a:t> </a:t>
            </a:r>
            <a:r>
              <a:rPr dirty="0">
                <a:solidFill>
                  <a:srgbClr val="4471C4"/>
                </a:solidFill>
              </a:rPr>
              <a:t>and</a:t>
            </a:r>
            <a:r>
              <a:rPr spc="-20" dirty="0">
                <a:solidFill>
                  <a:srgbClr val="4471C4"/>
                </a:solidFill>
              </a:rPr>
              <a:t> </a:t>
            </a:r>
            <a:r>
              <a:rPr dirty="0">
                <a:solidFill>
                  <a:srgbClr val="4471C4"/>
                </a:solidFill>
              </a:rPr>
              <a:t>introduction</a:t>
            </a:r>
            <a:r>
              <a:rPr spc="-45" dirty="0">
                <a:solidFill>
                  <a:srgbClr val="4471C4"/>
                </a:solidFill>
              </a:rPr>
              <a:t> </a:t>
            </a:r>
            <a:r>
              <a:rPr dirty="0">
                <a:solidFill>
                  <a:srgbClr val="4471C4"/>
                </a:solidFill>
              </a:rPr>
              <a:t>to</a:t>
            </a:r>
            <a:r>
              <a:rPr spc="-25" dirty="0">
                <a:solidFill>
                  <a:srgbClr val="4471C4"/>
                </a:solidFill>
              </a:rPr>
              <a:t> </a:t>
            </a:r>
            <a:r>
              <a:rPr spc="-10" dirty="0">
                <a:solidFill>
                  <a:srgbClr val="4471C4"/>
                </a:solidFill>
              </a:rPr>
              <a:t>loops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0" y="368808"/>
            <a:ext cx="5230495" cy="3176270"/>
          </a:xfrm>
          <a:prstGeom prst="rect">
            <a:avLst/>
          </a:prstGeom>
          <a:solidFill>
            <a:srgbClr val="4471C4"/>
          </a:solidFill>
          <a:ln w="12700">
            <a:solidFill>
              <a:srgbClr val="2E528F"/>
            </a:solidFill>
          </a:ln>
        </p:spPr>
        <p:txBody>
          <a:bodyPr vert="horz" wrap="square" lIns="0" tIns="7556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595"/>
              </a:spcBef>
            </a:pPr>
            <a:endParaRPr sz="1800" dirty="0">
              <a:latin typeface="Times New Roman"/>
              <a:cs typeface="Times New Roman"/>
            </a:endParaRPr>
          </a:p>
          <a:p>
            <a:pPr marL="91440">
              <a:lnSpc>
                <a:spcPct val="100000"/>
              </a:lnSpc>
              <a:spcBef>
                <a:spcPts val="5"/>
              </a:spcBef>
            </a:pP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How</a:t>
            </a:r>
            <a:r>
              <a:rPr sz="18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you</a:t>
            </a:r>
            <a:r>
              <a:rPr sz="18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think</a:t>
            </a:r>
            <a:r>
              <a:rPr sz="18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when</a:t>
            </a:r>
            <a:r>
              <a:rPr sz="18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you</a:t>
            </a:r>
            <a:r>
              <a:rPr sz="18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want</a:t>
            </a:r>
            <a:r>
              <a:rPr sz="18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to</a:t>
            </a:r>
            <a:r>
              <a:rPr sz="18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write</a:t>
            </a:r>
            <a:r>
              <a:rPr sz="18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sz="18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Calibri"/>
                <a:cs typeface="Calibri"/>
              </a:rPr>
              <a:t>program?</a:t>
            </a:r>
            <a:endParaRPr sz="1800" dirty="0">
              <a:latin typeface="Calibri"/>
              <a:cs typeface="Calibri"/>
            </a:endParaRPr>
          </a:p>
          <a:p>
            <a:pPr marL="328930" indent="-237490">
              <a:lnSpc>
                <a:spcPct val="100000"/>
              </a:lnSpc>
              <a:buAutoNum type="arabicPlain"/>
              <a:tabLst>
                <a:tab pos="328930" algn="l"/>
              </a:tabLst>
            </a:pPr>
            <a:r>
              <a:rPr sz="1800" spc="-10" dirty="0">
                <a:solidFill>
                  <a:srgbClr val="FFFFFF"/>
                </a:solidFill>
                <a:latin typeface="Calibri"/>
                <a:cs typeface="Calibri"/>
              </a:rPr>
              <a:t>largest_number</a:t>
            </a:r>
            <a:r>
              <a:rPr sz="1800" spc="-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=</a:t>
            </a:r>
            <a:r>
              <a:rPr sz="1800" spc="-1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-</a:t>
            </a:r>
            <a:r>
              <a:rPr sz="1800" spc="-10" dirty="0">
                <a:solidFill>
                  <a:srgbClr val="FFFFFF"/>
                </a:solidFill>
                <a:latin typeface="Calibri"/>
                <a:cs typeface="Calibri"/>
              </a:rPr>
              <a:t>999999999</a:t>
            </a:r>
            <a:endParaRPr sz="1800" dirty="0">
              <a:latin typeface="Calibri"/>
              <a:cs typeface="Calibri"/>
            </a:endParaRPr>
          </a:p>
          <a:p>
            <a:pPr marL="328930" indent="-237490">
              <a:lnSpc>
                <a:spcPct val="100000"/>
              </a:lnSpc>
              <a:buAutoNum type="arabicPlain"/>
              <a:tabLst>
                <a:tab pos="328930" algn="l"/>
              </a:tabLst>
            </a:pP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number</a:t>
            </a:r>
            <a:r>
              <a:rPr sz="18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=</a:t>
            </a:r>
            <a:r>
              <a:rPr sz="18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Calibri"/>
                <a:cs typeface="Calibri"/>
              </a:rPr>
              <a:t>int(input())</a:t>
            </a:r>
            <a:endParaRPr sz="1800" dirty="0">
              <a:latin typeface="Calibri"/>
              <a:cs typeface="Calibri"/>
            </a:endParaRPr>
          </a:p>
          <a:p>
            <a:pPr marL="328930" indent="-237490">
              <a:lnSpc>
                <a:spcPct val="100000"/>
              </a:lnSpc>
              <a:buAutoNum type="arabicPlain"/>
              <a:tabLst>
                <a:tab pos="328930" algn="l"/>
              </a:tabLst>
            </a:pP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if</a:t>
            </a:r>
            <a:r>
              <a:rPr sz="1800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number</a:t>
            </a:r>
            <a:r>
              <a:rPr sz="1800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==</a:t>
            </a:r>
            <a:r>
              <a:rPr sz="1800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-</a:t>
            </a:r>
            <a:r>
              <a:rPr sz="1800" spc="-25" dirty="0">
                <a:solidFill>
                  <a:srgbClr val="FFFFFF"/>
                </a:solidFill>
                <a:latin typeface="Calibri"/>
                <a:cs typeface="Calibri"/>
              </a:rPr>
              <a:t>1:</a:t>
            </a:r>
            <a:endParaRPr sz="1800" dirty="0">
              <a:latin typeface="Calibri"/>
              <a:cs typeface="Calibri"/>
            </a:endParaRPr>
          </a:p>
          <a:p>
            <a:pPr marL="485775" indent="-394335">
              <a:lnSpc>
                <a:spcPct val="100000"/>
              </a:lnSpc>
              <a:buAutoNum type="arabicPlain"/>
              <a:tabLst>
                <a:tab pos="485775" algn="l"/>
              </a:tabLst>
            </a:pPr>
            <a:r>
              <a:rPr sz="1800" spc="-10" dirty="0">
                <a:solidFill>
                  <a:srgbClr val="FFFFFF"/>
                </a:solidFill>
                <a:latin typeface="Calibri"/>
                <a:cs typeface="Calibri"/>
              </a:rPr>
              <a:t>print(largest_number)</a:t>
            </a:r>
            <a:endParaRPr sz="1800" dirty="0">
              <a:latin typeface="Calibri"/>
              <a:cs typeface="Calibri"/>
            </a:endParaRPr>
          </a:p>
          <a:p>
            <a:pPr marL="539115" indent="-396240">
              <a:lnSpc>
                <a:spcPct val="100000"/>
              </a:lnSpc>
              <a:buAutoNum type="arabicPlain"/>
              <a:tabLst>
                <a:tab pos="539115" algn="l"/>
              </a:tabLst>
            </a:pPr>
            <a:r>
              <a:rPr sz="1800" spc="-10" dirty="0">
                <a:solidFill>
                  <a:srgbClr val="FFFFFF"/>
                </a:solidFill>
                <a:latin typeface="Calibri"/>
                <a:cs typeface="Calibri"/>
              </a:rPr>
              <a:t>exit()</a:t>
            </a:r>
            <a:endParaRPr sz="1800" dirty="0">
              <a:latin typeface="Calibri"/>
              <a:cs typeface="Calibri"/>
            </a:endParaRPr>
          </a:p>
          <a:p>
            <a:pPr marL="328930" indent="-237490">
              <a:lnSpc>
                <a:spcPct val="100000"/>
              </a:lnSpc>
              <a:buAutoNum type="arabicPlain"/>
              <a:tabLst>
                <a:tab pos="328930" algn="l"/>
              </a:tabLst>
            </a:pP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if</a:t>
            </a:r>
            <a:r>
              <a:rPr sz="1800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number</a:t>
            </a:r>
            <a:r>
              <a:rPr sz="1800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&gt;</a:t>
            </a:r>
            <a:r>
              <a:rPr sz="1800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Calibri"/>
                <a:cs typeface="Calibri"/>
              </a:rPr>
              <a:t>largest_number:</a:t>
            </a:r>
            <a:endParaRPr sz="1800" dirty="0">
              <a:latin typeface="Calibri"/>
              <a:cs typeface="Calibri"/>
            </a:endParaRPr>
          </a:p>
          <a:p>
            <a:pPr marL="539115" indent="-396240">
              <a:lnSpc>
                <a:spcPct val="100000"/>
              </a:lnSpc>
              <a:spcBef>
                <a:spcPts val="5"/>
              </a:spcBef>
              <a:buAutoNum type="arabicPlain"/>
              <a:tabLst>
                <a:tab pos="539115" algn="l"/>
              </a:tabLst>
            </a:pPr>
            <a:r>
              <a:rPr sz="1800" spc="-10" dirty="0">
                <a:solidFill>
                  <a:srgbClr val="FFFFFF"/>
                </a:solidFill>
                <a:latin typeface="Calibri"/>
                <a:cs typeface="Calibri"/>
              </a:rPr>
              <a:t>largest_number</a:t>
            </a:r>
            <a:r>
              <a:rPr sz="1800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=</a:t>
            </a:r>
            <a:r>
              <a:rPr sz="1800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Calibri"/>
                <a:cs typeface="Calibri"/>
              </a:rPr>
              <a:t>number</a:t>
            </a:r>
            <a:endParaRPr sz="1800" dirty="0">
              <a:latin typeface="Calibri"/>
              <a:cs typeface="Calibri"/>
            </a:endParaRPr>
          </a:p>
          <a:p>
            <a:pPr marL="328930" indent="-237490">
              <a:lnSpc>
                <a:spcPct val="100000"/>
              </a:lnSpc>
              <a:buAutoNum type="arabicPlain"/>
              <a:tabLst>
                <a:tab pos="328930" algn="l"/>
              </a:tabLst>
            </a:pP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#</a:t>
            </a:r>
            <a:r>
              <a:rPr sz="1800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Go</a:t>
            </a:r>
            <a:r>
              <a:rPr sz="1800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to</a:t>
            </a:r>
            <a:r>
              <a:rPr sz="18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line</a:t>
            </a:r>
            <a:r>
              <a:rPr sz="1800" spc="-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-25" dirty="0">
                <a:solidFill>
                  <a:srgbClr val="FFFFFF"/>
                </a:solidFill>
                <a:latin typeface="Calibri"/>
                <a:cs typeface="Calibri"/>
              </a:rPr>
              <a:t>02</a:t>
            </a:r>
            <a:endParaRPr sz="1800" dirty="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8739" y="3635755"/>
            <a:ext cx="281432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solidFill>
                  <a:srgbClr val="4471C4"/>
                </a:solidFill>
                <a:latin typeface="Calibri"/>
                <a:cs typeface="Calibri"/>
              </a:rPr>
              <a:t>Looping</a:t>
            </a:r>
            <a:r>
              <a:rPr sz="1800" b="1" spc="-50" dirty="0">
                <a:solidFill>
                  <a:srgbClr val="4471C4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4471C4"/>
                </a:solidFill>
                <a:latin typeface="Calibri"/>
                <a:cs typeface="Calibri"/>
              </a:rPr>
              <a:t>your</a:t>
            </a:r>
            <a:r>
              <a:rPr sz="1800" b="1" spc="-30" dirty="0">
                <a:solidFill>
                  <a:srgbClr val="4471C4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4471C4"/>
                </a:solidFill>
                <a:latin typeface="Calibri"/>
                <a:cs typeface="Calibri"/>
              </a:rPr>
              <a:t>code</a:t>
            </a:r>
            <a:r>
              <a:rPr sz="1800" b="1" spc="-25" dirty="0">
                <a:solidFill>
                  <a:srgbClr val="4471C4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4471C4"/>
                </a:solidFill>
                <a:latin typeface="Calibri"/>
                <a:cs typeface="Calibri"/>
              </a:rPr>
              <a:t>with</a:t>
            </a:r>
            <a:r>
              <a:rPr sz="1800" b="1" spc="-30" dirty="0">
                <a:solidFill>
                  <a:srgbClr val="4471C4"/>
                </a:solidFill>
                <a:latin typeface="Calibri"/>
                <a:cs typeface="Calibri"/>
              </a:rPr>
              <a:t> </a:t>
            </a:r>
            <a:r>
              <a:rPr sz="1800" b="1" spc="-10" dirty="0">
                <a:solidFill>
                  <a:srgbClr val="4471C4"/>
                </a:solidFill>
                <a:latin typeface="Calibri"/>
                <a:cs typeface="Calibri"/>
              </a:rPr>
              <a:t>while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-6350" y="3980433"/>
            <a:ext cx="6133465" cy="2884170"/>
            <a:chOff x="-6350" y="3980433"/>
            <a:chExt cx="6133465" cy="2884170"/>
          </a:xfrm>
        </p:grpSpPr>
        <p:sp>
          <p:nvSpPr>
            <p:cNvPr id="6" name="object 6"/>
            <p:cNvSpPr/>
            <p:nvPr/>
          </p:nvSpPr>
          <p:spPr>
            <a:xfrm>
              <a:off x="0" y="3986783"/>
              <a:ext cx="6120765" cy="2871470"/>
            </a:xfrm>
            <a:custGeom>
              <a:avLst/>
              <a:gdLst/>
              <a:ahLst/>
              <a:cxnLst/>
              <a:rect l="l" t="t" r="r" b="b"/>
              <a:pathLst>
                <a:path w="6120765" h="2871470">
                  <a:moveTo>
                    <a:pt x="6120384" y="0"/>
                  </a:moveTo>
                  <a:lnTo>
                    <a:pt x="0" y="0"/>
                  </a:lnTo>
                  <a:lnTo>
                    <a:pt x="0" y="2871216"/>
                  </a:lnTo>
                  <a:lnTo>
                    <a:pt x="6120384" y="2871216"/>
                  </a:lnTo>
                  <a:lnTo>
                    <a:pt x="6120384" y="0"/>
                  </a:lnTo>
                  <a:close/>
                </a:path>
              </a:pathLst>
            </a:custGeom>
            <a:solidFill>
              <a:srgbClr val="4471C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0" y="3986783"/>
              <a:ext cx="6120765" cy="2871470"/>
            </a:xfrm>
            <a:custGeom>
              <a:avLst/>
              <a:gdLst/>
              <a:ahLst/>
              <a:cxnLst/>
              <a:rect l="l" t="t" r="r" b="b"/>
              <a:pathLst>
                <a:path w="6120765" h="2871470">
                  <a:moveTo>
                    <a:pt x="0" y="2871216"/>
                  </a:moveTo>
                  <a:lnTo>
                    <a:pt x="6120384" y="2871216"/>
                  </a:lnTo>
                  <a:lnTo>
                    <a:pt x="6120384" y="0"/>
                  </a:lnTo>
                  <a:lnTo>
                    <a:pt x="0" y="0"/>
                  </a:lnTo>
                  <a:lnTo>
                    <a:pt x="0" y="2871216"/>
                  </a:lnTo>
                  <a:close/>
                </a:path>
              </a:pathLst>
            </a:custGeom>
            <a:ln w="12700">
              <a:solidFill>
                <a:srgbClr val="2E528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78739" y="4709541"/>
            <a:ext cx="285305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20979" marR="5080" indent="-208915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while</a:t>
            </a:r>
            <a:r>
              <a:rPr sz="1800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there</a:t>
            </a:r>
            <a:r>
              <a:rPr sz="18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is</a:t>
            </a:r>
            <a:r>
              <a:rPr sz="18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something</a:t>
            </a:r>
            <a:r>
              <a:rPr sz="18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to</a:t>
            </a:r>
            <a:r>
              <a:rPr sz="18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-25" dirty="0">
                <a:solidFill>
                  <a:srgbClr val="FFFFFF"/>
                </a:solidFill>
                <a:latin typeface="Calibri"/>
                <a:cs typeface="Calibri"/>
              </a:rPr>
              <a:t>do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do</a:t>
            </a:r>
            <a:r>
              <a:rPr sz="1800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-25" dirty="0">
                <a:solidFill>
                  <a:srgbClr val="FFFFFF"/>
                </a:solidFill>
                <a:latin typeface="Calibri"/>
                <a:cs typeface="Calibri"/>
              </a:rPr>
              <a:t>it</a:t>
            </a:r>
            <a:endParaRPr sz="1800" dirty="0">
              <a:latin typeface="Calibri"/>
              <a:cs typeface="Calibri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78739" y="5532831"/>
            <a:ext cx="278892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20979" marR="5080" indent="-208915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while</a:t>
            </a:r>
            <a:r>
              <a:rPr sz="1800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Calibri"/>
                <a:cs typeface="Calibri"/>
              </a:rPr>
              <a:t>conditional_expression: instruction</a:t>
            </a:r>
            <a:endParaRPr sz="1800" dirty="0">
              <a:latin typeface="Calibri"/>
              <a:cs typeface="Calibri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3272028" y="3986783"/>
            <a:ext cx="2848610" cy="2871470"/>
          </a:xfrm>
          <a:custGeom>
            <a:avLst/>
            <a:gdLst/>
            <a:ahLst/>
            <a:cxnLst/>
            <a:rect l="l" t="t" r="r" b="b"/>
            <a:pathLst>
              <a:path w="2848610" h="2871470">
                <a:moveTo>
                  <a:pt x="0" y="2871216"/>
                </a:moveTo>
                <a:lnTo>
                  <a:pt x="2848355" y="2871216"/>
                </a:lnTo>
                <a:lnTo>
                  <a:pt x="2848355" y="0"/>
                </a:lnTo>
                <a:lnTo>
                  <a:pt x="0" y="0"/>
                </a:lnTo>
                <a:lnTo>
                  <a:pt x="0" y="2871216"/>
                </a:lnTo>
                <a:close/>
              </a:path>
            </a:pathLst>
          </a:custGeom>
          <a:ln w="12700">
            <a:solidFill>
              <a:srgbClr val="2E528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3351657" y="4298060"/>
            <a:ext cx="2233295" cy="2220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solidFill>
                  <a:srgbClr val="FFFFFF"/>
                </a:solidFill>
                <a:latin typeface="Calibri"/>
                <a:cs typeface="Calibri"/>
              </a:rPr>
              <a:t>while conditional_expression:</a:t>
            </a:r>
            <a:endParaRPr sz="1800" dirty="0">
              <a:latin typeface="Calibri"/>
              <a:cs typeface="Calibri"/>
            </a:endParaRPr>
          </a:p>
          <a:p>
            <a:pPr marL="220979" marR="387985">
              <a:lnSpc>
                <a:spcPct val="100000"/>
              </a:lnSpc>
            </a:pPr>
            <a:r>
              <a:rPr sz="1800" spc="-10" dirty="0">
                <a:solidFill>
                  <a:srgbClr val="FFFFFF"/>
                </a:solidFill>
                <a:latin typeface="Calibri"/>
                <a:cs typeface="Calibri"/>
              </a:rPr>
              <a:t>instruction_one instruction_two instruction_three</a:t>
            </a:r>
            <a:endParaRPr sz="1800" dirty="0">
              <a:latin typeface="Calibri"/>
              <a:cs typeface="Calibri"/>
            </a:endParaRPr>
          </a:p>
          <a:p>
            <a:pPr marL="220979">
              <a:lnSpc>
                <a:spcPct val="100000"/>
              </a:lnSpc>
            </a:pPr>
            <a:r>
              <a:rPr sz="1800" spc="-50" dirty="0">
                <a:solidFill>
                  <a:srgbClr val="FFFFFF"/>
                </a:solidFill>
                <a:latin typeface="Calibri"/>
                <a:cs typeface="Calibri"/>
              </a:rPr>
              <a:t>:</a:t>
            </a:r>
            <a:endParaRPr sz="1800" dirty="0">
              <a:latin typeface="Calibri"/>
              <a:cs typeface="Calibri"/>
            </a:endParaRPr>
          </a:p>
          <a:p>
            <a:pPr marL="220979">
              <a:lnSpc>
                <a:spcPct val="100000"/>
              </a:lnSpc>
            </a:pPr>
            <a:r>
              <a:rPr sz="1800" spc="-50" dirty="0">
                <a:solidFill>
                  <a:srgbClr val="FFFFFF"/>
                </a:solidFill>
                <a:latin typeface="Calibri"/>
                <a:cs typeface="Calibri"/>
              </a:rPr>
              <a:t>:</a:t>
            </a:r>
            <a:endParaRPr sz="1800" dirty="0">
              <a:latin typeface="Calibri"/>
              <a:cs typeface="Calibri"/>
            </a:endParaRPr>
          </a:p>
          <a:p>
            <a:pPr marL="220979">
              <a:lnSpc>
                <a:spcPct val="100000"/>
              </a:lnSpc>
            </a:pPr>
            <a:r>
              <a:rPr sz="1800" spc="-10" dirty="0">
                <a:solidFill>
                  <a:srgbClr val="FFFFFF"/>
                </a:solidFill>
                <a:latin typeface="Calibri"/>
                <a:cs typeface="Calibri"/>
              </a:rPr>
              <a:t>instruction_n</a:t>
            </a:r>
            <a:endParaRPr sz="1800" dirty="0">
              <a:latin typeface="Calibri"/>
              <a:cs typeface="Calibri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6781292" y="17780"/>
            <a:ext cx="148971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solidFill>
                  <a:srgbClr val="4471C4"/>
                </a:solidFill>
                <a:latin typeface="Calibri"/>
                <a:cs typeface="Calibri"/>
              </a:rPr>
              <a:t>An</a:t>
            </a:r>
            <a:r>
              <a:rPr sz="1800" b="1" spc="-30" dirty="0">
                <a:solidFill>
                  <a:srgbClr val="4471C4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4471C4"/>
                </a:solidFill>
                <a:latin typeface="Calibri"/>
                <a:cs typeface="Calibri"/>
              </a:rPr>
              <a:t>infinite</a:t>
            </a:r>
            <a:r>
              <a:rPr sz="1800" b="1" spc="-40" dirty="0">
                <a:solidFill>
                  <a:srgbClr val="4471C4"/>
                </a:solidFill>
                <a:latin typeface="Calibri"/>
                <a:cs typeface="Calibri"/>
              </a:rPr>
              <a:t> </a:t>
            </a:r>
            <a:r>
              <a:rPr sz="1800" b="1" spc="-20" dirty="0">
                <a:solidFill>
                  <a:srgbClr val="4471C4"/>
                </a:solidFill>
                <a:latin typeface="Calibri"/>
                <a:cs typeface="Calibri"/>
              </a:rPr>
              <a:t>loop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6256020" y="368808"/>
            <a:ext cx="5935980" cy="1652270"/>
          </a:xfrm>
          <a:prstGeom prst="rect">
            <a:avLst/>
          </a:prstGeom>
          <a:solidFill>
            <a:srgbClr val="4471C4"/>
          </a:solidFill>
          <a:ln w="12700">
            <a:solidFill>
              <a:srgbClr val="2E528F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18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85"/>
              </a:spcBef>
            </a:pPr>
            <a:endParaRPr sz="1800" dirty="0">
              <a:latin typeface="Times New Roman"/>
              <a:cs typeface="Times New Roman"/>
            </a:endParaRPr>
          </a:p>
          <a:p>
            <a:pPr marL="92075">
              <a:lnSpc>
                <a:spcPct val="100000"/>
              </a:lnSpc>
              <a:spcBef>
                <a:spcPts val="5"/>
              </a:spcBef>
            </a:pP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while</a:t>
            </a:r>
            <a:r>
              <a:rPr sz="18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Calibri"/>
                <a:cs typeface="Calibri"/>
              </a:rPr>
              <a:t>True:</a:t>
            </a:r>
            <a:endParaRPr sz="1800" dirty="0">
              <a:latin typeface="Calibri"/>
              <a:cs typeface="Calibri"/>
            </a:endParaRPr>
          </a:p>
          <a:p>
            <a:pPr marL="300990">
              <a:lnSpc>
                <a:spcPct val="100000"/>
              </a:lnSpc>
            </a:pP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print("I'm</a:t>
            </a:r>
            <a:r>
              <a:rPr sz="18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stuck</a:t>
            </a:r>
            <a:r>
              <a:rPr sz="18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inside</a:t>
            </a:r>
            <a:r>
              <a:rPr sz="18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sz="18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Calibri"/>
                <a:cs typeface="Calibri"/>
              </a:rPr>
              <a:t>loop.")</a:t>
            </a:r>
            <a:endParaRPr sz="1800" dirty="0">
              <a:latin typeface="Calibri"/>
              <a:cs typeface="Calibri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6362446" y="2176017"/>
            <a:ext cx="5836285" cy="4688840"/>
            <a:chOff x="6362446" y="2176017"/>
            <a:chExt cx="5836285" cy="4688840"/>
          </a:xfrm>
        </p:grpSpPr>
        <p:sp>
          <p:nvSpPr>
            <p:cNvPr id="15" name="object 15"/>
            <p:cNvSpPr/>
            <p:nvPr/>
          </p:nvSpPr>
          <p:spPr>
            <a:xfrm>
              <a:off x="6368796" y="2182367"/>
              <a:ext cx="5823585" cy="4676140"/>
            </a:xfrm>
            <a:custGeom>
              <a:avLst/>
              <a:gdLst/>
              <a:ahLst/>
              <a:cxnLst/>
              <a:rect l="l" t="t" r="r" b="b"/>
              <a:pathLst>
                <a:path w="5823584" h="4676140">
                  <a:moveTo>
                    <a:pt x="5823204" y="0"/>
                  </a:moveTo>
                  <a:lnTo>
                    <a:pt x="0" y="0"/>
                  </a:lnTo>
                  <a:lnTo>
                    <a:pt x="0" y="4675632"/>
                  </a:lnTo>
                  <a:lnTo>
                    <a:pt x="5823204" y="4675632"/>
                  </a:lnTo>
                  <a:lnTo>
                    <a:pt x="5823204" y="0"/>
                  </a:lnTo>
                  <a:close/>
                </a:path>
              </a:pathLst>
            </a:custGeom>
            <a:solidFill>
              <a:srgbClr val="4471C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6368796" y="2182367"/>
              <a:ext cx="5823585" cy="4676140"/>
            </a:xfrm>
            <a:custGeom>
              <a:avLst/>
              <a:gdLst/>
              <a:ahLst/>
              <a:cxnLst/>
              <a:rect l="l" t="t" r="r" b="b"/>
              <a:pathLst>
                <a:path w="5823584" h="4676140">
                  <a:moveTo>
                    <a:pt x="0" y="4675632"/>
                  </a:moveTo>
                  <a:lnTo>
                    <a:pt x="5823204" y="4675632"/>
                  </a:lnTo>
                  <a:lnTo>
                    <a:pt x="5823204" y="0"/>
                  </a:lnTo>
                  <a:lnTo>
                    <a:pt x="0" y="0"/>
                  </a:lnTo>
                  <a:lnTo>
                    <a:pt x="0" y="4675632"/>
                  </a:lnTo>
                  <a:close/>
                </a:path>
              </a:pathLst>
            </a:custGeom>
            <a:ln w="12699">
              <a:solidFill>
                <a:srgbClr val="2E528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7" name="object 17"/>
          <p:cNvSpPr txBox="1"/>
          <p:nvPr/>
        </p:nvSpPr>
        <p:spPr>
          <a:xfrm>
            <a:off x="6448171" y="2300986"/>
            <a:ext cx="3354704" cy="513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</a:pPr>
            <a:r>
              <a:rPr sz="1600" dirty="0">
                <a:solidFill>
                  <a:srgbClr val="FFFFFF"/>
                </a:solidFill>
                <a:latin typeface="Calibri"/>
                <a:cs typeface="Calibri"/>
              </a:rPr>
              <a:t>#</a:t>
            </a:r>
            <a:r>
              <a:rPr sz="16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FFFFFF"/>
                </a:solidFill>
                <a:latin typeface="Calibri"/>
                <a:cs typeface="Calibri"/>
              </a:rPr>
              <a:t>Store</a:t>
            </a:r>
            <a:r>
              <a:rPr sz="1600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FFFFFF"/>
                </a:solidFill>
                <a:latin typeface="Calibri"/>
                <a:cs typeface="Calibri"/>
              </a:rPr>
              <a:t>the</a:t>
            </a:r>
            <a:r>
              <a:rPr sz="16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FFFFFF"/>
                </a:solidFill>
                <a:latin typeface="Calibri"/>
                <a:cs typeface="Calibri"/>
              </a:rPr>
              <a:t>current</a:t>
            </a:r>
            <a:r>
              <a:rPr sz="16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FFFFFF"/>
                </a:solidFill>
                <a:latin typeface="Calibri"/>
                <a:cs typeface="Calibri"/>
              </a:rPr>
              <a:t>largest</a:t>
            </a:r>
            <a:r>
              <a:rPr sz="16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FFFFFF"/>
                </a:solidFill>
                <a:latin typeface="Calibri"/>
                <a:cs typeface="Calibri"/>
              </a:rPr>
              <a:t>number</a:t>
            </a:r>
            <a:r>
              <a:rPr sz="16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spc="-20" dirty="0">
                <a:solidFill>
                  <a:srgbClr val="FFFFFF"/>
                </a:solidFill>
                <a:latin typeface="Calibri"/>
                <a:cs typeface="Calibri"/>
              </a:rPr>
              <a:t>here. </a:t>
            </a:r>
            <a:r>
              <a:rPr sz="1600" spc="-10" dirty="0">
                <a:solidFill>
                  <a:srgbClr val="FFFFFF"/>
                </a:solidFill>
                <a:latin typeface="Calibri"/>
                <a:cs typeface="Calibri"/>
              </a:rPr>
              <a:t>largest_number </a:t>
            </a:r>
            <a:r>
              <a:rPr sz="1600" dirty="0">
                <a:solidFill>
                  <a:srgbClr val="FFFFFF"/>
                </a:solidFill>
                <a:latin typeface="Calibri"/>
                <a:cs typeface="Calibri"/>
              </a:rPr>
              <a:t>= -</a:t>
            </a:r>
            <a:r>
              <a:rPr sz="1600" spc="-10" dirty="0">
                <a:solidFill>
                  <a:srgbClr val="FFFFFF"/>
                </a:solidFill>
                <a:latin typeface="Calibri"/>
                <a:cs typeface="Calibri"/>
              </a:rPr>
              <a:t>999999999</a:t>
            </a:r>
            <a:endParaRPr sz="1600" dirty="0">
              <a:latin typeface="Calibri"/>
              <a:cs typeface="Calibri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6448171" y="3032505"/>
            <a:ext cx="4794885" cy="513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dirty="0">
                <a:solidFill>
                  <a:srgbClr val="FFFFFF"/>
                </a:solidFill>
                <a:latin typeface="Calibri"/>
                <a:cs typeface="Calibri"/>
              </a:rPr>
              <a:t>#</a:t>
            </a:r>
            <a:r>
              <a:rPr sz="1600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FFFFFF"/>
                </a:solidFill>
                <a:latin typeface="Calibri"/>
                <a:cs typeface="Calibri"/>
              </a:rPr>
              <a:t>Input</a:t>
            </a:r>
            <a:r>
              <a:rPr sz="16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FFFFFF"/>
                </a:solidFill>
                <a:latin typeface="Calibri"/>
                <a:cs typeface="Calibri"/>
              </a:rPr>
              <a:t>the</a:t>
            </a:r>
            <a:r>
              <a:rPr sz="16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FFFFFF"/>
                </a:solidFill>
                <a:latin typeface="Calibri"/>
                <a:cs typeface="Calibri"/>
              </a:rPr>
              <a:t>first</a:t>
            </a:r>
            <a:r>
              <a:rPr sz="16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FFFFFF"/>
                </a:solidFill>
                <a:latin typeface="Calibri"/>
                <a:cs typeface="Calibri"/>
              </a:rPr>
              <a:t>value.</a:t>
            </a:r>
            <a:endParaRPr sz="1600" dirty="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1600" dirty="0">
                <a:solidFill>
                  <a:srgbClr val="FFFFFF"/>
                </a:solidFill>
                <a:latin typeface="Calibri"/>
                <a:cs typeface="Calibri"/>
              </a:rPr>
              <a:t>number</a:t>
            </a:r>
            <a:r>
              <a:rPr sz="1600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FFFFFF"/>
                </a:solidFill>
                <a:latin typeface="Calibri"/>
                <a:cs typeface="Calibri"/>
              </a:rPr>
              <a:t>=</a:t>
            </a:r>
            <a:r>
              <a:rPr sz="1600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FFFFFF"/>
                </a:solidFill>
                <a:latin typeface="Calibri"/>
                <a:cs typeface="Calibri"/>
              </a:rPr>
              <a:t>int(input("Enter</a:t>
            </a:r>
            <a:r>
              <a:rPr sz="16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sz="1600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FFFFFF"/>
                </a:solidFill>
                <a:latin typeface="Calibri"/>
                <a:cs typeface="Calibri"/>
              </a:rPr>
              <a:t>number</a:t>
            </a:r>
            <a:r>
              <a:rPr sz="1600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FFFFFF"/>
                </a:solidFill>
                <a:latin typeface="Calibri"/>
                <a:cs typeface="Calibri"/>
              </a:rPr>
              <a:t>or</a:t>
            </a:r>
            <a:r>
              <a:rPr sz="1600" spc="-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FFFFFF"/>
                </a:solidFill>
                <a:latin typeface="Calibri"/>
                <a:cs typeface="Calibri"/>
              </a:rPr>
              <a:t>type -1</a:t>
            </a:r>
            <a:r>
              <a:rPr sz="1600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FFFFFF"/>
                </a:solidFill>
                <a:latin typeface="Calibri"/>
                <a:cs typeface="Calibri"/>
              </a:rPr>
              <a:t>to</a:t>
            </a:r>
            <a:r>
              <a:rPr sz="1600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FFFFFF"/>
                </a:solidFill>
                <a:latin typeface="Calibri"/>
                <a:cs typeface="Calibri"/>
              </a:rPr>
              <a:t>stop:</a:t>
            </a:r>
            <a:r>
              <a:rPr sz="16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spc="-25" dirty="0">
                <a:solidFill>
                  <a:srgbClr val="FFFFFF"/>
                </a:solidFill>
                <a:latin typeface="Calibri"/>
                <a:cs typeface="Calibri"/>
              </a:rPr>
              <a:t>"))</a:t>
            </a:r>
            <a:endParaRPr sz="1600" dirty="0">
              <a:latin typeface="Calibri"/>
              <a:cs typeface="Calibri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6448171" y="3764407"/>
            <a:ext cx="4979670" cy="1976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1367790">
              <a:lnSpc>
                <a:spcPct val="100000"/>
              </a:lnSpc>
              <a:spcBef>
                <a:spcPts val="95"/>
              </a:spcBef>
            </a:pPr>
            <a:r>
              <a:rPr sz="1600" dirty="0">
                <a:solidFill>
                  <a:srgbClr val="FFFFFF"/>
                </a:solidFill>
                <a:latin typeface="Calibri"/>
                <a:cs typeface="Calibri"/>
              </a:rPr>
              <a:t>#</a:t>
            </a:r>
            <a:r>
              <a:rPr sz="1600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FFFFFF"/>
                </a:solidFill>
                <a:latin typeface="Calibri"/>
                <a:cs typeface="Calibri"/>
              </a:rPr>
              <a:t>If</a:t>
            </a:r>
            <a:r>
              <a:rPr sz="16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FFFFFF"/>
                </a:solidFill>
                <a:latin typeface="Calibri"/>
                <a:cs typeface="Calibri"/>
              </a:rPr>
              <a:t>the</a:t>
            </a:r>
            <a:r>
              <a:rPr sz="1600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FFFFFF"/>
                </a:solidFill>
                <a:latin typeface="Calibri"/>
                <a:cs typeface="Calibri"/>
              </a:rPr>
              <a:t>number</a:t>
            </a:r>
            <a:r>
              <a:rPr sz="1600" spc="-1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FFFFFF"/>
                </a:solidFill>
                <a:latin typeface="Calibri"/>
                <a:cs typeface="Calibri"/>
              </a:rPr>
              <a:t>is</a:t>
            </a:r>
            <a:r>
              <a:rPr sz="16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FFFFFF"/>
                </a:solidFill>
                <a:latin typeface="Calibri"/>
                <a:cs typeface="Calibri"/>
              </a:rPr>
              <a:t>not</a:t>
            </a:r>
            <a:r>
              <a:rPr sz="1600" spc="-1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FFFFFF"/>
                </a:solidFill>
                <a:latin typeface="Calibri"/>
                <a:cs typeface="Calibri"/>
              </a:rPr>
              <a:t>equal</a:t>
            </a:r>
            <a:r>
              <a:rPr sz="16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FFFFFF"/>
                </a:solidFill>
                <a:latin typeface="Calibri"/>
                <a:cs typeface="Calibri"/>
              </a:rPr>
              <a:t>to</a:t>
            </a:r>
            <a:r>
              <a:rPr sz="1600" spc="-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FFFFFF"/>
                </a:solidFill>
                <a:latin typeface="Calibri"/>
                <a:cs typeface="Calibri"/>
              </a:rPr>
              <a:t>-1,</a:t>
            </a:r>
            <a:r>
              <a:rPr sz="1600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FFFFFF"/>
                </a:solidFill>
                <a:latin typeface="Calibri"/>
                <a:cs typeface="Calibri"/>
              </a:rPr>
              <a:t>continue. </a:t>
            </a:r>
            <a:r>
              <a:rPr sz="1600" dirty="0">
                <a:solidFill>
                  <a:srgbClr val="FFFFFF"/>
                </a:solidFill>
                <a:latin typeface="Calibri"/>
                <a:cs typeface="Calibri"/>
              </a:rPr>
              <a:t>while</a:t>
            </a:r>
            <a:r>
              <a:rPr sz="16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FFFFFF"/>
                </a:solidFill>
                <a:latin typeface="Calibri"/>
                <a:cs typeface="Calibri"/>
              </a:rPr>
              <a:t>number</a:t>
            </a:r>
            <a:r>
              <a:rPr sz="16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FFFFFF"/>
                </a:solidFill>
                <a:latin typeface="Calibri"/>
                <a:cs typeface="Calibri"/>
              </a:rPr>
              <a:t>!=</a:t>
            </a:r>
            <a:r>
              <a:rPr sz="1600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FFFFFF"/>
                </a:solidFill>
                <a:latin typeface="Calibri"/>
                <a:cs typeface="Calibri"/>
              </a:rPr>
              <a:t>-</a:t>
            </a:r>
            <a:r>
              <a:rPr sz="1600" spc="-25" dirty="0">
                <a:solidFill>
                  <a:srgbClr val="FFFFFF"/>
                </a:solidFill>
                <a:latin typeface="Calibri"/>
                <a:cs typeface="Calibri"/>
              </a:rPr>
              <a:t>1:</a:t>
            </a:r>
            <a:endParaRPr sz="1600" dirty="0">
              <a:latin typeface="Calibri"/>
              <a:cs typeface="Calibri"/>
            </a:endParaRPr>
          </a:p>
          <a:p>
            <a:pPr marL="196850" marR="1401445">
              <a:lnSpc>
                <a:spcPct val="100000"/>
              </a:lnSpc>
            </a:pPr>
            <a:r>
              <a:rPr sz="1600" dirty="0">
                <a:solidFill>
                  <a:srgbClr val="FFFFFF"/>
                </a:solidFill>
                <a:latin typeface="Calibri"/>
                <a:cs typeface="Calibri"/>
              </a:rPr>
              <a:t>#</a:t>
            </a:r>
            <a:r>
              <a:rPr sz="1600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FFFFFF"/>
                </a:solidFill>
                <a:latin typeface="Calibri"/>
                <a:cs typeface="Calibri"/>
              </a:rPr>
              <a:t>Is</a:t>
            </a:r>
            <a:r>
              <a:rPr sz="16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FFFFFF"/>
                </a:solidFill>
                <a:latin typeface="Calibri"/>
                <a:cs typeface="Calibri"/>
              </a:rPr>
              <a:t>number</a:t>
            </a:r>
            <a:r>
              <a:rPr sz="1600" spc="-1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FFFFFF"/>
                </a:solidFill>
                <a:latin typeface="Calibri"/>
                <a:cs typeface="Calibri"/>
              </a:rPr>
              <a:t>larger</a:t>
            </a:r>
            <a:r>
              <a:rPr sz="1600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FFFFFF"/>
                </a:solidFill>
                <a:latin typeface="Calibri"/>
                <a:cs typeface="Calibri"/>
              </a:rPr>
              <a:t>than</a:t>
            </a:r>
            <a:r>
              <a:rPr sz="16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FFFFFF"/>
                </a:solidFill>
                <a:latin typeface="Calibri"/>
                <a:cs typeface="Calibri"/>
              </a:rPr>
              <a:t>largest_number? </a:t>
            </a:r>
            <a:r>
              <a:rPr sz="1600" dirty="0">
                <a:solidFill>
                  <a:srgbClr val="FFFFFF"/>
                </a:solidFill>
                <a:latin typeface="Calibri"/>
                <a:cs typeface="Calibri"/>
              </a:rPr>
              <a:t>if</a:t>
            </a:r>
            <a:r>
              <a:rPr sz="16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FFFFFF"/>
                </a:solidFill>
                <a:latin typeface="Calibri"/>
                <a:cs typeface="Calibri"/>
              </a:rPr>
              <a:t>number</a:t>
            </a:r>
            <a:r>
              <a:rPr sz="1600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FFFFFF"/>
                </a:solidFill>
                <a:latin typeface="Calibri"/>
                <a:cs typeface="Calibri"/>
              </a:rPr>
              <a:t>&gt;</a:t>
            </a:r>
            <a:r>
              <a:rPr sz="1600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FFFFFF"/>
                </a:solidFill>
                <a:latin typeface="Calibri"/>
                <a:cs typeface="Calibri"/>
              </a:rPr>
              <a:t>largest_number:</a:t>
            </a:r>
            <a:endParaRPr sz="1600" dirty="0">
              <a:latin typeface="Calibri"/>
              <a:cs typeface="Calibri"/>
            </a:endParaRPr>
          </a:p>
          <a:p>
            <a:pPr marL="381635" marR="2114550">
              <a:lnSpc>
                <a:spcPct val="100000"/>
              </a:lnSpc>
            </a:pPr>
            <a:r>
              <a:rPr sz="1600" dirty="0">
                <a:solidFill>
                  <a:srgbClr val="FFFFFF"/>
                </a:solidFill>
                <a:latin typeface="Calibri"/>
                <a:cs typeface="Calibri"/>
              </a:rPr>
              <a:t>#</a:t>
            </a:r>
            <a:r>
              <a:rPr sz="16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spc="-20" dirty="0">
                <a:solidFill>
                  <a:srgbClr val="FFFFFF"/>
                </a:solidFill>
                <a:latin typeface="Calibri"/>
                <a:cs typeface="Calibri"/>
              </a:rPr>
              <a:t>Yes,</a:t>
            </a:r>
            <a:r>
              <a:rPr sz="16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FFFFFF"/>
                </a:solidFill>
                <a:latin typeface="Calibri"/>
                <a:cs typeface="Calibri"/>
              </a:rPr>
              <a:t>update</a:t>
            </a:r>
            <a:r>
              <a:rPr sz="16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spc="-20" dirty="0">
                <a:solidFill>
                  <a:srgbClr val="FFFFFF"/>
                </a:solidFill>
                <a:latin typeface="Calibri"/>
                <a:cs typeface="Calibri"/>
              </a:rPr>
              <a:t>largest_number. </a:t>
            </a:r>
            <a:r>
              <a:rPr sz="1600" spc="-10" dirty="0">
                <a:solidFill>
                  <a:srgbClr val="FFFFFF"/>
                </a:solidFill>
                <a:latin typeface="Calibri"/>
                <a:cs typeface="Calibri"/>
              </a:rPr>
              <a:t>largest_number </a:t>
            </a:r>
            <a:r>
              <a:rPr sz="1600" dirty="0">
                <a:solidFill>
                  <a:srgbClr val="FFFFFF"/>
                </a:solidFill>
                <a:latin typeface="Calibri"/>
                <a:cs typeface="Calibri"/>
              </a:rPr>
              <a:t>= </a:t>
            </a:r>
            <a:r>
              <a:rPr sz="1600" spc="-10" dirty="0">
                <a:solidFill>
                  <a:srgbClr val="FFFFFF"/>
                </a:solidFill>
                <a:latin typeface="Calibri"/>
                <a:cs typeface="Calibri"/>
              </a:rPr>
              <a:t>number</a:t>
            </a:r>
            <a:endParaRPr sz="1600" dirty="0">
              <a:latin typeface="Calibri"/>
              <a:cs typeface="Calibri"/>
            </a:endParaRPr>
          </a:p>
          <a:p>
            <a:pPr marL="196850">
              <a:lnSpc>
                <a:spcPct val="100000"/>
              </a:lnSpc>
            </a:pPr>
            <a:r>
              <a:rPr sz="1600" dirty="0">
                <a:solidFill>
                  <a:srgbClr val="FFFFFF"/>
                </a:solidFill>
                <a:latin typeface="Calibri"/>
                <a:cs typeface="Calibri"/>
              </a:rPr>
              <a:t>#</a:t>
            </a:r>
            <a:r>
              <a:rPr sz="1600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FFFFFF"/>
                </a:solidFill>
                <a:latin typeface="Calibri"/>
                <a:cs typeface="Calibri"/>
              </a:rPr>
              <a:t>Input</a:t>
            </a:r>
            <a:r>
              <a:rPr sz="16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FFFFFF"/>
                </a:solidFill>
                <a:latin typeface="Calibri"/>
                <a:cs typeface="Calibri"/>
              </a:rPr>
              <a:t>the</a:t>
            </a:r>
            <a:r>
              <a:rPr sz="1600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FFFFFF"/>
                </a:solidFill>
                <a:latin typeface="Calibri"/>
                <a:cs typeface="Calibri"/>
              </a:rPr>
              <a:t>next</a:t>
            </a:r>
            <a:r>
              <a:rPr sz="1600" spc="-10" dirty="0">
                <a:solidFill>
                  <a:srgbClr val="FFFFFF"/>
                </a:solidFill>
                <a:latin typeface="Calibri"/>
                <a:cs typeface="Calibri"/>
              </a:rPr>
              <a:t> number.</a:t>
            </a:r>
            <a:endParaRPr sz="1600" dirty="0">
              <a:latin typeface="Calibri"/>
              <a:cs typeface="Calibri"/>
            </a:endParaRPr>
          </a:p>
          <a:p>
            <a:pPr marL="196850">
              <a:lnSpc>
                <a:spcPct val="100000"/>
              </a:lnSpc>
            </a:pPr>
            <a:r>
              <a:rPr sz="1600" dirty="0">
                <a:solidFill>
                  <a:srgbClr val="FFFFFF"/>
                </a:solidFill>
                <a:latin typeface="Calibri"/>
                <a:cs typeface="Calibri"/>
              </a:rPr>
              <a:t>number</a:t>
            </a:r>
            <a:r>
              <a:rPr sz="1600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FFFFFF"/>
                </a:solidFill>
                <a:latin typeface="Calibri"/>
                <a:cs typeface="Calibri"/>
              </a:rPr>
              <a:t>=</a:t>
            </a:r>
            <a:r>
              <a:rPr sz="1600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FFFFFF"/>
                </a:solidFill>
                <a:latin typeface="Calibri"/>
                <a:cs typeface="Calibri"/>
              </a:rPr>
              <a:t>int(input("Enter</a:t>
            </a:r>
            <a:r>
              <a:rPr sz="16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sz="16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FFFFFF"/>
                </a:solidFill>
                <a:latin typeface="Calibri"/>
                <a:cs typeface="Calibri"/>
              </a:rPr>
              <a:t>number</a:t>
            </a:r>
            <a:r>
              <a:rPr sz="1600" spc="-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FFFFFF"/>
                </a:solidFill>
                <a:latin typeface="Calibri"/>
                <a:cs typeface="Calibri"/>
              </a:rPr>
              <a:t>or</a:t>
            </a:r>
            <a:r>
              <a:rPr sz="1600" spc="-1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FFFFFF"/>
                </a:solidFill>
                <a:latin typeface="Calibri"/>
                <a:cs typeface="Calibri"/>
              </a:rPr>
              <a:t>type</a:t>
            </a:r>
            <a:r>
              <a:rPr sz="1600" spc="-1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FFFFFF"/>
                </a:solidFill>
                <a:latin typeface="Calibri"/>
                <a:cs typeface="Calibri"/>
              </a:rPr>
              <a:t>-1</a:t>
            </a:r>
            <a:r>
              <a:rPr sz="16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FFFFFF"/>
                </a:solidFill>
                <a:latin typeface="Calibri"/>
                <a:cs typeface="Calibri"/>
              </a:rPr>
              <a:t>to</a:t>
            </a:r>
            <a:r>
              <a:rPr sz="1600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FFFFFF"/>
                </a:solidFill>
                <a:latin typeface="Calibri"/>
                <a:cs typeface="Calibri"/>
              </a:rPr>
              <a:t>stop:</a:t>
            </a:r>
            <a:r>
              <a:rPr sz="16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spc="-25" dirty="0">
                <a:solidFill>
                  <a:srgbClr val="FFFFFF"/>
                </a:solidFill>
                <a:latin typeface="Calibri"/>
                <a:cs typeface="Calibri"/>
              </a:rPr>
              <a:t>"))</a:t>
            </a:r>
            <a:endParaRPr sz="1600" dirty="0">
              <a:latin typeface="Calibri"/>
              <a:cs typeface="Calibri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6448171" y="5959246"/>
            <a:ext cx="3940175" cy="513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dirty="0">
                <a:solidFill>
                  <a:srgbClr val="FFFFFF"/>
                </a:solidFill>
                <a:latin typeface="Calibri"/>
                <a:cs typeface="Calibri"/>
              </a:rPr>
              <a:t>#</a:t>
            </a:r>
            <a:r>
              <a:rPr sz="1600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FFFFFF"/>
                </a:solidFill>
                <a:latin typeface="Calibri"/>
                <a:cs typeface="Calibri"/>
              </a:rPr>
              <a:t>Print</a:t>
            </a:r>
            <a:r>
              <a:rPr sz="16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FFFFFF"/>
                </a:solidFill>
                <a:latin typeface="Calibri"/>
                <a:cs typeface="Calibri"/>
              </a:rPr>
              <a:t>the</a:t>
            </a:r>
            <a:r>
              <a:rPr sz="1600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FFFFFF"/>
                </a:solidFill>
                <a:latin typeface="Calibri"/>
                <a:cs typeface="Calibri"/>
              </a:rPr>
              <a:t>largest</a:t>
            </a:r>
            <a:r>
              <a:rPr sz="16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FFFFFF"/>
                </a:solidFill>
                <a:latin typeface="Calibri"/>
                <a:cs typeface="Calibri"/>
              </a:rPr>
              <a:t>number.</a:t>
            </a:r>
            <a:endParaRPr sz="1600" dirty="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1600" spc="-10" dirty="0">
                <a:solidFill>
                  <a:srgbClr val="FFFFFF"/>
                </a:solidFill>
                <a:latin typeface="Calibri"/>
                <a:cs typeface="Calibri"/>
              </a:rPr>
              <a:t>print("The</a:t>
            </a:r>
            <a:r>
              <a:rPr sz="1600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FFFFFF"/>
                </a:solidFill>
                <a:latin typeface="Calibri"/>
                <a:cs typeface="Calibri"/>
              </a:rPr>
              <a:t>largest </a:t>
            </a:r>
            <a:r>
              <a:rPr sz="1600" dirty="0">
                <a:solidFill>
                  <a:srgbClr val="FFFFFF"/>
                </a:solidFill>
                <a:latin typeface="Calibri"/>
                <a:cs typeface="Calibri"/>
              </a:rPr>
              <a:t>number</a:t>
            </a:r>
            <a:r>
              <a:rPr sz="1600" spc="-1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FFFFFF"/>
                </a:solidFill>
                <a:latin typeface="Calibri"/>
                <a:cs typeface="Calibri"/>
              </a:rPr>
              <a:t>is:",</a:t>
            </a:r>
            <a:r>
              <a:rPr sz="1600" spc="-10" dirty="0">
                <a:solidFill>
                  <a:srgbClr val="FFFFFF"/>
                </a:solidFill>
                <a:latin typeface="Calibri"/>
                <a:cs typeface="Calibri"/>
              </a:rPr>
              <a:t> largest_number)</a:t>
            </a:r>
            <a:endParaRPr sz="16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8739" y="8635"/>
            <a:ext cx="270637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solidFill>
                  <a:srgbClr val="4471C4"/>
                </a:solidFill>
                <a:latin typeface="Calibri"/>
                <a:cs typeface="Calibri"/>
              </a:rPr>
              <a:t>Looping</a:t>
            </a:r>
            <a:r>
              <a:rPr sz="1800" b="1" spc="-50" dirty="0">
                <a:solidFill>
                  <a:srgbClr val="4471C4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4471C4"/>
                </a:solidFill>
                <a:latin typeface="Calibri"/>
                <a:cs typeface="Calibri"/>
              </a:rPr>
              <a:t>your</a:t>
            </a:r>
            <a:r>
              <a:rPr sz="1800" b="1" spc="-30" dirty="0">
                <a:solidFill>
                  <a:srgbClr val="4471C4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4471C4"/>
                </a:solidFill>
                <a:latin typeface="Calibri"/>
                <a:cs typeface="Calibri"/>
              </a:rPr>
              <a:t>code</a:t>
            </a:r>
            <a:r>
              <a:rPr sz="1800" b="1" spc="-25" dirty="0">
                <a:solidFill>
                  <a:srgbClr val="4471C4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4471C4"/>
                </a:solidFill>
                <a:latin typeface="Calibri"/>
                <a:cs typeface="Calibri"/>
              </a:rPr>
              <a:t>with</a:t>
            </a:r>
            <a:r>
              <a:rPr sz="1800" b="1" spc="-15" dirty="0">
                <a:solidFill>
                  <a:srgbClr val="4471C4"/>
                </a:solidFill>
                <a:latin typeface="Calibri"/>
                <a:cs typeface="Calibri"/>
              </a:rPr>
              <a:t> </a:t>
            </a:r>
            <a:r>
              <a:rPr sz="1800" b="1" spc="-25" dirty="0">
                <a:solidFill>
                  <a:srgbClr val="4471C4"/>
                </a:solidFill>
                <a:latin typeface="Courier New"/>
                <a:cs typeface="Courier New"/>
              </a:rPr>
              <a:t>for</a:t>
            </a:r>
            <a:endParaRPr sz="1800">
              <a:latin typeface="Courier New"/>
              <a:cs typeface="Courier New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0" y="368808"/>
            <a:ext cx="3850004" cy="2824480"/>
          </a:xfrm>
          <a:prstGeom prst="rect">
            <a:avLst/>
          </a:prstGeom>
          <a:solidFill>
            <a:srgbClr val="4471C4"/>
          </a:solidFill>
          <a:ln w="12700">
            <a:solidFill>
              <a:srgbClr val="2E528F"/>
            </a:solidFill>
          </a:ln>
        </p:spPr>
        <p:txBody>
          <a:bodyPr vert="horz" wrap="square" lIns="0" tIns="3619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285"/>
              </a:spcBef>
            </a:pPr>
            <a:endParaRPr sz="1800" dirty="0">
              <a:latin typeface="Times New Roman"/>
              <a:cs typeface="Times New Roman"/>
            </a:endParaRPr>
          </a:p>
          <a:p>
            <a:pPr marL="91440">
              <a:lnSpc>
                <a:spcPct val="100000"/>
              </a:lnSpc>
              <a:spcBef>
                <a:spcPts val="5"/>
              </a:spcBef>
            </a:pP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i =</a:t>
            </a:r>
            <a:r>
              <a:rPr sz="1800" spc="-1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-50" dirty="0">
                <a:solidFill>
                  <a:srgbClr val="FFFFFF"/>
                </a:solidFill>
                <a:latin typeface="Calibri"/>
                <a:cs typeface="Calibri"/>
              </a:rPr>
              <a:t>0</a:t>
            </a:r>
            <a:endParaRPr sz="1800" dirty="0">
              <a:latin typeface="Calibri"/>
              <a:cs typeface="Calibri"/>
            </a:endParaRPr>
          </a:p>
          <a:p>
            <a:pPr marL="91440">
              <a:lnSpc>
                <a:spcPct val="100000"/>
              </a:lnSpc>
            </a:pP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while i</a:t>
            </a:r>
            <a:r>
              <a:rPr sz="1800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&lt;</a:t>
            </a:r>
            <a:r>
              <a:rPr sz="1800" spc="-1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-20" dirty="0">
                <a:solidFill>
                  <a:srgbClr val="FFFFFF"/>
                </a:solidFill>
                <a:latin typeface="Calibri"/>
                <a:cs typeface="Calibri"/>
              </a:rPr>
              <a:t>100:</a:t>
            </a:r>
            <a:endParaRPr sz="1800" dirty="0">
              <a:latin typeface="Calibri"/>
              <a:cs typeface="Calibri"/>
            </a:endParaRPr>
          </a:p>
          <a:p>
            <a:pPr marL="299720" marR="1899285">
              <a:lnSpc>
                <a:spcPct val="100000"/>
              </a:lnSpc>
            </a:pP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#</a:t>
            </a:r>
            <a:r>
              <a:rPr sz="1800" spc="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Calibri"/>
                <a:cs typeface="Calibri"/>
              </a:rPr>
              <a:t>do_something()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i</a:t>
            </a:r>
            <a:r>
              <a:rPr sz="1800" spc="-1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+=</a:t>
            </a:r>
            <a:r>
              <a:rPr sz="1800" spc="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-50" dirty="0">
                <a:solidFill>
                  <a:srgbClr val="FFFFFF"/>
                </a:solidFill>
                <a:latin typeface="Calibri"/>
                <a:cs typeface="Calibri"/>
              </a:rPr>
              <a:t>1</a:t>
            </a:r>
            <a:endParaRPr sz="1800" dirty="0">
              <a:latin typeface="Calibri"/>
              <a:cs typeface="Calibri"/>
            </a:endParaRPr>
          </a:p>
          <a:p>
            <a:pPr marL="91440">
              <a:lnSpc>
                <a:spcPct val="100000"/>
              </a:lnSpc>
            </a:pP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--------------------</a:t>
            </a:r>
            <a:r>
              <a:rPr sz="1800" spc="-15" dirty="0">
                <a:solidFill>
                  <a:srgbClr val="FFFFFF"/>
                </a:solidFill>
                <a:latin typeface="Calibri"/>
                <a:cs typeface="Calibri"/>
              </a:rPr>
              <a:t>-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------</a:t>
            </a:r>
            <a:r>
              <a:rPr sz="1800" spc="-15" dirty="0">
                <a:solidFill>
                  <a:srgbClr val="FFFFFF"/>
                </a:solidFill>
                <a:latin typeface="Calibri"/>
                <a:cs typeface="Calibri"/>
              </a:rPr>
              <a:t>-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-----</a:t>
            </a:r>
            <a:r>
              <a:rPr sz="1800" spc="-15" dirty="0">
                <a:solidFill>
                  <a:srgbClr val="FFFFFF"/>
                </a:solidFill>
                <a:latin typeface="Calibri"/>
                <a:cs typeface="Calibri"/>
              </a:rPr>
              <a:t>-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-----</a:t>
            </a:r>
            <a:r>
              <a:rPr sz="1800" spc="-15" dirty="0">
                <a:solidFill>
                  <a:srgbClr val="FFFFFF"/>
                </a:solidFill>
                <a:latin typeface="Calibri"/>
                <a:cs typeface="Calibri"/>
              </a:rPr>
              <a:t>-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-----</a:t>
            </a:r>
            <a:r>
              <a:rPr sz="1800" spc="-15" dirty="0">
                <a:solidFill>
                  <a:srgbClr val="FFFFFF"/>
                </a:solidFill>
                <a:latin typeface="Calibri"/>
                <a:cs typeface="Calibri"/>
              </a:rPr>
              <a:t>-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---</a:t>
            </a:r>
            <a:r>
              <a:rPr sz="1800" spc="-50" dirty="0">
                <a:solidFill>
                  <a:srgbClr val="FFFFFF"/>
                </a:solidFill>
                <a:latin typeface="Calibri"/>
                <a:cs typeface="Calibri"/>
              </a:rPr>
              <a:t>-</a:t>
            </a:r>
            <a:endParaRPr sz="1800" dirty="0">
              <a:latin typeface="Calibri"/>
              <a:cs typeface="Calibri"/>
            </a:endParaRPr>
          </a:p>
          <a:p>
            <a:pPr marL="299720" marR="1899285" indent="-208915">
              <a:lnSpc>
                <a:spcPct val="100000"/>
              </a:lnSpc>
            </a:pP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for</a:t>
            </a:r>
            <a:r>
              <a:rPr sz="1800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i</a:t>
            </a:r>
            <a:r>
              <a:rPr sz="1800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in</a:t>
            </a:r>
            <a:r>
              <a:rPr sz="1800" spc="-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Calibri"/>
                <a:cs typeface="Calibri"/>
              </a:rPr>
              <a:t>range(100):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#</a:t>
            </a:r>
            <a:r>
              <a:rPr sz="1800" spc="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Calibri"/>
                <a:cs typeface="Calibri"/>
              </a:rPr>
              <a:t>do_something() </a:t>
            </a:r>
            <a:r>
              <a:rPr sz="1800" spc="-20" dirty="0">
                <a:solidFill>
                  <a:srgbClr val="FFFFFF"/>
                </a:solidFill>
                <a:latin typeface="Calibri"/>
                <a:cs typeface="Calibri"/>
              </a:rPr>
              <a:t>pass</a:t>
            </a:r>
            <a:endParaRPr sz="1800" dirty="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0" y="3282696"/>
            <a:ext cx="4090670" cy="1031875"/>
          </a:xfrm>
          <a:prstGeom prst="rect">
            <a:avLst/>
          </a:prstGeom>
          <a:solidFill>
            <a:srgbClr val="4471C4"/>
          </a:solidFill>
          <a:ln w="12700">
            <a:solidFill>
              <a:srgbClr val="2E528F"/>
            </a:solidFill>
          </a:ln>
        </p:spPr>
        <p:txBody>
          <a:bodyPr vert="horz" wrap="square" lIns="0" tIns="89535" rIns="0" bIns="0" rtlCol="0">
            <a:spAutoFit/>
          </a:bodyPr>
          <a:lstStyle/>
          <a:p>
            <a:pPr marL="91440">
              <a:lnSpc>
                <a:spcPct val="100000"/>
              </a:lnSpc>
              <a:spcBef>
                <a:spcPts val="705"/>
              </a:spcBef>
            </a:pP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for</a:t>
            </a:r>
            <a:r>
              <a:rPr sz="1800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i</a:t>
            </a:r>
            <a:r>
              <a:rPr sz="1800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in</a:t>
            </a:r>
            <a:r>
              <a:rPr sz="1800" spc="-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Calibri"/>
                <a:cs typeface="Calibri"/>
              </a:rPr>
              <a:t>range(10):</a:t>
            </a:r>
            <a:endParaRPr sz="1800">
              <a:latin typeface="Calibri"/>
              <a:cs typeface="Calibri"/>
            </a:endParaRPr>
          </a:p>
          <a:p>
            <a:pPr marL="299720">
              <a:lnSpc>
                <a:spcPct val="100000"/>
              </a:lnSpc>
            </a:pP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print("The</a:t>
            </a:r>
            <a:r>
              <a:rPr sz="1800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value</a:t>
            </a:r>
            <a:r>
              <a:rPr sz="18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of</a:t>
            </a:r>
            <a:r>
              <a:rPr sz="18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i</a:t>
            </a:r>
            <a:r>
              <a:rPr sz="18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is</a:t>
            </a:r>
            <a:r>
              <a:rPr sz="18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currently",</a:t>
            </a:r>
            <a:r>
              <a:rPr sz="18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-25" dirty="0">
                <a:solidFill>
                  <a:srgbClr val="FFFFFF"/>
                </a:solidFill>
                <a:latin typeface="Calibri"/>
                <a:cs typeface="Calibri"/>
              </a:rPr>
              <a:t>i)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-6350" y="4398009"/>
            <a:ext cx="8483600" cy="2466340"/>
            <a:chOff x="-6350" y="4398009"/>
            <a:chExt cx="8483600" cy="2466340"/>
          </a:xfrm>
        </p:grpSpPr>
        <p:sp>
          <p:nvSpPr>
            <p:cNvPr id="6" name="object 6"/>
            <p:cNvSpPr/>
            <p:nvPr/>
          </p:nvSpPr>
          <p:spPr>
            <a:xfrm>
              <a:off x="0" y="4404359"/>
              <a:ext cx="8470900" cy="2453640"/>
            </a:xfrm>
            <a:custGeom>
              <a:avLst/>
              <a:gdLst/>
              <a:ahLst/>
              <a:cxnLst/>
              <a:rect l="l" t="t" r="r" b="b"/>
              <a:pathLst>
                <a:path w="8470900" h="2453640">
                  <a:moveTo>
                    <a:pt x="8470392" y="0"/>
                  </a:moveTo>
                  <a:lnTo>
                    <a:pt x="0" y="0"/>
                  </a:lnTo>
                  <a:lnTo>
                    <a:pt x="0" y="2453640"/>
                  </a:lnTo>
                  <a:lnTo>
                    <a:pt x="8470392" y="2453640"/>
                  </a:lnTo>
                  <a:lnTo>
                    <a:pt x="8470392" y="0"/>
                  </a:lnTo>
                  <a:close/>
                </a:path>
              </a:pathLst>
            </a:custGeom>
            <a:solidFill>
              <a:srgbClr val="4471C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0" y="4404359"/>
              <a:ext cx="8470900" cy="2453640"/>
            </a:xfrm>
            <a:custGeom>
              <a:avLst/>
              <a:gdLst/>
              <a:ahLst/>
              <a:cxnLst/>
              <a:rect l="l" t="t" r="r" b="b"/>
              <a:pathLst>
                <a:path w="8470900" h="2453640">
                  <a:moveTo>
                    <a:pt x="0" y="2453640"/>
                  </a:moveTo>
                  <a:lnTo>
                    <a:pt x="8470392" y="2453640"/>
                  </a:lnTo>
                  <a:lnTo>
                    <a:pt x="8470392" y="0"/>
                  </a:lnTo>
                  <a:lnTo>
                    <a:pt x="0" y="0"/>
                  </a:lnTo>
                  <a:lnTo>
                    <a:pt x="0" y="2453640"/>
                  </a:lnTo>
                  <a:close/>
                </a:path>
              </a:pathLst>
            </a:custGeom>
            <a:ln w="12700">
              <a:solidFill>
                <a:srgbClr val="2E528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78739" y="4509897"/>
            <a:ext cx="3098800" cy="1976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dirty="0">
                <a:solidFill>
                  <a:srgbClr val="FFFFFF"/>
                </a:solidFill>
                <a:latin typeface="Calibri"/>
                <a:cs typeface="Calibri"/>
              </a:rPr>
              <a:t>for</a:t>
            </a:r>
            <a:r>
              <a:rPr sz="16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FFFFFF"/>
                </a:solidFill>
                <a:latin typeface="Calibri"/>
                <a:cs typeface="Calibri"/>
              </a:rPr>
              <a:t>i</a:t>
            </a:r>
            <a:r>
              <a:rPr sz="16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FFFFFF"/>
                </a:solidFill>
                <a:latin typeface="Calibri"/>
                <a:cs typeface="Calibri"/>
              </a:rPr>
              <a:t>in</a:t>
            </a:r>
            <a:r>
              <a:rPr sz="1600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FFFFFF"/>
                </a:solidFill>
                <a:latin typeface="Calibri"/>
                <a:cs typeface="Calibri"/>
              </a:rPr>
              <a:t>range(2,</a:t>
            </a:r>
            <a:r>
              <a:rPr sz="1600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spc="-25" dirty="0">
                <a:solidFill>
                  <a:srgbClr val="FFFFFF"/>
                </a:solidFill>
                <a:latin typeface="Calibri"/>
                <a:cs typeface="Calibri"/>
              </a:rPr>
              <a:t>8):</a:t>
            </a:r>
            <a:endParaRPr sz="1600">
              <a:latin typeface="Calibri"/>
              <a:cs typeface="Calibri"/>
            </a:endParaRPr>
          </a:p>
          <a:p>
            <a:pPr marL="196850">
              <a:lnSpc>
                <a:spcPct val="100000"/>
              </a:lnSpc>
            </a:pPr>
            <a:r>
              <a:rPr sz="1600" spc="-10" dirty="0">
                <a:solidFill>
                  <a:srgbClr val="FFFFFF"/>
                </a:solidFill>
                <a:latin typeface="Calibri"/>
                <a:cs typeface="Calibri"/>
              </a:rPr>
              <a:t>print("The</a:t>
            </a:r>
            <a:r>
              <a:rPr sz="1600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FFFFFF"/>
                </a:solidFill>
                <a:latin typeface="Calibri"/>
                <a:cs typeface="Calibri"/>
              </a:rPr>
              <a:t>value</a:t>
            </a:r>
            <a:r>
              <a:rPr sz="1600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FFFFFF"/>
                </a:solidFill>
                <a:latin typeface="Calibri"/>
                <a:cs typeface="Calibri"/>
              </a:rPr>
              <a:t>of</a:t>
            </a:r>
            <a:r>
              <a:rPr sz="1600" spc="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FFFFFF"/>
                </a:solidFill>
                <a:latin typeface="Calibri"/>
                <a:cs typeface="Calibri"/>
              </a:rPr>
              <a:t>i</a:t>
            </a:r>
            <a:r>
              <a:rPr sz="1600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FFFFFF"/>
                </a:solidFill>
                <a:latin typeface="Calibri"/>
                <a:cs typeface="Calibri"/>
              </a:rPr>
              <a:t>is</a:t>
            </a:r>
            <a:r>
              <a:rPr sz="1600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FFFFFF"/>
                </a:solidFill>
                <a:latin typeface="Calibri"/>
                <a:cs typeface="Calibri"/>
              </a:rPr>
              <a:t>currently",</a:t>
            </a:r>
            <a:r>
              <a:rPr sz="1600" spc="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spc="-25" dirty="0">
                <a:solidFill>
                  <a:srgbClr val="FFFFFF"/>
                </a:solidFill>
                <a:latin typeface="Calibri"/>
                <a:cs typeface="Calibri"/>
              </a:rPr>
              <a:t>i)</a:t>
            </a:r>
            <a:endParaRPr sz="16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1600" dirty="0">
                <a:solidFill>
                  <a:srgbClr val="FF0000"/>
                </a:solidFill>
                <a:latin typeface="Calibri"/>
                <a:cs typeface="Calibri"/>
              </a:rPr>
              <a:t>Warning</a:t>
            </a:r>
            <a:r>
              <a:rPr sz="1600" spc="-4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FF0000"/>
                </a:solidFill>
                <a:latin typeface="Calibri"/>
                <a:cs typeface="Calibri"/>
              </a:rPr>
              <a:t>!</a:t>
            </a:r>
            <a:r>
              <a:rPr sz="1600" spc="-3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FF0000"/>
                </a:solidFill>
                <a:latin typeface="Calibri"/>
                <a:cs typeface="Calibri"/>
              </a:rPr>
              <a:t>Donot</a:t>
            </a:r>
            <a:r>
              <a:rPr sz="1600" spc="-1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FF0000"/>
                </a:solidFill>
                <a:latin typeface="Calibri"/>
                <a:cs typeface="Calibri"/>
              </a:rPr>
              <a:t>do</a:t>
            </a:r>
            <a:r>
              <a:rPr sz="1600" spc="-3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600" spc="-20" dirty="0">
                <a:solidFill>
                  <a:srgbClr val="FF0000"/>
                </a:solidFill>
                <a:latin typeface="Calibri"/>
                <a:cs typeface="Calibri"/>
              </a:rPr>
              <a:t>this</a:t>
            </a:r>
            <a:endParaRPr sz="16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1600" dirty="0">
                <a:solidFill>
                  <a:srgbClr val="FFFFFF"/>
                </a:solidFill>
                <a:latin typeface="Calibri"/>
                <a:cs typeface="Calibri"/>
              </a:rPr>
              <a:t>for</a:t>
            </a:r>
            <a:r>
              <a:rPr sz="16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FFFFFF"/>
                </a:solidFill>
                <a:latin typeface="Calibri"/>
                <a:cs typeface="Calibri"/>
              </a:rPr>
              <a:t>i</a:t>
            </a:r>
            <a:r>
              <a:rPr sz="16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FFFFFF"/>
                </a:solidFill>
                <a:latin typeface="Calibri"/>
                <a:cs typeface="Calibri"/>
              </a:rPr>
              <a:t>in</a:t>
            </a:r>
            <a:r>
              <a:rPr sz="1600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FFFFFF"/>
                </a:solidFill>
                <a:latin typeface="Calibri"/>
                <a:cs typeface="Calibri"/>
              </a:rPr>
              <a:t>range(1,</a:t>
            </a:r>
            <a:r>
              <a:rPr sz="1600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spc="-25" dirty="0">
                <a:solidFill>
                  <a:srgbClr val="FFFFFF"/>
                </a:solidFill>
                <a:latin typeface="Calibri"/>
                <a:cs typeface="Calibri"/>
              </a:rPr>
              <a:t>1):</a:t>
            </a:r>
            <a:endParaRPr sz="1600">
              <a:latin typeface="Calibri"/>
              <a:cs typeface="Calibri"/>
            </a:endParaRPr>
          </a:p>
          <a:p>
            <a:pPr marL="196850">
              <a:lnSpc>
                <a:spcPct val="100000"/>
              </a:lnSpc>
            </a:pPr>
            <a:r>
              <a:rPr sz="1600" spc="-10" dirty="0">
                <a:solidFill>
                  <a:srgbClr val="FFFFFF"/>
                </a:solidFill>
                <a:latin typeface="Calibri"/>
                <a:cs typeface="Calibri"/>
              </a:rPr>
              <a:t>print("The</a:t>
            </a:r>
            <a:r>
              <a:rPr sz="1600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FFFFFF"/>
                </a:solidFill>
                <a:latin typeface="Calibri"/>
                <a:cs typeface="Calibri"/>
              </a:rPr>
              <a:t>value</a:t>
            </a:r>
            <a:r>
              <a:rPr sz="1600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FFFFFF"/>
                </a:solidFill>
                <a:latin typeface="Calibri"/>
                <a:cs typeface="Calibri"/>
              </a:rPr>
              <a:t>of</a:t>
            </a:r>
            <a:r>
              <a:rPr sz="1600" spc="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FFFFFF"/>
                </a:solidFill>
                <a:latin typeface="Calibri"/>
                <a:cs typeface="Calibri"/>
              </a:rPr>
              <a:t>i</a:t>
            </a:r>
            <a:r>
              <a:rPr sz="1600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FFFFFF"/>
                </a:solidFill>
                <a:latin typeface="Calibri"/>
                <a:cs typeface="Calibri"/>
              </a:rPr>
              <a:t>is</a:t>
            </a:r>
            <a:r>
              <a:rPr sz="1600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FFFFFF"/>
                </a:solidFill>
                <a:latin typeface="Calibri"/>
                <a:cs typeface="Calibri"/>
              </a:rPr>
              <a:t>currently",</a:t>
            </a:r>
            <a:r>
              <a:rPr sz="1600" spc="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spc="-25" dirty="0">
                <a:solidFill>
                  <a:srgbClr val="FFFFFF"/>
                </a:solidFill>
                <a:latin typeface="Calibri"/>
                <a:cs typeface="Calibri"/>
              </a:rPr>
              <a:t>i)</a:t>
            </a:r>
            <a:endParaRPr sz="1600">
              <a:latin typeface="Calibri"/>
              <a:cs typeface="Calibri"/>
            </a:endParaRPr>
          </a:p>
          <a:p>
            <a:pPr marL="58419">
              <a:lnSpc>
                <a:spcPct val="100000"/>
              </a:lnSpc>
            </a:pPr>
            <a:r>
              <a:rPr sz="1600" dirty="0">
                <a:solidFill>
                  <a:srgbClr val="FF0000"/>
                </a:solidFill>
                <a:latin typeface="Calibri"/>
                <a:cs typeface="Calibri"/>
              </a:rPr>
              <a:t>Or</a:t>
            </a:r>
            <a:r>
              <a:rPr sz="1600" spc="-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600" spc="-20" dirty="0">
                <a:solidFill>
                  <a:srgbClr val="FF0000"/>
                </a:solidFill>
                <a:latin typeface="Calibri"/>
                <a:cs typeface="Calibri"/>
              </a:rPr>
              <a:t>this</a:t>
            </a:r>
            <a:endParaRPr sz="16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1600" dirty="0">
                <a:solidFill>
                  <a:srgbClr val="FFFFFF"/>
                </a:solidFill>
                <a:latin typeface="Calibri"/>
                <a:cs typeface="Calibri"/>
              </a:rPr>
              <a:t>for</a:t>
            </a:r>
            <a:r>
              <a:rPr sz="16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FFFFFF"/>
                </a:solidFill>
                <a:latin typeface="Calibri"/>
                <a:cs typeface="Calibri"/>
              </a:rPr>
              <a:t>i</a:t>
            </a:r>
            <a:r>
              <a:rPr sz="16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FFFFFF"/>
                </a:solidFill>
                <a:latin typeface="Calibri"/>
                <a:cs typeface="Calibri"/>
              </a:rPr>
              <a:t>in</a:t>
            </a:r>
            <a:r>
              <a:rPr sz="1600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FFFFFF"/>
                </a:solidFill>
                <a:latin typeface="Calibri"/>
                <a:cs typeface="Calibri"/>
              </a:rPr>
              <a:t>range(2,</a:t>
            </a:r>
            <a:r>
              <a:rPr sz="1600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spc="-25" dirty="0">
                <a:solidFill>
                  <a:srgbClr val="FFFFFF"/>
                </a:solidFill>
                <a:latin typeface="Calibri"/>
                <a:cs typeface="Calibri"/>
              </a:rPr>
              <a:t>1):</a:t>
            </a:r>
            <a:endParaRPr sz="1600">
              <a:latin typeface="Calibri"/>
              <a:cs typeface="Calibri"/>
            </a:endParaRPr>
          </a:p>
          <a:p>
            <a:pPr marL="196850">
              <a:lnSpc>
                <a:spcPct val="100000"/>
              </a:lnSpc>
            </a:pPr>
            <a:r>
              <a:rPr sz="1600" spc="-10" dirty="0">
                <a:solidFill>
                  <a:srgbClr val="FFFFFF"/>
                </a:solidFill>
                <a:latin typeface="Calibri"/>
                <a:cs typeface="Calibri"/>
              </a:rPr>
              <a:t>print("The</a:t>
            </a:r>
            <a:r>
              <a:rPr sz="1600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FFFFFF"/>
                </a:solidFill>
                <a:latin typeface="Calibri"/>
                <a:cs typeface="Calibri"/>
              </a:rPr>
              <a:t>value</a:t>
            </a:r>
            <a:r>
              <a:rPr sz="1600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FFFFFF"/>
                </a:solidFill>
                <a:latin typeface="Calibri"/>
                <a:cs typeface="Calibri"/>
              </a:rPr>
              <a:t>of</a:t>
            </a:r>
            <a:r>
              <a:rPr sz="1600" spc="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FFFFFF"/>
                </a:solidFill>
                <a:latin typeface="Calibri"/>
                <a:cs typeface="Calibri"/>
              </a:rPr>
              <a:t>i</a:t>
            </a:r>
            <a:r>
              <a:rPr sz="1600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FFFFFF"/>
                </a:solidFill>
                <a:latin typeface="Calibri"/>
                <a:cs typeface="Calibri"/>
              </a:rPr>
              <a:t>is</a:t>
            </a:r>
            <a:r>
              <a:rPr sz="1600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FFFFFF"/>
                </a:solidFill>
                <a:latin typeface="Calibri"/>
                <a:cs typeface="Calibri"/>
              </a:rPr>
              <a:t>currently",</a:t>
            </a:r>
            <a:r>
              <a:rPr sz="1600" spc="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spc="-25" dirty="0">
                <a:solidFill>
                  <a:srgbClr val="FFFFFF"/>
                </a:solidFill>
                <a:latin typeface="Calibri"/>
                <a:cs typeface="Calibri"/>
              </a:rPr>
              <a:t>i)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3674364" y="4475987"/>
            <a:ext cx="4764405" cy="2382520"/>
          </a:xfrm>
          <a:custGeom>
            <a:avLst/>
            <a:gdLst/>
            <a:ahLst/>
            <a:cxnLst/>
            <a:rect l="l" t="t" r="r" b="b"/>
            <a:pathLst>
              <a:path w="4764405" h="2382520">
                <a:moveTo>
                  <a:pt x="0" y="2382012"/>
                </a:moveTo>
                <a:lnTo>
                  <a:pt x="4764024" y="2382012"/>
                </a:lnTo>
                <a:lnTo>
                  <a:pt x="4764024" y="0"/>
                </a:lnTo>
                <a:lnTo>
                  <a:pt x="0" y="0"/>
                </a:lnTo>
                <a:lnTo>
                  <a:pt x="0" y="2382012"/>
                </a:lnTo>
                <a:close/>
              </a:path>
            </a:pathLst>
          </a:custGeom>
          <a:ln w="12700">
            <a:solidFill>
              <a:srgbClr val="2E528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3752850" y="4953711"/>
            <a:ext cx="4318000" cy="13976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solidFill>
                  <a:srgbClr val="FFFFFF"/>
                </a:solidFill>
                <a:latin typeface="Calibri"/>
                <a:cs typeface="Calibri"/>
              </a:rPr>
              <a:t>Example:</a:t>
            </a:r>
            <a:endParaRPr sz="1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power</a:t>
            </a:r>
            <a:r>
              <a:rPr sz="18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=</a:t>
            </a:r>
            <a:r>
              <a:rPr sz="18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-50" dirty="0">
                <a:solidFill>
                  <a:srgbClr val="FFFFFF"/>
                </a:solidFill>
                <a:latin typeface="Calibri"/>
                <a:cs typeface="Calibri"/>
              </a:rPr>
              <a:t>1</a:t>
            </a:r>
            <a:endParaRPr sz="1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for</a:t>
            </a:r>
            <a:r>
              <a:rPr sz="18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expo</a:t>
            </a:r>
            <a:r>
              <a:rPr sz="18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in</a:t>
            </a:r>
            <a:r>
              <a:rPr sz="18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Calibri"/>
                <a:cs typeface="Calibri"/>
              </a:rPr>
              <a:t>range(16):</a:t>
            </a:r>
            <a:endParaRPr sz="1800">
              <a:latin typeface="Calibri"/>
              <a:cs typeface="Calibri"/>
            </a:endParaRPr>
          </a:p>
          <a:p>
            <a:pPr marL="220979" marR="5080">
              <a:lnSpc>
                <a:spcPct val="100000"/>
              </a:lnSpc>
            </a:pP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print("2</a:t>
            </a:r>
            <a:r>
              <a:rPr sz="18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to</a:t>
            </a:r>
            <a:r>
              <a:rPr sz="1800" spc="-6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the</a:t>
            </a:r>
            <a:r>
              <a:rPr sz="1800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power</a:t>
            </a:r>
            <a:r>
              <a:rPr sz="18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of",</a:t>
            </a:r>
            <a:r>
              <a:rPr sz="18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expo,</a:t>
            </a:r>
            <a:r>
              <a:rPr sz="18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"is",</a:t>
            </a:r>
            <a:r>
              <a:rPr sz="18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Calibri"/>
                <a:cs typeface="Calibri"/>
              </a:rPr>
              <a:t>power)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power</a:t>
            </a:r>
            <a:r>
              <a:rPr sz="18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*=</a:t>
            </a:r>
            <a:r>
              <a:rPr sz="18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-50" dirty="0">
                <a:solidFill>
                  <a:srgbClr val="FFFFFF"/>
                </a:solidFill>
                <a:latin typeface="Calibri"/>
                <a:cs typeface="Calibri"/>
              </a:rPr>
              <a:t>2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1" name="object 11"/>
          <p:cNvSpPr txBox="1">
            <a:spLocks noGrp="1"/>
          </p:cNvSpPr>
          <p:nvPr>
            <p:ph type="title"/>
          </p:nvPr>
        </p:nvSpPr>
        <p:spPr>
          <a:xfrm>
            <a:off x="6311773" y="23559"/>
            <a:ext cx="3779520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>
                <a:solidFill>
                  <a:srgbClr val="4471C4"/>
                </a:solidFill>
              </a:rPr>
              <a:t>The</a:t>
            </a:r>
            <a:r>
              <a:rPr spc="10" dirty="0">
                <a:solidFill>
                  <a:srgbClr val="4471C4"/>
                </a:solidFill>
              </a:rPr>
              <a:t> </a:t>
            </a:r>
            <a:r>
              <a:rPr spc="-10" dirty="0">
                <a:solidFill>
                  <a:srgbClr val="4471C4"/>
                </a:solidFill>
                <a:latin typeface="Courier New"/>
                <a:cs typeface="Courier New"/>
              </a:rPr>
              <a:t>break</a:t>
            </a:r>
            <a:r>
              <a:rPr spc="-685" dirty="0">
                <a:solidFill>
                  <a:srgbClr val="4471C4"/>
                </a:solidFill>
                <a:latin typeface="Courier New"/>
                <a:cs typeface="Courier New"/>
              </a:rPr>
              <a:t> </a:t>
            </a:r>
            <a:r>
              <a:rPr dirty="0">
                <a:solidFill>
                  <a:srgbClr val="4471C4"/>
                </a:solidFill>
              </a:rPr>
              <a:t>and</a:t>
            </a:r>
            <a:r>
              <a:rPr spc="10" dirty="0">
                <a:solidFill>
                  <a:srgbClr val="4471C4"/>
                </a:solidFill>
              </a:rPr>
              <a:t> </a:t>
            </a:r>
            <a:r>
              <a:rPr spc="-10" dirty="0">
                <a:solidFill>
                  <a:srgbClr val="4471C4"/>
                </a:solidFill>
                <a:latin typeface="Courier New"/>
                <a:cs typeface="Courier New"/>
              </a:rPr>
              <a:t>continue</a:t>
            </a:r>
            <a:r>
              <a:rPr spc="-665" dirty="0">
                <a:solidFill>
                  <a:srgbClr val="4471C4"/>
                </a:solidFill>
                <a:latin typeface="Courier New"/>
                <a:cs typeface="Courier New"/>
              </a:rPr>
              <a:t> </a:t>
            </a:r>
            <a:r>
              <a:rPr spc="-10" dirty="0">
                <a:solidFill>
                  <a:srgbClr val="4471C4"/>
                </a:solidFill>
              </a:rPr>
              <a:t>statements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4605972" y="378174"/>
            <a:ext cx="6929755" cy="2021205"/>
          </a:xfrm>
          <a:prstGeom prst="rect">
            <a:avLst/>
          </a:prstGeom>
          <a:solidFill>
            <a:srgbClr val="4471C4"/>
          </a:solidFill>
          <a:ln w="12700">
            <a:solidFill>
              <a:srgbClr val="2E528F"/>
            </a:solidFill>
          </a:ln>
        </p:spPr>
        <p:txBody>
          <a:bodyPr vert="horz" wrap="square" lIns="0" tIns="4699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370"/>
              </a:spcBef>
            </a:pPr>
            <a:endParaRPr sz="1800">
              <a:latin typeface="Times New Roman"/>
              <a:cs typeface="Times New Roman"/>
            </a:endParaRPr>
          </a:p>
          <a:p>
            <a:pPr marL="90805" marR="253365" algn="just">
              <a:lnSpc>
                <a:spcPct val="100000"/>
              </a:lnSpc>
            </a:pPr>
            <a:r>
              <a:rPr sz="1800" b="1" dirty="0">
                <a:solidFill>
                  <a:srgbClr val="FFFFFF"/>
                </a:solidFill>
                <a:latin typeface="Calibri"/>
                <a:cs typeface="Calibri"/>
              </a:rPr>
              <a:t>break</a:t>
            </a:r>
            <a:r>
              <a:rPr sz="1800" b="1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-</a:t>
            </a:r>
            <a:r>
              <a:rPr sz="1800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exits</a:t>
            </a:r>
            <a:r>
              <a:rPr sz="18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the</a:t>
            </a:r>
            <a:r>
              <a:rPr sz="1800" spc="-1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loop</a:t>
            </a:r>
            <a:r>
              <a:rPr sz="1800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-20" dirty="0">
                <a:solidFill>
                  <a:srgbClr val="FFFFFF"/>
                </a:solidFill>
                <a:latin typeface="Calibri"/>
                <a:cs typeface="Calibri"/>
              </a:rPr>
              <a:t>immediately,</a:t>
            </a:r>
            <a:r>
              <a:rPr sz="1800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and</a:t>
            </a:r>
            <a:r>
              <a:rPr sz="1800" spc="-10" dirty="0">
                <a:solidFill>
                  <a:srgbClr val="FFFFFF"/>
                </a:solidFill>
                <a:latin typeface="Calibri"/>
                <a:cs typeface="Calibri"/>
              </a:rPr>
              <a:t> unconditionally</a:t>
            </a:r>
            <a:r>
              <a:rPr sz="1800" spc="-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ends</a:t>
            </a:r>
            <a:r>
              <a:rPr sz="1800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the</a:t>
            </a:r>
            <a:r>
              <a:rPr sz="1800" spc="-10" dirty="0">
                <a:solidFill>
                  <a:srgbClr val="FFFFFF"/>
                </a:solidFill>
                <a:latin typeface="Calibri"/>
                <a:cs typeface="Calibri"/>
              </a:rPr>
              <a:t> loop's operation;</a:t>
            </a:r>
            <a:r>
              <a:rPr sz="1800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the</a:t>
            </a:r>
            <a:r>
              <a:rPr sz="18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Calibri"/>
                <a:cs typeface="Calibri"/>
              </a:rPr>
              <a:t>program</a:t>
            </a:r>
            <a:r>
              <a:rPr sz="18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begins</a:t>
            </a:r>
            <a:r>
              <a:rPr sz="18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to</a:t>
            </a:r>
            <a:r>
              <a:rPr sz="18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Calibri"/>
                <a:cs typeface="Calibri"/>
              </a:rPr>
              <a:t>execute</a:t>
            </a:r>
            <a:r>
              <a:rPr sz="1800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the</a:t>
            </a:r>
            <a:r>
              <a:rPr sz="18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nearest</a:t>
            </a:r>
            <a:r>
              <a:rPr sz="18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Calibri"/>
                <a:cs typeface="Calibri"/>
              </a:rPr>
              <a:t>instruction</a:t>
            </a:r>
            <a:r>
              <a:rPr sz="1800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Calibri"/>
                <a:cs typeface="Calibri"/>
              </a:rPr>
              <a:t>after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the</a:t>
            </a:r>
            <a:r>
              <a:rPr sz="18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loop's</a:t>
            </a:r>
            <a:r>
              <a:rPr sz="18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Calibri"/>
                <a:cs typeface="Calibri"/>
              </a:rPr>
              <a:t>body;</a:t>
            </a:r>
            <a:endParaRPr sz="1800">
              <a:latin typeface="Calibri"/>
              <a:cs typeface="Calibri"/>
            </a:endParaRPr>
          </a:p>
          <a:p>
            <a:pPr marL="90805" marR="194310">
              <a:lnSpc>
                <a:spcPct val="100000"/>
              </a:lnSpc>
            </a:pPr>
            <a:r>
              <a:rPr sz="1800" b="1" dirty="0">
                <a:solidFill>
                  <a:srgbClr val="FFFFFF"/>
                </a:solidFill>
                <a:latin typeface="Calibri"/>
                <a:cs typeface="Calibri"/>
              </a:rPr>
              <a:t>continue</a:t>
            </a:r>
            <a:r>
              <a:rPr sz="1800" b="1" spc="-7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-</a:t>
            </a:r>
            <a:r>
              <a:rPr sz="18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behaves</a:t>
            </a:r>
            <a:r>
              <a:rPr sz="18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as</a:t>
            </a:r>
            <a:r>
              <a:rPr sz="18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if</a:t>
            </a:r>
            <a:r>
              <a:rPr sz="18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the</a:t>
            </a:r>
            <a:r>
              <a:rPr sz="1800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Calibri"/>
                <a:cs typeface="Calibri"/>
              </a:rPr>
              <a:t>program</a:t>
            </a:r>
            <a:r>
              <a:rPr sz="18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has</a:t>
            </a:r>
            <a:r>
              <a:rPr sz="18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suddenly</a:t>
            </a:r>
            <a:r>
              <a:rPr sz="1800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reached</a:t>
            </a:r>
            <a:r>
              <a:rPr sz="1800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the</a:t>
            </a:r>
            <a:r>
              <a:rPr sz="1800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end</a:t>
            </a:r>
            <a:r>
              <a:rPr sz="18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-25" dirty="0">
                <a:solidFill>
                  <a:srgbClr val="FFFFFF"/>
                </a:solidFill>
                <a:latin typeface="Calibri"/>
                <a:cs typeface="Calibri"/>
              </a:rPr>
              <a:t>of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the</a:t>
            </a:r>
            <a:r>
              <a:rPr sz="1800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body;</a:t>
            </a:r>
            <a:r>
              <a:rPr sz="18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the</a:t>
            </a:r>
            <a:r>
              <a:rPr sz="18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next</a:t>
            </a:r>
            <a:r>
              <a:rPr sz="18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turn</a:t>
            </a:r>
            <a:r>
              <a:rPr sz="18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is</a:t>
            </a:r>
            <a:r>
              <a:rPr sz="1800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started</a:t>
            </a:r>
            <a:r>
              <a:rPr sz="18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and</a:t>
            </a:r>
            <a:r>
              <a:rPr sz="1800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the</a:t>
            </a:r>
            <a:r>
              <a:rPr sz="18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condition</a:t>
            </a:r>
            <a:r>
              <a:rPr sz="1800" spc="-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Calibri"/>
                <a:cs typeface="Calibri"/>
              </a:rPr>
              <a:t>expression</a:t>
            </a:r>
            <a:r>
              <a:rPr sz="1800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is</a:t>
            </a:r>
            <a:r>
              <a:rPr sz="18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Calibri"/>
                <a:cs typeface="Calibri"/>
              </a:rPr>
              <a:t>tested immediately.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8704833" y="2447289"/>
            <a:ext cx="3493770" cy="4417060"/>
            <a:chOff x="8704833" y="2447289"/>
            <a:chExt cx="3493770" cy="4417060"/>
          </a:xfrm>
        </p:grpSpPr>
        <p:sp>
          <p:nvSpPr>
            <p:cNvPr id="14" name="object 14"/>
            <p:cNvSpPr/>
            <p:nvPr/>
          </p:nvSpPr>
          <p:spPr>
            <a:xfrm>
              <a:off x="8711183" y="2453639"/>
              <a:ext cx="3481070" cy="4404360"/>
            </a:xfrm>
            <a:custGeom>
              <a:avLst/>
              <a:gdLst/>
              <a:ahLst/>
              <a:cxnLst/>
              <a:rect l="l" t="t" r="r" b="b"/>
              <a:pathLst>
                <a:path w="3481070" h="4404359">
                  <a:moveTo>
                    <a:pt x="3480816" y="0"/>
                  </a:moveTo>
                  <a:lnTo>
                    <a:pt x="0" y="0"/>
                  </a:lnTo>
                  <a:lnTo>
                    <a:pt x="0" y="4404360"/>
                  </a:lnTo>
                  <a:lnTo>
                    <a:pt x="3480816" y="4404360"/>
                  </a:lnTo>
                  <a:lnTo>
                    <a:pt x="3480816" y="0"/>
                  </a:lnTo>
                  <a:close/>
                </a:path>
              </a:pathLst>
            </a:custGeom>
            <a:solidFill>
              <a:srgbClr val="4471C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8711183" y="2453639"/>
              <a:ext cx="3481070" cy="4404360"/>
            </a:xfrm>
            <a:custGeom>
              <a:avLst/>
              <a:gdLst/>
              <a:ahLst/>
              <a:cxnLst/>
              <a:rect l="l" t="t" r="r" b="b"/>
              <a:pathLst>
                <a:path w="3481070" h="4404359">
                  <a:moveTo>
                    <a:pt x="0" y="4404360"/>
                  </a:moveTo>
                  <a:lnTo>
                    <a:pt x="3480816" y="4404360"/>
                  </a:lnTo>
                  <a:lnTo>
                    <a:pt x="3480816" y="0"/>
                  </a:lnTo>
                  <a:lnTo>
                    <a:pt x="0" y="0"/>
                  </a:lnTo>
                  <a:lnTo>
                    <a:pt x="0" y="4404360"/>
                  </a:lnTo>
                  <a:close/>
                </a:path>
              </a:pathLst>
            </a:custGeom>
            <a:ln w="12700">
              <a:solidFill>
                <a:srgbClr val="2E528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6" name="object 16"/>
          <p:cNvSpPr txBox="1"/>
          <p:nvPr/>
        </p:nvSpPr>
        <p:spPr>
          <a:xfrm>
            <a:off x="8790813" y="2711323"/>
            <a:ext cx="1336040" cy="2393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b="1" dirty="0">
                <a:solidFill>
                  <a:srgbClr val="FFFFFF"/>
                </a:solidFill>
                <a:latin typeface="Calibri"/>
                <a:cs typeface="Calibri"/>
              </a:rPr>
              <a:t>#</a:t>
            </a:r>
            <a:r>
              <a:rPr sz="1400" b="1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FFFFFF"/>
                </a:solidFill>
                <a:latin typeface="Calibri"/>
                <a:cs typeface="Calibri"/>
              </a:rPr>
              <a:t>break</a:t>
            </a:r>
            <a:r>
              <a:rPr sz="1400" b="1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FFFFFF"/>
                </a:solidFill>
                <a:latin typeface="Calibri"/>
                <a:cs typeface="Calibri"/>
              </a:rPr>
              <a:t>-</a:t>
            </a:r>
            <a:r>
              <a:rPr sz="1400" b="1" spc="-10" dirty="0">
                <a:solidFill>
                  <a:srgbClr val="FFFFFF"/>
                </a:solidFill>
                <a:latin typeface="Calibri"/>
                <a:cs typeface="Calibri"/>
              </a:rPr>
              <a:t> example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8790813" y="3138043"/>
            <a:ext cx="2211070" cy="13068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5"/>
              </a:spcBef>
            </a:pPr>
            <a:r>
              <a:rPr sz="1400" spc="-10" dirty="0">
                <a:solidFill>
                  <a:srgbClr val="FFFFFF"/>
                </a:solidFill>
                <a:latin typeface="Calibri"/>
                <a:cs typeface="Calibri"/>
              </a:rPr>
              <a:t>print("The </a:t>
            </a:r>
            <a:r>
              <a:rPr sz="1400" dirty="0">
                <a:solidFill>
                  <a:srgbClr val="FFFFFF"/>
                </a:solidFill>
                <a:latin typeface="Calibri"/>
                <a:cs typeface="Calibri"/>
              </a:rPr>
              <a:t>break</a:t>
            </a:r>
            <a:r>
              <a:rPr sz="14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FFFFFF"/>
                </a:solidFill>
                <a:latin typeface="Calibri"/>
                <a:cs typeface="Calibri"/>
              </a:rPr>
              <a:t>instruction:") </a:t>
            </a:r>
            <a:r>
              <a:rPr sz="1400" dirty="0">
                <a:solidFill>
                  <a:srgbClr val="FFFFFF"/>
                </a:solidFill>
                <a:latin typeface="Calibri"/>
                <a:cs typeface="Calibri"/>
              </a:rPr>
              <a:t>for</a:t>
            </a:r>
            <a:r>
              <a:rPr sz="14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FFFFFF"/>
                </a:solidFill>
                <a:latin typeface="Calibri"/>
                <a:cs typeface="Calibri"/>
              </a:rPr>
              <a:t>i</a:t>
            </a:r>
            <a:r>
              <a:rPr sz="1400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FFFFFF"/>
                </a:solidFill>
                <a:latin typeface="Calibri"/>
                <a:cs typeface="Calibri"/>
              </a:rPr>
              <a:t>in</a:t>
            </a:r>
            <a:r>
              <a:rPr sz="1400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FFFFFF"/>
                </a:solidFill>
                <a:latin typeface="Calibri"/>
                <a:cs typeface="Calibri"/>
              </a:rPr>
              <a:t>range(1,</a:t>
            </a:r>
            <a:r>
              <a:rPr sz="1400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spc="-25" dirty="0">
                <a:solidFill>
                  <a:srgbClr val="FFFFFF"/>
                </a:solidFill>
                <a:latin typeface="Calibri"/>
                <a:cs typeface="Calibri"/>
              </a:rPr>
              <a:t>6):</a:t>
            </a:r>
            <a:endParaRPr sz="1400">
              <a:latin typeface="Calibri"/>
              <a:cs typeface="Calibri"/>
            </a:endParaRPr>
          </a:p>
          <a:p>
            <a:pPr marL="329565" marR="1459230" indent="-158750">
              <a:lnSpc>
                <a:spcPct val="100000"/>
              </a:lnSpc>
            </a:pPr>
            <a:r>
              <a:rPr sz="1400" dirty="0">
                <a:solidFill>
                  <a:srgbClr val="FFFFFF"/>
                </a:solidFill>
                <a:latin typeface="Calibri"/>
                <a:cs typeface="Calibri"/>
              </a:rPr>
              <a:t>if</a:t>
            </a:r>
            <a:r>
              <a:rPr sz="1400" spc="-1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FFFFFF"/>
                </a:solidFill>
                <a:latin typeface="Calibri"/>
                <a:cs typeface="Calibri"/>
              </a:rPr>
              <a:t>i</a:t>
            </a:r>
            <a:r>
              <a:rPr sz="1400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FFFFFF"/>
                </a:solidFill>
                <a:latin typeface="Calibri"/>
                <a:cs typeface="Calibri"/>
              </a:rPr>
              <a:t>==</a:t>
            </a:r>
            <a:r>
              <a:rPr sz="1400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spc="-25" dirty="0">
                <a:solidFill>
                  <a:srgbClr val="FFFFFF"/>
                </a:solidFill>
                <a:latin typeface="Calibri"/>
                <a:cs typeface="Calibri"/>
              </a:rPr>
              <a:t>3: </a:t>
            </a:r>
            <a:r>
              <a:rPr sz="1400" spc="-10" dirty="0">
                <a:solidFill>
                  <a:srgbClr val="FFFFFF"/>
                </a:solidFill>
                <a:latin typeface="Calibri"/>
                <a:cs typeface="Calibri"/>
              </a:rPr>
              <a:t>break</a:t>
            </a:r>
            <a:endParaRPr sz="1400">
              <a:latin typeface="Calibri"/>
              <a:cs typeface="Calibri"/>
            </a:endParaRPr>
          </a:p>
          <a:p>
            <a:pPr marL="12700" marR="184785" indent="158115">
              <a:lnSpc>
                <a:spcPct val="100000"/>
              </a:lnSpc>
            </a:pPr>
            <a:r>
              <a:rPr sz="1400" spc="-10" dirty="0">
                <a:solidFill>
                  <a:srgbClr val="FFFFFF"/>
                </a:solidFill>
                <a:latin typeface="Calibri"/>
                <a:cs typeface="Calibri"/>
              </a:rPr>
              <a:t>print("Inside</a:t>
            </a:r>
            <a:r>
              <a:rPr sz="1400" spc="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FFFFFF"/>
                </a:solidFill>
                <a:latin typeface="Calibri"/>
                <a:cs typeface="Calibri"/>
              </a:rPr>
              <a:t>the</a:t>
            </a:r>
            <a:r>
              <a:rPr sz="1400" spc="-1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FFFFFF"/>
                </a:solidFill>
                <a:latin typeface="Calibri"/>
                <a:cs typeface="Calibri"/>
              </a:rPr>
              <a:t>loop.",</a:t>
            </a:r>
            <a:r>
              <a:rPr sz="1400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spc="-25" dirty="0">
                <a:solidFill>
                  <a:srgbClr val="FFFFFF"/>
                </a:solidFill>
                <a:latin typeface="Calibri"/>
                <a:cs typeface="Calibri"/>
              </a:rPr>
              <a:t>i) </a:t>
            </a:r>
            <a:r>
              <a:rPr sz="1400" spc="-10" dirty="0">
                <a:solidFill>
                  <a:srgbClr val="FFFFFF"/>
                </a:solidFill>
                <a:latin typeface="Calibri"/>
                <a:cs typeface="Calibri"/>
              </a:rPr>
              <a:t>print("Outside</a:t>
            </a:r>
            <a:r>
              <a:rPr sz="1400" spc="1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FFFFFF"/>
                </a:solidFill>
                <a:latin typeface="Calibri"/>
                <a:cs typeface="Calibri"/>
              </a:rPr>
              <a:t>the</a:t>
            </a:r>
            <a:r>
              <a:rPr sz="1400" spc="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FFFFFF"/>
                </a:solidFill>
                <a:latin typeface="Calibri"/>
                <a:cs typeface="Calibri"/>
              </a:rPr>
              <a:t>loop.")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8790813" y="4845177"/>
            <a:ext cx="1564640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dirty="0">
                <a:solidFill>
                  <a:srgbClr val="FFFFFF"/>
                </a:solidFill>
                <a:latin typeface="Calibri"/>
                <a:cs typeface="Calibri"/>
              </a:rPr>
              <a:t>#</a:t>
            </a:r>
            <a:r>
              <a:rPr sz="1400" b="1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FFFFFF"/>
                </a:solidFill>
                <a:latin typeface="Calibri"/>
                <a:cs typeface="Calibri"/>
              </a:rPr>
              <a:t>continue</a:t>
            </a:r>
            <a:r>
              <a:rPr sz="1400" b="1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FFFFFF"/>
                </a:solidFill>
                <a:latin typeface="Calibri"/>
                <a:cs typeface="Calibri"/>
              </a:rPr>
              <a:t>-</a:t>
            </a:r>
            <a:r>
              <a:rPr sz="1400" b="1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b="1" spc="-10" dirty="0">
                <a:solidFill>
                  <a:srgbClr val="FFFFFF"/>
                </a:solidFill>
                <a:latin typeface="Calibri"/>
                <a:cs typeface="Calibri"/>
              </a:rPr>
              <a:t>example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8790813" y="5272278"/>
            <a:ext cx="2600960" cy="13061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400" spc="-10" dirty="0">
                <a:solidFill>
                  <a:srgbClr val="FFFFFF"/>
                </a:solidFill>
                <a:latin typeface="Calibri"/>
                <a:cs typeface="Calibri"/>
              </a:rPr>
              <a:t>print("\nThe</a:t>
            </a:r>
            <a:r>
              <a:rPr sz="1400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FFFFFF"/>
                </a:solidFill>
                <a:latin typeface="Calibri"/>
                <a:cs typeface="Calibri"/>
              </a:rPr>
              <a:t>continue</a:t>
            </a:r>
            <a:r>
              <a:rPr sz="1400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FFFFFF"/>
                </a:solidFill>
                <a:latin typeface="Calibri"/>
                <a:cs typeface="Calibri"/>
              </a:rPr>
              <a:t>instruction:") </a:t>
            </a:r>
            <a:r>
              <a:rPr sz="1400" dirty="0">
                <a:solidFill>
                  <a:srgbClr val="FFFFFF"/>
                </a:solidFill>
                <a:latin typeface="Calibri"/>
                <a:cs typeface="Calibri"/>
              </a:rPr>
              <a:t>for</a:t>
            </a:r>
            <a:r>
              <a:rPr sz="14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FFFFFF"/>
                </a:solidFill>
                <a:latin typeface="Calibri"/>
                <a:cs typeface="Calibri"/>
              </a:rPr>
              <a:t>i</a:t>
            </a:r>
            <a:r>
              <a:rPr sz="1400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FFFFFF"/>
                </a:solidFill>
                <a:latin typeface="Calibri"/>
                <a:cs typeface="Calibri"/>
              </a:rPr>
              <a:t>in</a:t>
            </a:r>
            <a:r>
              <a:rPr sz="1400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FFFFFF"/>
                </a:solidFill>
                <a:latin typeface="Calibri"/>
                <a:cs typeface="Calibri"/>
              </a:rPr>
              <a:t>range(1,</a:t>
            </a:r>
            <a:r>
              <a:rPr sz="1400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spc="-25" dirty="0">
                <a:solidFill>
                  <a:srgbClr val="FFFFFF"/>
                </a:solidFill>
                <a:latin typeface="Calibri"/>
                <a:cs typeface="Calibri"/>
              </a:rPr>
              <a:t>6):</a:t>
            </a:r>
            <a:endParaRPr sz="1400">
              <a:latin typeface="Calibri"/>
              <a:cs typeface="Calibri"/>
            </a:endParaRPr>
          </a:p>
          <a:p>
            <a:pPr marL="329565" marR="1629410" indent="-158750">
              <a:lnSpc>
                <a:spcPct val="100000"/>
              </a:lnSpc>
            </a:pPr>
            <a:r>
              <a:rPr sz="1400" dirty="0">
                <a:solidFill>
                  <a:srgbClr val="FFFFFF"/>
                </a:solidFill>
                <a:latin typeface="Calibri"/>
                <a:cs typeface="Calibri"/>
              </a:rPr>
              <a:t>if</a:t>
            </a:r>
            <a:r>
              <a:rPr sz="1400" spc="-1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FFFFFF"/>
                </a:solidFill>
                <a:latin typeface="Calibri"/>
                <a:cs typeface="Calibri"/>
              </a:rPr>
              <a:t>i</a:t>
            </a:r>
            <a:r>
              <a:rPr sz="1400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FFFFFF"/>
                </a:solidFill>
                <a:latin typeface="Calibri"/>
                <a:cs typeface="Calibri"/>
              </a:rPr>
              <a:t>==</a:t>
            </a:r>
            <a:r>
              <a:rPr sz="1400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spc="-25" dirty="0">
                <a:solidFill>
                  <a:srgbClr val="FFFFFF"/>
                </a:solidFill>
                <a:latin typeface="Calibri"/>
                <a:cs typeface="Calibri"/>
              </a:rPr>
              <a:t>3: </a:t>
            </a:r>
            <a:r>
              <a:rPr sz="1400" spc="-20" dirty="0">
                <a:solidFill>
                  <a:srgbClr val="FFFFFF"/>
                </a:solidFill>
                <a:latin typeface="Calibri"/>
                <a:cs typeface="Calibri"/>
              </a:rPr>
              <a:t>continue</a:t>
            </a:r>
            <a:endParaRPr sz="1400">
              <a:latin typeface="Calibri"/>
              <a:cs typeface="Calibri"/>
            </a:endParaRPr>
          </a:p>
          <a:p>
            <a:pPr marL="12700" marR="575310" indent="158115">
              <a:lnSpc>
                <a:spcPct val="100000"/>
              </a:lnSpc>
            </a:pPr>
            <a:r>
              <a:rPr sz="1400" spc="-10" dirty="0">
                <a:solidFill>
                  <a:srgbClr val="FFFFFF"/>
                </a:solidFill>
                <a:latin typeface="Calibri"/>
                <a:cs typeface="Calibri"/>
              </a:rPr>
              <a:t>print("Inside</a:t>
            </a:r>
            <a:r>
              <a:rPr sz="1400" spc="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FFFFFF"/>
                </a:solidFill>
                <a:latin typeface="Calibri"/>
                <a:cs typeface="Calibri"/>
              </a:rPr>
              <a:t>the</a:t>
            </a:r>
            <a:r>
              <a:rPr sz="1400" spc="-1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FFFFFF"/>
                </a:solidFill>
                <a:latin typeface="Calibri"/>
                <a:cs typeface="Calibri"/>
              </a:rPr>
              <a:t>loop.",</a:t>
            </a:r>
            <a:r>
              <a:rPr sz="1400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spc="-25" dirty="0">
                <a:solidFill>
                  <a:srgbClr val="FFFFFF"/>
                </a:solidFill>
                <a:latin typeface="Calibri"/>
                <a:cs typeface="Calibri"/>
              </a:rPr>
              <a:t>i) </a:t>
            </a:r>
            <a:r>
              <a:rPr sz="1400" spc="-10" dirty="0">
                <a:solidFill>
                  <a:srgbClr val="FFFFFF"/>
                </a:solidFill>
                <a:latin typeface="Calibri"/>
                <a:cs typeface="Calibri"/>
              </a:rPr>
              <a:t>print("Outside</a:t>
            </a:r>
            <a:r>
              <a:rPr sz="1400" spc="1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FFFFFF"/>
                </a:solidFill>
                <a:latin typeface="Calibri"/>
                <a:cs typeface="Calibri"/>
              </a:rPr>
              <a:t>the</a:t>
            </a:r>
            <a:r>
              <a:rPr sz="1400" spc="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FFFFFF"/>
                </a:solidFill>
                <a:latin typeface="Calibri"/>
                <a:cs typeface="Calibri"/>
              </a:rPr>
              <a:t>loop.")</a:t>
            </a:r>
            <a:endParaRPr sz="1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8739" y="8635"/>
            <a:ext cx="366649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solidFill>
                  <a:srgbClr val="4471C4"/>
                </a:solidFill>
                <a:latin typeface="Calibri"/>
                <a:cs typeface="Calibri"/>
              </a:rPr>
              <a:t>The</a:t>
            </a:r>
            <a:r>
              <a:rPr sz="1800" b="1" spc="-10" dirty="0">
                <a:solidFill>
                  <a:srgbClr val="4471C4"/>
                </a:solidFill>
                <a:latin typeface="Calibri"/>
                <a:cs typeface="Calibri"/>
              </a:rPr>
              <a:t> </a:t>
            </a:r>
            <a:r>
              <a:rPr sz="1800" b="1" spc="-10" dirty="0">
                <a:solidFill>
                  <a:srgbClr val="4471C4"/>
                </a:solidFill>
                <a:latin typeface="Courier New"/>
                <a:cs typeface="Courier New"/>
              </a:rPr>
              <a:t>while</a:t>
            </a:r>
            <a:r>
              <a:rPr sz="1800" b="1" spc="-690" dirty="0">
                <a:solidFill>
                  <a:srgbClr val="4471C4"/>
                </a:solidFill>
                <a:latin typeface="Courier New"/>
                <a:cs typeface="Courier New"/>
              </a:rPr>
              <a:t> </a:t>
            </a:r>
            <a:r>
              <a:rPr sz="1800" b="1" dirty="0">
                <a:solidFill>
                  <a:srgbClr val="4471C4"/>
                </a:solidFill>
                <a:latin typeface="Calibri"/>
                <a:cs typeface="Calibri"/>
              </a:rPr>
              <a:t>loop</a:t>
            </a:r>
            <a:r>
              <a:rPr sz="1800" b="1" spc="-30" dirty="0">
                <a:solidFill>
                  <a:srgbClr val="4471C4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4471C4"/>
                </a:solidFill>
                <a:latin typeface="Calibri"/>
                <a:cs typeface="Calibri"/>
              </a:rPr>
              <a:t>and</a:t>
            </a:r>
            <a:r>
              <a:rPr sz="1800" b="1" spc="5" dirty="0">
                <a:solidFill>
                  <a:srgbClr val="4471C4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4471C4"/>
                </a:solidFill>
                <a:latin typeface="Calibri"/>
                <a:cs typeface="Calibri"/>
              </a:rPr>
              <a:t>the</a:t>
            </a:r>
            <a:r>
              <a:rPr sz="1800" b="1" spc="10" dirty="0">
                <a:solidFill>
                  <a:srgbClr val="4471C4"/>
                </a:solidFill>
                <a:latin typeface="Calibri"/>
                <a:cs typeface="Calibri"/>
              </a:rPr>
              <a:t> </a:t>
            </a:r>
            <a:r>
              <a:rPr sz="1800" b="1" spc="-10" dirty="0">
                <a:solidFill>
                  <a:srgbClr val="4471C4"/>
                </a:solidFill>
                <a:latin typeface="Courier New"/>
                <a:cs typeface="Courier New"/>
              </a:rPr>
              <a:t>else</a:t>
            </a:r>
            <a:r>
              <a:rPr sz="1800" b="1" spc="-690" dirty="0">
                <a:solidFill>
                  <a:srgbClr val="4471C4"/>
                </a:solidFill>
                <a:latin typeface="Courier New"/>
                <a:cs typeface="Courier New"/>
              </a:rPr>
              <a:t> </a:t>
            </a:r>
            <a:r>
              <a:rPr sz="1800" b="1" spc="-10" dirty="0">
                <a:solidFill>
                  <a:srgbClr val="4471C4"/>
                </a:solidFill>
                <a:latin typeface="Calibri"/>
                <a:cs typeface="Calibri"/>
              </a:rPr>
              <a:t>branch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-6350" y="443230"/>
            <a:ext cx="5226685" cy="1920875"/>
            <a:chOff x="-6350" y="443230"/>
            <a:chExt cx="5226685" cy="1920875"/>
          </a:xfrm>
        </p:grpSpPr>
        <p:sp>
          <p:nvSpPr>
            <p:cNvPr id="4" name="object 4"/>
            <p:cNvSpPr/>
            <p:nvPr/>
          </p:nvSpPr>
          <p:spPr>
            <a:xfrm>
              <a:off x="0" y="449580"/>
              <a:ext cx="5213985" cy="1908175"/>
            </a:xfrm>
            <a:custGeom>
              <a:avLst/>
              <a:gdLst/>
              <a:ahLst/>
              <a:cxnLst/>
              <a:rect l="l" t="t" r="r" b="b"/>
              <a:pathLst>
                <a:path w="5213985" h="1908175">
                  <a:moveTo>
                    <a:pt x="5213604" y="0"/>
                  </a:moveTo>
                  <a:lnTo>
                    <a:pt x="0" y="0"/>
                  </a:lnTo>
                  <a:lnTo>
                    <a:pt x="0" y="1908048"/>
                  </a:lnTo>
                  <a:lnTo>
                    <a:pt x="5213604" y="1908048"/>
                  </a:lnTo>
                  <a:lnTo>
                    <a:pt x="5213604" y="0"/>
                  </a:lnTo>
                  <a:close/>
                </a:path>
              </a:pathLst>
            </a:custGeom>
            <a:solidFill>
              <a:srgbClr val="4471C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0" y="449580"/>
              <a:ext cx="5213985" cy="1908175"/>
            </a:xfrm>
            <a:custGeom>
              <a:avLst/>
              <a:gdLst/>
              <a:ahLst/>
              <a:cxnLst/>
              <a:rect l="l" t="t" r="r" b="b"/>
              <a:pathLst>
                <a:path w="5213985" h="1908175">
                  <a:moveTo>
                    <a:pt x="0" y="1908048"/>
                  </a:moveTo>
                  <a:lnTo>
                    <a:pt x="5213604" y="1908048"/>
                  </a:lnTo>
                  <a:lnTo>
                    <a:pt x="5213604" y="0"/>
                  </a:lnTo>
                  <a:lnTo>
                    <a:pt x="0" y="0"/>
                  </a:lnTo>
                  <a:lnTo>
                    <a:pt x="0" y="1908048"/>
                  </a:lnTo>
                  <a:close/>
                </a:path>
              </a:pathLst>
            </a:custGeom>
            <a:ln w="12700">
              <a:solidFill>
                <a:srgbClr val="2E528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78739" y="552958"/>
            <a:ext cx="1599565" cy="16719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i =</a:t>
            </a:r>
            <a:r>
              <a:rPr sz="1800" spc="-1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-50" dirty="0">
                <a:solidFill>
                  <a:srgbClr val="FFFFFF"/>
                </a:solidFill>
                <a:latin typeface="Calibri"/>
                <a:cs typeface="Calibri"/>
              </a:rPr>
              <a:t>1</a:t>
            </a:r>
            <a:endParaRPr sz="1800">
              <a:latin typeface="Calibri"/>
              <a:cs typeface="Calibri"/>
            </a:endParaRPr>
          </a:p>
          <a:p>
            <a:pPr marL="220979" marR="574040" indent="-208915">
              <a:lnSpc>
                <a:spcPct val="100000"/>
              </a:lnSpc>
            </a:pP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while</a:t>
            </a:r>
            <a:r>
              <a:rPr sz="1800" spc="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i</a:t>
            </a:r>
            <a:r>
              <a:rPr sz="1800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&lt;</a:t>
            </a:r>
            <a:r>
              <a:rPr sz="1800" spc="-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-25" dirty="0">
                <a:solidFill>
                  <a:srgbClr val="FFFFFF"/>
                </a:solidFill>
                <a:latin typeface="Calibri"/>
                <a:cs typeface="Calibri"/>
              </a:rPr>
              <a:t>5: </a:t>
            </a:r>
            <a:r>
              <a:rPr sz="1800" spc="-10" dirty="0">
                <a:solidFill>
                  <a:srgbClr val="FFFFFF"/>
                </a:solidFill>
                <a:latin typeface="Calibri"/>
                <a:cs typeface="Calibri"/>
              </a:rPr>
              <a:t>print(i)</a:t>
            </a:r>
            <a:endParaRPr sz="1800">
              <a:latin typeface="Calibri"/>
              <a:cs typeface="Calibri"/>
            </a:endParaRPr>
          </a:p>
          <a:p>
            <a:pPr marL="220979">
              <a:lnSpc>
                <a:spcPct val="100000"/>
              </a:lnSpc>
            </a:pP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i</a:t>
            </a:r>
            <a:r>
              <a:rPr sz="1800" spc="-1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+=</a:t>
            </a:r>
            <a:r>
              <a:rPr sz="1800" spc="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-50" dirty="0">
                <a:solidFill>
                  <a:srgbClr val="FFFFFF"/>
                </a:solidFill>
                <a:latin typeface="Calibri"/>
                <a:cs typeface="Calibri"/>
              </a:rPr>
              <a:t>1</a:t>
            </a:r>
            <a:endParaRPr sz="1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1800" spc="-10" dirty="0">
                <a:solidFill>
                  <a:srgbClr val="FFFFFF"/>
                </a:solidFill>
                <a:latin typeface="Calibri"/>
                <a:cs typeface="Calibri"/>
              </a:rPr>
              <a:t>else:</a:t>
            </a:r>
            <a:endParaRPr sz="1800">
              <a:latin typeface="Calibri"/>
              <a:cs typeface="Calibri"/>
            </a:endParaRPr>
          </a:p>
          <a:p>
            <a:pPr marL="220979">
              <a:lnSpc>
                <a:spcPct val="100000"/>
              </a:lnSpc>
            </a:pP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print("else:",</a:t>
            </a:r>
            <a:r>
              <a:rPr sz="1800" spc="-9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-25" dirty="0">
                <a:solidFill>
                  <a:srgbClr val="FFFFFF"/>
                </a:solidFill>
                <a:latin typeface="Calibri"/>
                <a:cs typeface="Calibri"/>
              </a:rPr>
              <a:t>i)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2496057" y="507237"/>
            <a:ext cx="2692400" cy="1841500"/>
            <a:chOff x="2496057" y="507237"/>
            <a:chExt cx="2692400" cy="1841500"/>
          </a:xfrm>
        </p:grpSpPr>
        <p:sp>
          <p:nvSpPr>
            <p:cNvPr id="8" name="object 8"/>
            <p:cNvSpPr/>
            <p:nvPr/>
          </p:nvSpPr>
          <p:spPr>
            <a:xfrm>
              <a:off x="2502407" y="513587"/>
              <a:ext cx="2679700" cy="1828800"/>
            </a:xfrm>
            <a:custGeom>
              <a:avLst/>
              <a:gdLst/>
              <a:ahLst/>
              <a:cxnLst/>
              <a:rect l="l" t="t" r="r" b="b"/>
              <a:pathLst>
                <a:path w="2679700" h="1828800">
                  <a:moveTo>
                    <a:pt x="2679192" y="0"/>
                  </a:moveTo>
                  <a:lnTo>
                    <a:pt x="0" y="0"/>
                  </a:lnTo>
                  <a:lnTo>
                    <a:pt x="0" y="1828800"/>
                  </a:lnTo>
                  <a:lnTo>
                    <a:pt x="2679192" y="1828800"/>
                  </a:lnTo>
                  <a:lnTo>
                    <a:pt x="2679192" y="0"/>
                  </a:lnTo>
                  <a:close/>
                </a:path>
              </a:pathLst>
            </a:custGeom>
            <a:solidFill>
              <a:srgbClr val="6FAC4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2502407" y="513587"/>
              <a:ext cx="2679700" cy="1828800"/>
            </a:xfrm>
            <a:custGeom>
              <a:avLst/>
              <a:gdLst/>
              <a:ahLst/>
              <a:cxnLst/>
              <a:rect l="l" t="t" r="r" b="b"/>
              <a:pathLst>
                <a:path w="2679700" h="1828800">
                  <a:moveTo>
                    <a:pt x="0" y="1828800"/>
                  </a:moveTo>
                  <a:lnTo>
                    <a:pt x="2679192" y="1828800"/>
                  </a:lnTo>
                  <a:lnTo>
                    <a:pt x="2679192" y="0"/>
                  </a:lnTo>
                  <a:lnTo>
                    <a:pt x="0" y="0"/>
                  </a:lnTo>
                  <a:lnTo>
                    <a:pt x="0" y="1828800"/>
                  </a:lnTo>
                  <a:close/>
                </a:path>
              </a:pathLst>
            </a:custGeom>
            <a:ln w="12700">
              <a:solidFill>
                <a:srgbClr val="507D3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2581782" y="636524"/>
            <a:ext cx="692785" cy="15506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spc="-50" dirty="0">
                <a:solidFill>
                  <a:srgbClr val="FFFFFF"/>
                </a:solidFill>
                <a:latin typeface="Calibri"/>
                <a:cs typeface="Calibri"/>
              </a:rPr>
              <a:t>1</a:t>
            </a:r>
            <a:endParaRPr sz="20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2000" spc="-50" dirty="0">
                <a:solidFill>
                  <a:srgbClr val="FFFFFF"/>
                </a:solidFill>
                <a:latin typeface="Calibri"/>
                <a:cs typeface="Calibri"/>
              </a:rPr>
              <a:t>2</a:t>
            </a:r>
            <a:endParaRPr sz="20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2000" spc="-50" dirty="0">
                <a:solidFill>
                  <a:srgbClr val="FFFFFF"/>
                </a:solidFill>
                <a:latin typeface="Calibri"/>
                <a:cs typeface="Calibri"/>
              </a:rPr>
              <a:t>3</a:t>
            </a:r>
            <a:endParaRPr sz="20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2000" spc="-50" dirty="0">
                <a:solidFill>
                  <a:srgbClr val="FFFFFF"/>
                </a:solidFill>
                <a:latin typeface="Calibri"/>
                <a:cs typeface="Calibri"/>
              </a:rPr>
              <a:t>4</a:t>
            </a:r>
            <a:endParaRPr sz="20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else:</a:t>
            </a:r>
            <a:r>
              <a:rPr sz="20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50" dirty="0">
                <a:solidFill>
                  <a:srgbClr val="FFFFFF"/>
                </a:solidFill>
                <a:latin typeface="Calibri"/>
                <a:cs typeface="Calibri"/>
              </a:rPr>
              <a:t>5</a:t>
            </a:r>
            <a:endParaRPr sz="2000">
              <a:latin typeface="Calibri"/>
              <a:cs typeface="Calibri"/>
            </a:endParaRPr>
          </a:p>
        </p:txBody>
      </p:sp>
      <p:graphicFrame>
        <p:nvGraphicFramePr>
          <p:cNvPr id="11" name="object 11"/>
          <p:cNvGraphicFramePr>
            <a:graphicFrameLocks noGrp="1"/>
          </p:cNvGraphicFramePr>
          <p:nvPr/>
        </p:nvGraphicFramePr>
        <p:xfrm>
          <a:off x="0" y="2960877"/>
          <a:ext cx="5181600" cy="343789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50253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7906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72415"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2E528F"/>
                      </a:solidFill>
                      <a:prstDash val="solid"/>
                    </a:lnL>
                    <a:lnR w="12700">
                      <a:solidFill>
                        <a:srgbClr val="2E528F"/>
                      </a:solidFill>
                      <a:prstDash val="solid"/>
                    </a:lnR>
                    <a:lnT w="12700">
                      <a:solidFill>
                        <a:srgbClr val="2E528F"/>
                      </a:solidFill>
                      <a:prstDash val="solid"/>
                    </a:lnT>
                    <a:solidFill>
                      <a:srgbClr val="4471C4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205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489"/>
                        </a:spcBef>
                      </a:pPr>
                      <a:r>
                        <a:rPr sz="180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for</a:t>
                      </a:r>
                      <a:r>
                        <a:rPr sz="1800" spc="-2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i</a:t>
                      </a:r>
                      <a:r>
                        <a:rPr sz="1800" spc="-1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in</a:t>
                      </a:r>
                      <a:r>
                        <a:rPr sz="1800" spc="-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range(5):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62229" marB="0">
                    <a:lnL w="12700">
                      <a:solidFill>
                        <a:srgbClr val="2E528F"/>
                      </a:solidFill>
                      <a:prstDash val="solid"/>
                    </a:lnL>
                    <a:lnR w="12700">
                      <a:solidFill>
                        <a:srgbClr val="507D31"/>
                      </a:solidFill>
                      <a:prstDash val="solid"/>
                    </a:lnR>
                    <a:solidFill>
                      <a:srgbClr val="4471C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507D31"/>
                      </a:solidFill>
                      <a:prstDash val="solid"/>
                    </a:lnL>
                    <a:lnR w="12700">
                      <a:solidFill>
                        <a:srgbClr val="507D31"/>
                      </a:solidFill>
                      <a:prstDash val="solid"/>
                    </a:lnR>
                    <a:lnT w="12700">
                      <a:solidFill>
                        <a:srgbClr val="507D31"/>
                      </a:solidFill>
                      <a:prstDash val="solid"/>
                    </a:lnT>
                    <a:solidFill>
                      <a:srgbClr val="6FAC4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3685">
                <a:tc>
                  <a:txBody>
                    <a:bodyPr/>
                    <a:lstStyle/>
                    <a:p>
                      <a:pPr marL="299720">
                        <a:lnSpc>
                          <a:spcPts val="1889"/>
                        </a:lnSpc>
                      </a:pPr>
                      <a:r>
                        <a:rPr sz="1800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print(i)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2700">
                      <a:solidFill>
                        <a:srgbClr val="2E528F"/>
                      </a:solidFill>
                      <a:prstDash val="solid"/>
                    </a:lnL>
                    <a:lnR w="12700">
                      <a:solidFill>
                        <a:srgbClr val="507D31"/>
                      </a:solidFill>
                      <a:prstDash val="solid"/>
                    </a:lnR>
                    <a:solidFill>
                      <a:srgbClr val="4471C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507D31"/>
                      </a:solidFill>
                      <a:prstDash val="solid"/>
                    </a:lnL>
                    <a:lnR w="12700">
                      <a:solidFill>
                        <a:srgbClr val="507D31"/>
                      </a:solidFill>
                      <a:prstDash val="solid"/>
                    </a:lnR>
                    <a:solidFill>
                      <a:srgbClr val="6FAC4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91440">
                        <a:lnSpc>
                          <a:spcPts val="1895"/>
                        </a:lnSpc>
                      </a:pPr>
                      <a:r>
                        <a:rPr sz="1800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else: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2700">
                      <a:solidFill>
                        <a:srgbClr val="2E528F"/>
                      </a:solidFill>
                      <a:prstDash val="solid"/>
                    </a:lnL>
                    <a:lnR w="12700">
                      <a:solidFill>
                        <a:srgbClr val="507D31"/>
                      </a:solidFill>
                      <a:prstDash val="solid"/>
                    </a:lnR>
                    <a:solidFill>
                      <a:srgbClr val="4471C4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ts val="1885"/>
                        </a:lnSpc>
                      </a:pPr>
                      <a:r>
                        <a:rPr sz="1800" spc="-5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0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2700">
                      <a:solidFill>
                        <a:srgbClr val="507D31"/>
                      </a:solidFill>
                      <a:prstDash val="solid"/>
                    </a:lnL>
                    <a:lnR w="12700">
                      <a:solidFill>
                        <a:srgbClr val="507D31"/>
                      </a:solidFill>
                      <a:prstDash val="solid"/>
                    </a:lnR>
                    <a:solidFill>
                      <a:srgbClr val="6FAC4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299720">
                        <a:lnSpc>
                          <a:spcPts val="1895"/>
                        </a:lnSpc>
                      </a:pPr>
                      <a:r>
                        <a:rPr sz="180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print("else:",</a:t>
                      </a:r>
                      <a:r>
                        <a:rPr sz="1800" spc="-7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2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i)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2700">
                      <a:solidFill>
                        <a:srgbClr val="2E528F"/>
                      </a:solidFill>
                      <a:prstDash val="solid"/>
                    </a:lnL>
                    <a:lnR w="12700">
                      <a:solidFill>
                        <a:srgbClr val="507D31"/>
                      </a:solidFill>
                      <a:prstDash val="solid"/>
                    </a:lnR>
                    <a:solidFill>
                      <a:srgbClr val="4471C4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ts val="1889"/>
                        </a:lnSpc>
                      </a:pPr>
                      <a:r>
                        <a:rPr sz="1800" spc="-5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1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2700">
                      <a:solidFill>
                        <a:srgbClr val="507D31"/>
                      </a:solidFill>
                      <a:prstDash val="solid"/>
                    </a:lnL>
                    <a:lnR w="12700">
                      <a:solidFill>
                        <a:srgbClr val="507D31"/>
                      </a:solidFill>
                      <a:prstDash val="solid"/>
                    </a:lnR>
                    <a:solidFill>
                      <a:srgbClr val="6FAC4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368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2E528F"/>
                      </a:solidFill>
                      <a:prstDash val="solid"/>
                    </a:lnL>
                    <a:lnR w="12700">
                      <a:solidFill>
                        <a:srgbClr val="507D31"/>
                      </a:solidFill>
                      <a:prstDash val="solid"/>
                    </a:lnR>
                    <a:solidFill>
                      <a:srgbClr val="4471C4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ts val="1885"/>
                        </a:lnSpc>
                      </a:pPr>
                      <a:r>
                        <a:rPr sz="1800" spc="-5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2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2700">
                      <a:solidFill>
                        <a:srgbClr val="507D31"/>
                      </a:solidFill>
                      <a:prstDash val="solid"/>
                    </a:lnL>
                    <a:lnR w="12700">
                      <a:solidFill>
                        <a:srgbClr val="507D31"/>
                      </a:solidFill>
                      <a:prstDash val="solid"/>
                    </a:lnR>
                    <a:solidFill>
                      <a:srgbClr val="6FAC4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91440">
                        <a:lnSpc>
                          <a:spcPts val="1895"/>
                        </a:lnSpc>
                      </a:pPr>
                      <a:r>
                        <a:rPr sz="180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i =</a:t>
                      </a:r>
                      <a:r>
                        <a:rPr sz="1800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2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111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2700">
                      <a:solidFill>
                        <a:srgbClr val="2E528F"/>
                      </a:solidFill>
                      <a:prstDash val="solid"/>
                    </a:lnL>
                    <a:lnR w="12700">
                      <a:solidFill>
                        <a:srgbClr val="507D31"/>
                      </a:solidFill>
                      <a:prstDash val="solid"/>
                    </a:lnR>
                    <a:solidFill>
                      <a:srgbClr val="4471C4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ts val="1889"/>
                        </a:lnSpc>
                      </a:pPr>
                      <a:r>
                        <a:rPr sz="1800" spc="-5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3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2700">
                      <a:solidFill>
                        <a:srgbClr val="507D31"/>
                      </a:solidFill>
                      <a:prstDash val="solid"/>
                    </a:lnL>
                    <a:lnR w="12700">
                      <a:solidFill>
                        <a:srgbClr val="507D31"/>
                      </a:solidFill>
                      <a:prstDash val="solid"/>
                    </a:lnR>
                    <a:solidFill>
                      <a:srgbClr val="6FAC4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73685">
                <a:tc>
                  <a:txBody>
                    <a:bodyPr/>
                    <a:lstStyle/>
                    <a:p>
                      <a:pPr marL="91440">
                        <a:lnSpc>
                          <a:spcPts val="1895"/>
                        </a:lnSpc>
                      </a:pPr>
                      <a:r>
                        <a:rPr sz="180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for</a:t>
                      </a:r>
                      <a:r>
                        <a:rPr sz="1800" spc="-4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i</a:t>
                      </a:r>
                      <a:r>
                        <a:rPr sz="1800" spc="-3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in</a:t>
                      </a:r>
                      <a:r>
                        <a:rPr sz="1800" spc="-3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range(2,</a:t>
                      </a:r>
                      <a:r>
                        <a:rPr sz="1800" spc="-3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2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1):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2700">
                      <a:solidFill>
                        <a:srgbClr val="2E528F"/>
                      </a:solidFill>
                      <a:prstDash val="solid"/>
                    </a:lnL>
                    <a:lnR w="12700">
                      <a:solidFill>
                        <a:srgbClr val="507D31"/>
                      </a:solidFill>
                      <a:prstDash val="solid"/>
                    </a:lnR>
                    <a:solidFill>
                      <a:srgbClr val="4471C4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ts val="1885"/>
                        </a:lnSpc>
                      </a:pPr>
                      <a:r>
                        <a:rPr sz="1800" spc="-5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4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2700">
                      <a:solidFill>
                        <a:srgbClr val="507D31"/>
                      </a:solidFill>
                      <a:prstDash val="solid"/>
                    </a:lnL>
                    <a:lnR w="12700">
                      <a:solidFill>
                        <a:srgbClr val="507D31"/>
                      </a:solidFill>
                      <a:prstDash val="solid"/>
                    </a:lnR>
                    <a:solidFill>
                      <a:srgbClr val="6FAC4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299720">
                        <a:lnSpc>
                          <a:spcPts val="1895"/>
                        </a:lnSpc>
                      </a:pPr>
                      <a:r>
                        <a:rPr sz="1800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print(i)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2700">
                      <a:solidFill>
                        <a:srgbClr val="2E528F"/>
                      </a:solidFill>
                      <a:prstDash val="solid"/>
                    </a:lnL>
                    <a:lnR w="12700">
                      <a:solidFill>
                        <a:srgbClr val="507D31"/>
                      </a:solidFill>
                      <a:prstDash val="solid"/>
                    </a:lnR>
                    <a:solidFill>
                      <a:srgbClr val="4471C4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ts val="1885"/>
                        </a:lnSpc>
                      </a:pPr>
                      <a:r>
                        <a:rPr sz="180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else:</a:t>
                      </a:r>
                      <a:r>
                        <a:rPr sz="1800" spc="-2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5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4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2700">
                      <a:solidFill>
                        <a:srgbClr val="507D31"/>
                      </a:solidFill>
                      <a:prstDash val="solid"/>
                    </a:lnL>
                    <a:lnR w="12700">
                      <a:solidFill>
                        <a:srgbClr val="507D31"/>
                      </a:solidFill>
                      <a:prstDash val="solid"/>
                    </a:lnR>
                    <a:solidFill>
                      <a:srgbClr val="6FAC4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91440">
                        <a:lnSpc>
                          <a:spcPts val="1889"/>
                        </a:lnSpc>
                      </a:pPr>
                      <a:r>
                        <a:rPr sz="1800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else: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2700">
                      <a:solidFill>
                        <a:srgbClr val="2E528F"/>
                      </a:solidFill>
                      <a:prstDash val="solid"/>
                    </a:lnL>
                    <a:lnR w="12700">
                      <a:solidFill>
                        <a:srgbClr val="507D31"/>
                      </a:solidFill>
                      <a:prstDash val="solid"/>
                    </a:lnR>
                    <a:solidFill>
                      <a:srgbClr val="4471C4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ts val="1889"/>
                        </a:lnSpc>
                      </a:pPr>
                      <a:r>
                        <a:rPr sz="180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else:</a:t>
                      </a:r>
                      <a:r>
                        <a:rPr sz="1800" spc="-3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2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111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2700">
                      <a:solidFill>
                        <a:srgbClr val="507D31"/>
                      </a:solidFill>
                      <a:prstDash val="solid"/>
                    </a:lnL>
                    <a:lnR w="12700">
                      <a:solidFill>
                        <a:srgbClr val="507D31"/>
                      </a:solidFill>
                      <a:prstDash val="solid"/>
                    </a:lnR>
                    <a:solidFill>
                      <a:srgbClr val="6FAC4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602615">
                <a:tc>
                  <a:txBody>
                    <a:bodyPr/>
                    <a:lstStyle/>
                    <a:p>
                      <a:pPr marL="299720">
                        <a:lnSpc>
                          <a:spcPts val="1889"/>
                        </a:lnSpc>
                      </a:pPr>
                      <a:r>
                        <a:rPr sz="180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print("else:",</a:t>
                      </a:r>
                      <a:r>
                        <a:rPr sz="1800" spc="-7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2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i)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2700">
                      <a:solidFill>
                        <a:srgbClr val="2E528F"/>
                      </a:solidFill>
                      <a:prstDash val="solid"/>
                    </a:lnL>
                    <a:lnR w="12700">
                      <a:solidFill>
                        <a:srgbClr val="507D31"/>
                      </a:solidFill>
                      <a:prstDash val="solid"/>
                    </a:lnR>
                    <a:lnB w="12700">
                      <a:solidFill>
                        <a:srgbClr val="2E528F"/>
                      </a:solidFill>
                      <a:prstDash val="solid"/>
                    </a:lnB>
                    <a:solidFill>
                      <a:srgbClr val="4471C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507D31"/>
                      </a:solidFill>
                      <a:prstDash val="solid"/>
                    </a:lnL>
                    <a:lnR w="12700">
                      <a:solidFill>
                        <a:srgbClr val="507D31"/>
                      </a:solidFill>
                      <a:prstDash val="solid"/>
                    </a:lnR>
                    <a:lnB w="12700">
                      <a:solidFill>
                        <a:srgbClr val="507D31"/>
                      </a:solidFill>
                      <a:prstDash val="solid"/>
                    </a:lnB>
                    <a:solidFill>
                      <a:srgbClr val="6FAC4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12" name="object 12"/>
          <p:cNvSpPr txBox="1"/>
          <p:nvPr/>
        </p:nvSpPr>
        <p:spPr>
          <a:xfrm>
            <a:off x="8032750" y="17780"/>
            <a:ext cx="14605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solidFill>
                  <a:srgbClr val="4471C4"/>
                </a:solidFill>
                <a:latin typeface="Calibri"/>
                <a:cs typeface="Calibri"/>
              </a:rPr>
              <a:t>Computer</a:t>
            </a:r>
            <a:r>
              <a:rPr sz="1800" b="1" spc="-75" dirty="0">
                <a:solidFill>
                  <a:srgbClr val="4471C4"/>
                </a:solidFill>
                <a:latin typeface="Calibri"/>
                <a:cs typeface="Calibri"/>
              </a:rPr>
              <a:t> </a:t>
            </a:r>
            <a:r>
              <a:rPr sz="1800" b="1" spc="-10" dirty="0">
                <a:solidFill>
                  <a:srgbClr val="4471C4"/>
                </a:solidFill>
                <a:latin typeface="Calibri"/>
                <a:cs typeface="Calibri"/>
              </a:rPr>
              <a:t>logic</a:t>
            </a:r>
            <a:endParaRPr sz="1800">
              <a:latin typeface="Calibri"/>
              <a:cs typeface="Calibri"/>
            </a:endParaRPr>
          </a:p>
        </p:txBody>
      </p:sp>
      <p:graphicFrame>
        <p:nvGraphicFramePr>
          <p:cNvPr id="13" name="object 13"/>
          <p:cNvGraphicFramePr>
            <a:graphicFrameLocks noGrp="1"/>
          </p:cNvGraphicFramePr>
          <p:nvPr/>
        </p:nvGraphicFramePr>
        <p:xfrm>
          <a:off x="6502272" y="521080"/>
          <a:ext cx="4835525" cy="168973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5544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2628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547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96545">
                <a:tc>
                  <a:txBody>
                    <a:bodyPr/>
                    <a:lstStyle/>
                    <a:p>
                      <a:pPr marR="371475" algn="ctr">
                        <a:lnSpc>
                          <a:spcPts val="1710"/>
                        </a:lnSpc>
                      </a:pPr>
                      <a:r>
                        <a:rPr sz="1800" spc="-10" dirty="0">
                          <a:latin typeface="Calibri"/>
                          <a:cs typeface="Calibri"/>
                        </a:rPr>
                        <a:t>Argument</a:t>
                      </a:r>
                      <a:r>
                        <a:rPr sz="18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50" dirty="0">
                          <a:latin typeface="Calibri"/>
                          <a:cs typeface="Calibri"/>
                        </a:rPr>
                        <a:t>A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92710" algn="ctr">
                        <a:lnSpc>
                          <a:spcPts val="1710"/>
                        </a:lnSpc>
                      </a:pPr>
                      <a:r>
                        <a:rPr sz="1800" spc="-10" dirty="0">
                          <a:latin typeface="Calibri"/>
                          <a:cs typeface="Calibri"/>
                        </a:rPr>
                        <a:t>Argument</a:t>
                      </a:r>
                      <a:r>
                        <a:rPr sz="18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50" dirty="0">
                          <a:latin typeface="Calibri"/>
                          <a:cs typeface="Calibri"/>
                        </a:rPr>
                        <a:t>B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479425" algn="ctr">
                        <a:lnSpc>
                          <a:spcPts val="1710"/>
                        </a:lnSpc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A</a:t>
                      </a:r>
                      <a:r>
                        <a:rPr sz="180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and</a:t>
                      </a:r>
                      <a:r>
                        <a:rPr sz="1800" spc="-10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50" dirty="0">
                          <a:latin typeface="Calibri"/>
                          <a:cs typeface="Calibri"/>
                        </a:rPr>
                        <a:t>B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R="372110" algn="ctr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1800" spc="-10" dirty="0">
                          <a:latin typeface="Calibri"/>
                          <a:cs typeface="Calibri"/>
                        </a:rPr>
                        <a:t>False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11430" marB="0"/>
                </a:tc>
                <a:tc>
                  <a:txBody>
                    <a:bodyPr/>
                    <a:lstStyle/>
                    <a:p>
                      <a:pPr marR="92075" algn="ctr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1800" spc="-10" dirty="0">
                          <a:latin typeface="Calibri"/>
                          <a:cs typeface="Calibri"/>
                        </a:rPr>
                        <a:t>False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11430" marB="0"/>
                </a:tc>
                <a:tc>
                  <a:txBody>
                    <a:bodyPr/>
                    <a:lstStyle/>
                    <a:p>
                      <a:pPr marL="479425" algn="ctr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1800" spc="-10" dirty="0">
                          <a:latin typeface="Calibri"/>
                          <a:cs typeface="Calibri"/>
                        </a:rPr>
                        <a:t>False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1143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125">
                <a:tc>
                  <a:txBody>
                    <a:bodyPr/>
                    <a:lstStyle/>
                    <a:p>
                      <a:pPr marR="372110" algn="ctr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1800" spc="-10" dirty="0">
                          <a:latin typeface="Calibri"/>
                          <a:cs typeface="Calibri"/>
                        </a:rPr>
                        <a:t>False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11430" marB="0"/>
                </a:tc>
                <a:tc>
                  <a:txBody>
                    <a:bodyPr/>
                    <a:lstStyle/>
                    <a:p>
                      <a:pPr marR="90170" algn="ctr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1800" spc="-20" dirty="0">
                          <a:latin typeface="Calibri"/>
                          <a:cs typeface="Calibri"/>
                        </a:rPr>
                        <a:t>True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11430" marB="0"/>
                </a:tc>
                <a:tc>
                  <a:txBody>
                    <a:bodyPr/>
                    <a:lstStyle/>
                    <a:p>
                      <a:pPr marL="479425" algn="ctr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1800" spc="-10" dirty="0">
                          <a:latin typeface="Calibri"/>
                          <a:cs typeface="Calibri"/>
                        </a:rPr>
                        <a:t>False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1143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125">
                <a:tc>
                  <a:txBody>
                    <a:bodyPr/>
                    <a:lstStyle/>
                    <a:p>
                      <a:pPr marR="370205" algn="ctr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1800" spc="-20" dirty="0">
                          <a:latin typeface="Calibri"/>
                          <a:cs typeface="Calibri"/>
                        </a:rPr>
                        <a:t>True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11430" marB="0"/>
                </a:tc>
                <a:tc>
                  <a:txBody>
                    <a:bodyPr/>
                    <a:lstStyle/>
                    <a:p>
                      <a:pPr marR="92075" algn="ctr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1800" spc="-10" dirty="0">
                          <a:latin typeface="Calibri"/>
                          <a:cs typeface="Calibri"/>
                        </a:rPr>
                        <a:t>False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11430" marB="0"/>
                </a:tc>
                <a:tc>
                  <a:txBody>
                    <a:bodyPr/>
                    <a:lstStyle/>
                    <a:p>
                      <a:pPr marL="479425" algn="ctr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1800" spc="-10" dirty="0">
                          <a:latin typeface="Calibri"/>
                          <a:cs typeface="Calibri"/>
                        </a:rPr>
                        <a:t>False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1143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7180">
                <a:tc>
                  <a:txBody>
                    <a:bodyPr/>
                    <a:lstStyle/>
                    <a:p>
                      <a:pPr marR="370205" algn="ctr">
                        <a:lnSpc>
                          <a:spcPts val="2150"/>
                        </a:lnSpc>
                        <a:spcBef>
                          <a:spcPts val="90"/>
                        </a:spcBef>
                      </a:pPr>
                      <a:r>
                        <a:rPr sz="1800" spc="-20" dirty="0">
                          <a:latin typeface="Calibri"/>
                          <a:cs typeface="Calibri"/>
                        </a:rPr>
                        <a:t>True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11430" marB="0"/>
                </a:tc>
                <a:tc>
                  <a:txBody>
                    <a:bodyPr/>
                    <a:lstStyle/>
                    <a:p>
                      <a:pPr marR="89535" algn="ctr">
                        <a:lnSpc>
                          <a:spcPts val="2150"/>
                        </a:lnSpc>
                        <a:spcBef>
                          <a:spcPts val="90"/>
                        </a:spcBef>
                      </a:pPr>
                      <a:r>
                        <a:rPr sz="1800" spc="-20" dirty="0">
                          <a:latin typeface="Calibri"/>
                          <a:cs typeface="Calibri"/>
                        </a:rPr>
                        <a:t>True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11430" marB="0"/>
                </a:tc>
                <a:tc>
                  <a:txBody>
                    <a:bodyPr/>
                    <a:lstStyle/>
                    <a:p>
                      <a:pPr marL="481965" algn="ctr">
                        <a:lnSpc>
                          <a:spcPts val="2150"/>
                        </a:lnSpc>
                        <a:spcBef>
                          <a:spcPts val="90"/>
                        </a:spcBef>
                      </a:pPr>
                      <a:r>
                        <a:rPr sz="1800" spc="-20" dirty="0">
                          <a:latin typeface="Calibri"/>
                          <a:cs typeface="Calibri"/>
                        </a:rPr>
                        <a:t>True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11430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14" name="object 14"/>
          <p:cNvGraphicFramePr>
            <a:graphicFrameLocks noGrp="1"/>
          </p:cNvGraphicFramePr>
          <p:nvPr/>
        </p:nvGraphicFramePr>
        <p:xfrm>
          <a:off x="6168135" y="2947923"/>
          <a:ext cx="5428614" cy="169100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72148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9839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0873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96545">
                <a:tc>
                  <a:txBody>
                    <a:bodyPr/>
                    <a:lstStyle/>
                    <a:p>
                      <a:pPr marR="538480" algn="ctr">
                        <a:lnSpc>
                          <a:spcPts val="1710"/>
                        </a:lnSpc>
                      </a:pPr>
                      <a:r>
                        <a:rPr sz="1800" spc="-10" dirty="0">
                          <a:latin typeface="Calibri"/>
                          <a:cs typeface="Calibri"/>
                        </a:rPr>
                        <a:t>Argument</a:t>
                      </a:r>
                      <a:r>
                        <a:rPr sz="18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50" dirty="0">
                          <a:latin typeface="Calibri"/>
                          <a:cs typeface="Calibri"/>
                        </a:rPr>
                        <a:t>A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130810" algn="ctr">
                        <a:lnSpc>
                          <a:spcPts val="1710"/>
                        </a:lnSpc>
                      </a:pPr>
                      <a:r>
                        <a:rPr sz="1800" spc="-10" dirty="0">
                          <a:latin typeface="Calibri"/>
                          <a:cs typeface="Calibri"/>
                        </a:rPr>
                        <a:t>Argument</a:t>
                      </a:r>
                      <a:r>
                        <a:rPr sz="18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50" dirty="0">
                          <a:latin typeface="Calibri"/>
                          <a:cs typeface="Calibri"/>
                        </a:rPr>
                        <a:t>B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84530" algn="ctr">
                        <a:lnSpc>
                          <a:spcPts val="1710"/>
                        </a:lnSpc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A </a:t>
                      </a:r>
                      <a:r>
                        <a:rPr sz="1800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or</a:t>
                      </a:r>
                      <a:r>
                        <a:rPr sz="1800" spc="-5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50" dirty="0">
                          <a:latin typeface="Calibri"/>
                          <a:cs typeface="Calibri"/>
                        </a:rPr>
                        <a:t>B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R="539115" algn="ctr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1800" spc="-10" dirty="0">
                          <a:latin typeface="Calibri"/>
                          <a:cs typeface="Calibri"/>
                        </a:rPr>
                        <a:t>False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11430" marB="0"/>
                </a:tc>
                <a:tc>
                  <a:txBody>
                    <a:bodyPr/>
                    <a:lstStyle/>
                    <a:p>
                      <a:pPr marR="130175" algn="ctr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1800" spc="-10" dirty="0">
                          <a:latin typeface="Calibri"/>
                          <a:cs typeface="Calibri"/>
                        </a:rPr>
                        <a:t>False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11430" marB="0"/>
                </a:tc>
                <a:tc>
                  <a:txBody>
                    <a:bodyPr/>
                    <a:lstStyle/>
                    <a:p>
                      <a:pPr marL="683895" algn="ctr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1800" spc="-10" dirty="0">
                          <a:latin typeface="Calibri"/>
                          <a:cs typeface="Calibri"/>
                        </a:rPr>
                        <a:t>False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1143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R="539115" algn="ctr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1800" spc="-10" dirty="0">
                          <a:latin typeface="Calibri"/>
                          <a:cs typeface="Calibri"/>
                        </a:rPr>
                        <a:t>False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11430" marB="0"/>
                </a:tc>
                <a:tc>
                  <a:txBody>
                    <a:bodyPr/>
                    <a:lstStyle/>
                    <a:p>
                      <a:pPr marR="128270" algn="ctr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1800" spc="-20" dirty="0">
                          <a:latin typeface="Calibri"/>
                          <a:cs typeface="Calibri"/>
                        </a:rPr>
                        <a:t>True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11430" marB="0"/>
                </a:tc>
                <a:tc>
                  <a:txBody>
                    <a:bodyPr/>
                    <a:lstStyle/>
                    <a:p>
                      <a:pPr marL="685165" algn="ctr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1800" spc="-20" dirty="0">
                          <a:latin typeface="Calibri"/>
                          <a:cs typeface="Calibri"/>
                        </a:rPr>
                        <a:t>True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1143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R="537210" algn="ctr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1800" spc="-20" dirty="0">
                          <a:latin typeface="Calibri"/>
                          <a:cs typeface="Calibri"/>
                        </a:rPr>
                        <a:t>True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11430" marB="0"/>
                </a:tc>
                <a:tc>
                  <a:txBody>
                    <a:bodyPr/>
                    <a:lstStyle/>
                    <a:p>
                      <a:pPr marR="130175" algn="ctr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1800" spc="-10" dirty="0">
                          <a:latin typeface="Calibri"/>
                          <a:cs typeface="Calibri"/>
                        </a:rPr>
                        <a:t>False</a:t>
                      </a:r>
                      <a:endParaRPr sz="1800" dirty="0">
                        <a:latin typeface="Calibri"/>
                        <a:cs typeface="Calibri"/>
                      </a:endParaRPr>
                    </a:p>
                  </a:txBody>
                  <a:tcPr marL="0" marR="0" marT="11430" marB="0"/>
                </a:tc>
                <a:tc>
                  <a:txBody>
                    <a:bodyPr/>
                    <a:lstStyle/>
                    <a:p>
                      <a:pPr marL="685165" algn="ctr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1800" spc="-20" dirty="0">
                          <a:latin typeface="Calibri"/>
                          <a:cs typeface="Calibri"/>
                        </a:rPr>
                        <a:t>True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1143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7180">
                <a:tc>
                  <a:txBody>
                    <a:bodyPr/>
                    <a:lstStyle/>
                    <a:p>
                      <a:pPr marR="537210" algn="ctr">
                        <a:lnSpc>
                          <a:spcPts val="2150"/>
                        </a:lnSpc>
                        <a:spcBef>
                          <a:spcPts val="90"/>
                        </a:spcBef>
                      </a:pPr>
                      <a:r>
                        <a:rPr sz="1800" spc="-20" dirty="0">
                          <a:latin typeface="Calibri"/>
                          <a:cs typeface="Calibri"/>
                        </a:rPr>
                        <a:t>True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11430" marB="0"/>
                </a:tc>
                <a:tc>
                  <a:txBody>
                    <a:bodyPr/>
                    <a:lstStyle/>
                    <a:p>
                      <a:pPr marR="128270" algn="ctr">
                        <a:lnSpc>
                          <a:spcPts val="2150"/>
                        </a:lnSpc>
                        <a:spcBef>
                          <a:spcPts val="90"/>
                        </a:spcBef>
                      </a:pPr>
                      <a:r>
                        <a:rPr sz="1800" spc="-20" dirty="0">
                          <a:latin typeface="Calibri"/>
                          <a:cs typeface="Calibri"/>
                        </a:rPr>
                        <a:t>True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11430" marB="0"/>
                </a:tc>
                <a:tc>
                  <a:txBody>
                    <a:bodyPr/>
                    <a:lstStyle/>
                    <a:p>
                      <a:pPr marL="685165" algn="ctr">
                        <a:lnSpc>
                          <a:spcPts val="2150"/>
                        </a:lnSpc>
                        <a:spcBef>
                          <a:spcPts val="90"/>
                        </a:spcBef>
                      </a:pPr>
                      <a:r>
                        <a:rPr sz="1800" spc="-20" dirty="0">
                          <a:latin typeface="Calibri"/>
                          <a:cs typeface="Calibri"/>
                        </a:rPr>
                        <a:t>True</a:t>
                      </a:r>
                      <a:endParaRPr sz="1800" dirty="0">
                        <a:latin typeface="Calibri"/>
                        <a:cs typeface="Calibri"/>
                      </a:endParaRPr>
                    </a:p>
                  </a:txBody>
                  <a:tcPr marL="0" marR="0" marT="11430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15" name="object 15"/>
          <p:cNvGraphicFramePr>
            <a:graphicFrameLocks noGrp="1"/>
          </p:cNvGraphicFramePr>
          <p:nvPr/>
        </p:nvGraphicFramePr>
        <p:xfrm>
          <a:off x="7195693" y="5476189"/>
          <a:ext cx="3994783" cy="96012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81228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8249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97180">
                <a:tc>
                  <a:txBody>
                    <a:bodyPr/>
                    <a:lstStyle/>
                    <a:p>
                      <a:pPr marR="810895" algn="ctr">
                        <a:lnSpc>
                          <a:spcPts val="1710"/>
                        </a:lnSpc>
                      </a:pPr>
                      <a:r>
                        <a:rPr sz="1800" spc="-10" dirty="0">
                          <a:latin typeface="Calibri"/>
                          <a:cs typeface="Calibri"/>
                        </a:rPr>
                        <a:t>Argument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818515" algn="ctr">
                        <a:lnSpc>
                          <a:spcPts val="1710"/>
                        </a:lnSpc>
                      </a:pPr>
                      <a:r>
                        <a:rPr sz="1800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not</a:t>
                      </a:r>
                      <a:r>
                        <a:rPr sz="1800" spc="-15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Argument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R="810260" algn="ctr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1800" spc="-10" dirty="0">
                          <a:latin typeface="Calibri"/>
                          <a:cs typeface="Calibri"/>
                        </a:rPr>
                        <a:t>False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11430" marB="0"/>
                </a:tc>
                <a:tc>
                  <a:txBody>
                    <a:bodyPr/>
                    <a:lstStyle/>
                    <a:p>
                      <a:pPr marL="817244" algn="ctr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1800" spc="-20" dirty="0">
                          <a:latin typeface="Calibri"/>
                          <a:cs typeface="Calibri"/>
                        </a:rPr>
                        <a:t>True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1143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7180">
                <a:tc>
                  <a:txBody>
                    <a:bodyPr/>
                    <a:lstStyle/>
                    <a:p>
                      <a:pPr marR="811530" algn="ctr">
                        <a:lnSpc>
                          <a:spcPts val="2150"/>
                        </a:lnSpc>
                        <a:spcBef>
                          <a:spcPts val="90"/>
                        </a:spcBef>
                      </a:pPr>
                      <a:r>
                        <a:rPr sz="1800" spc="-20" dirty="0">
                          <a:latin typeface="Calibri"/>
                          <a:cs typeface="Calibri"/>
                        </a:rPr>
                        <a:t>True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11430" marB="0"/>
                </a:tc>
                <a:tc>
                  <a:txBody>
                    <a:bodyPr/>
                    <a:lstStyle/>
                    <a:p>
                      <a:pPr marL="817880" algn="ctr">
                        <a:lnSpc>
                          <a:spcPts val="2150"/>
                        </a:lnSpc>
                        <a:spcBef>
                          <a:spcPts val="90"/>
                        </a:spcBef>
                      </a:pPr>
                      <a:r>
                        <a:rPr sz="1800" spc="-10" dirty="0">
                          <a:latin typeface="Calibri"/>
                          <a:cs typeface="Calibri"/>
                        </a:rPr>
                        <a:t>False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1143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8739" y="17780"/>
            <a:ext cx="183007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>
                <a:solidFill>
                  <a:srgbClr val="4471C4"/>
                </a:solidFill>
              </a:rPr>
              <a:t>Logical</a:t>
            </a:r>
            <a:r>
              <a:rPr spc="-45" dirty="0">
                <a:solidFill>
                  <a:srgbClr val="4471C4"/>
                </a:solidFill>
              </a:rPr>
              <a:t> </a:t>
            </a:r>
            <a:r>
              <a:rPr spc="-10" dirty="0">
                <a:solidFill>
                  <a:srgbClr val="4471C4"/>
                </a:solidFill>
              </a:rPr>
              <a:t>expressions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0" y="368808"/>
            <a:ext cx="3834765" cy="1187450"/>
          </a:xfrm>
          <a:prstGeom prst="rect">
            <a:avLst/>
          </a:prstGeom>
          <a:solidFill>
            <a:srgbClr val="4471C4"/>
          </a:solidFill>
          <a:ln w="12700">
            <a:solidFill>
              <a:srgbClr val="2E528F"/>
            </a:solidFill>
          </a:ln>
        </p:spPr>
        <p:txBody>
          <a:bodyPr vert="horz" wrap="square" lIns="0" tIns="4127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325"/>
              </a:spcBef>
            </a:pPr>
            <a:endParaRPr sz="1800">
              <a:latin typeface="Times New Roman"/>
              <a:cs typeface="Times New Roman"/>
            </a:endParaRPr>
          </a:p>
          <a:p>
            <a:pPr marL="91440" marR="631825">
              <a:lnSpc>
                <a:spcPct val="100000"/>
              </a:lnSpc>
            </a:pP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not</a:t>
            </a:r>
            <a:r>
              <a:rPr sz="1800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(p</a:t>
            </a:r>
            <a:r>
              <a:rPr sz="1800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and</a:t>
            </a:r>
            <a:r>
              <a:rPr sz="1800" spc="-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q)</a:t>
            </a:r>
            <a:r>
              <a:rPr sz="1800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==</a:t>
            </a:r>
            <a:r>
              <a:rPr sz="1800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(not</a:t>
            </a:r>
            <a:r>
              <a:rPr sz="1800" spc="-1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p)</a:t>
            </a:r>
            <a:r>
              <a:rPr sz="1800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or</a:t>
            </a:r>
            <a:r>
              <a:rPr sz="1800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(not</a:t>
            </a:r>
            <a:r>
              <a:rPr sz="1800" spc="-1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-25" dirty="0">
                <a:solidFill>
                  <a:srgbClr val="FFFFFF"/>
                </a:solidFill>
                <a:latin typeface="Calibri"/>
                <a:cs typeface="Calibri"/>
              </a:rPr>
              <a:t>q)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not</a:t>
            </a:r>
            <a:r>
              <a:rPr sz="1800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(p</a:t>
            </a:r>
            <a:r>
              <a:rPr sz="1800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or</a:t>
            </a:r>
            <a:r>
              <a:rPr sz="1800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q)</a:t>
            </a:r>
            <a:r>
              <a:rPr sz="1800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==</a:t>
            </a:r>
            <a:r>
              <a:rPr sz="1800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(not</a:t>
            </a:r>
            <a:r>
              <a:rPr sz="1800" spc="-1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p)</a:t>
            </a:r>
            <a:r>
              <a:rPr sz="1800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and</a:t>
            </a:r>
            <a:r>
              <a:rPr sz="1800" spc="-1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(not</a:t>
            </a:r>
            <a:r>
              <a:rPr sz="1800" spc="-1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-25" dirty="0">
                <a:solidFill>
                  <a:srgbClr val="FFFFFF"/>
                </a:solidFill>
                <a:latin typeface="Calibri"/>
                <a:cs typeface="Calibri"/>
              </a:rPr>
              <a:t>q)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4660" y="1822830"/>
            <a:ext cx="263398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solidFill>
                  <a:srgbClr val="4471C4"/>
                </a:solidFill>
                <a:latin typeface="Calibri"/>
                <a:cs typeface="Calibri"/>
              </a:rPr>
              <a:t>Logical</a:t>
            </a:r>
            <a:r>
              <a:rPr sz="1800" b="1" spc="-40" dirty="0">
                <a:solidFill>
                  <a:srgbClr val="4471C4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4471C4"/>
                </a:solidFill>
                <a:latin typeface="Calibri"/>
                <a:cs typeface="Calibri"/>
              </a:rPr>
              <a:t>values</a:t>
            </a:r>
            <a:r>
              <a:rPr sz="1800" b="1" spc="-50" dirty="0">
                <a:solidFill>
                  <a:srgbClr val="4471C4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4471C4"/>
                </a:solidFill>
                <a:latin typeface="Calibri"/>
                <a:cs typeface="Calibri"/>
              </a:rPr>
              <a:t>vs.</a:t>
            </a:r>
            <a:r>
              <a:rPr sz="1800" b="1" spc="-25" dirty="0">
                <a:solidFill>
                  <a:srgbClr val="4471C4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4471C4"/>
                </a:solidFill>
                <a:latin typeface="Calibri"/>
                <a:cs typeface="Calibri"/>
              </a:rPr>
              <a:t>single</a:t>
            </a:r>
            <a:r>
              <a:rPr sz="1800" b="1" spc="-45" dirty="0">
                <a:solidFill>
                  <a:srgbClr val="4471C4"/>
                </a:solidFill>
                <a:latin typeface="Calibri"/>
                <a:cs typeface="Calibri"/>
              </a:rPr>
              <a:t> </a:t>
            </a:r>
            <a:r>
              <a:rPr sz="1800" b="1" spc="-20" dirty="0">
                <a:solidFill>
                  <a:srgbClr val="4471C4"/>
                </a:solidFill>
                <a:latin typeface="Calibri"/>
                <a:cs typeface="Calibri"/>
              </a:rPr>
              <a:t>bits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0" y="2455164"/>
            <a:ext cx="3834765" cy="1186180"/>
          </a:xfrm>
          <a:prstGeom prst="rect">
            <a:avLst/>
          </a:prstGeom>
          <a:solidFill>
            <a:srgbClr val="4471C4"/>
          </a:solidFill>
          <a:ln w="12700">
            <a:solidFill>
              <a:srgbClr val="2E528F"/>
            </a:solidFill>
          </a:ln>
        </p:spPr>
        <p:txBody>
          <a:bodyPr vert="horz" wrap="square" lIns="0" tIns="4064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320"/>
              </a:spcBef>
            </a:pPr>
            <a:endParaRPr sz="1800">
              <a:latin typeface="Times New Roman"/>
              <a:cs typeface="Times New Roman"/>
            </a:endParaRPr>
          </a:p>
          <a:p>
            <a:pPr marL="91440">
              <a:lnSpc>
                <a:spcPct val="100000"/>
              </a:lnSpc>
            </a:pP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i =</a:t>
            </a:r>
            <a:r>
              <a:rPr sz="1800" spc="-1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-50" dirty="0">
                <a:solidFill>
                  <a:srgbClr val="FFFFFF"/>
                </a:solidFill>
                <a:latin typeface="Calibri"/>
                <a:cs typeface="Calibri"/>
              </a:rPr>
              <a:t>1</a:t>
            </a:r>
            <a:endParaRPr sz="1800">
              <a:latin typeface="Calibri"/>
              <a:cs typeface="Calibri"/>
            </a:endParaRPr>
          </a:p>
          <a:p>
            <a:pPr marL="91440">
              <a:lnSpc>
                <a:spcPct val="100000"/>
              </a:lnSpc>
            </a:pP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j</a:t>
            </a:r>
            <a:r>
              <a:rPr sz="1800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=</a:t>
            </a:r>
            <a:r>
              <a:rPr sz="1800" spc="-1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not</a:t>
            </a:r>
            <a:r>
              <a:rPr sz="1800" spc="-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not </a:t>
            </a:r>
            <a:r>
              <a:rPr sz="1800" spc="-50" dirty="0">
                <a:solidFill>
                  <a:srgbClr val="FFFFFF"/>
                </a:solidFill>
                <a:latin typeface="Calibri"/>
                <a:cs typeface="Calibri"/>
              </a:rPr>
              <a:t>i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232908" y="3811981"/>
            <a:ext cx="1689100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solidFill>
                  <a:srgbClr val="4471C4"/>
                </a:solidFill>
                <a:latin typeface="Calibri"/>
                <a:cs typeface="Calibri"/>
              </a:rPr>
              <a:t>Bitwise</a:t>
            </a:r>
            <a:r>
              <a:rPr sz="1800" b="1" spc="-55" dirty="0">
                <a:solidFill>
                  <a:srgbClr val="4471C4"/>
                </a:solidFill>
                <a:latin typeface="Calibri"/>
                <a:cs typeface="Calibri"/>
              </a:rPr>
              <a:t> </a:t>
            </a:r>
            <a:r>
              <a:rPr sz="1800" b="1" spc="-10" dirty="0">
                <a:solidFill>
                  <a:srgbClr val="4471C4"/>
                </a:solidFill>
                <a:latin typeface="Calibri"/>
                <a:cs typeface="Calibri"/>
              </a:rPr>
              <a:t>operators</a:t>
            </a:r>
            <a:endParaRPr sz="1800">
              <a:latin typeface="Calibri"/>
              <a:cs typeface="Calibri"/>
            </a:endParaRPr>
          </a:p>
        </p:txBody>
      </p:sp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84338" y="4374134"/>
            <a:ext cx="10305288" cy="2194560"/>
          </a:xfrm>
          <a:prstGeom prst="rect">
            <a:avLst/>
          </a:prstGeom>
        </p:spPr>
      </p:pic>
      <p:graphicFrame>
        <p:nvGraphicFramePr>
          <p:cNvPr id="8" name="object 8"/>
          <p:cNvGraphicFramePr>
            <a:graphicFrameLocks noGrp="1"/>
          </p:cNvGraphicFramePr>
          <p:nvPr/>
        </p:nvGraphicFramePr>
        <p:xfrm>
          <a:off x="981163" y="4370959"/>
          <a:ext cx="10306049" cy="219392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0612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6121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6121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6121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06120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65760">
                <a:tc gridSpan="5"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Bitwise</a:t>
                      </a:r>
                      <a:r>
                        <a:rPr sz="18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operations</a:t>
                      </a:r>
                      <a:r>
                        <a:rPr sz="18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(&amp;,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|,</a:t>
                      </a:r>
                      <a:r>
                        <a:rPr sz="18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and</a:t>
                      </a:r>
                      <a:r>
                        <a:rPr sz="1800" spc="-25" dirty="0">
                          <a:latin typeface="Calibri"/>
                          <a:cs typeface="Calibri"/>
                        </a:rPr>
                        <a:t> ^)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6350">
                      <a:solidFill>
                        <a:srgbClr val="4471C4"/>
                      </a:solidFill>
                      <a:prstDash val="solid"/>
                    </a:lnL>
                    <a:lnR w="6350">
                      <a:solidFill>
                        <a:srgbClr val="4471C4"/>
                      </a:solidFill>
                      <a:prstDash val="solid"/>
                    </a:lnR>
                    <a:lnT w="6350">
                      <a:solidFill>
                        <a:srgbClr val="4471C4"/>
                      </a:solidFill>
                      <a:prstDash val="solid"/>
                    </a:lnT>
                    <a:lnB w="6350">
                      <a:solidFill>
                        <a:srgbClr val="4471C4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spc="-10" dirty="0">
                          <a:latin typeface="Calibri"/>
                          <a:cs typeface="Calibri"/>
                        </a:rPr>
                        <a:t>Argument</a:t>
                      </a:r>
                      <a:r>
                        <a:rPr sz="18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50" dirty="0">
                          <a:latin typeface="Calibri"/>
                          <a:cs typeface="Calibri"/>
                        </a:rPr>
                        <a:t>A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6350">
                      <a:solidFill>
                        <a:srgbClr val="4471C4"/>
                      </a:solidFill>
                      <a:prstDash val="solid"/>
                    </a:lnL>
                    <a:lnR w="6350">
                      <a:solidFill>
                        <a:srgbClr val="4471C4"/>
                      </a:solidFill>
                      <a:prstDash val="solid"/>
                    </a:lnR>
                    <a:lnT w="6350">
                      <a:solidFill>
                        <a:srgbClr val="4471C4"/>
                      </a:solidFill>
                      <a:prstDash val="solid"/>
                    </a:lnT>
                    <a:lnB w="6350">
                      <a:solidFill>
                        <a:srgbClr val="4471C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spc="-10" dirty="0">
                          <a:latin typeface="Calibri"/>
                          <a:cs typeface="Calibri"/>
                        </a:rPr>
                        <a:t>Argument</a:t>
                      </a:r>
                      <a:r>
                        <a:rPr sz="18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50" dirty="0">
                          <a:latin typeface="Calibri"/>
                          <a:cs typeface="Calibri"/>
                        </a:rPr>
                        <a:t>B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6350">
                      <a:solidFill>
                        <a:srgbClr val="4471C4"/>
                      </a:solidFill>
                      <a:prstDash val="solid"/>
                    </a:lnL>
                    <a:lnR w="6350">
                      <a:solidFill>
                        <a:srgbClr val="4471C4"/>
                      </a:solidFill>
                      <a:prstDash val="solid"/>
                    </a:lnR>
                    <a:lnT w="6350">
                      <a:solidFill>
                        <a:srgbClr val="4471C4"/>
                      </a:solidFill>
                      <a:prstDash val="solid"/>
                    </a:lnT>
                    <a:lnB w="6350">
                      <a:solidFill>
                        <a:srgbClr val="4471C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A &amp;</a:t>
                      </a:r>
                      <a:r>
                        <a:rPr sz="1800" spc="-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50" dirty="0">
                          <a:latin typeface="Calibri"/>
                          <a:cs typeface="Calibri"/>
                        </a:rPr>
                        <a:t>B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6350">
                      <a:solidFill>
                        <a:srgbClr val="4471C4"/>
                      </a:solidFill>
                      <a:prstDash val="solid"/>
                    </a:lnL>
                    <a:lnR w="6350">
                      <a:solidFill>
                        <a:srgbClr val="4471C4"/>
                      </a:solidFill>
                      <a:prstDash val="solid"/>
                    </a:lnR>
                    <a:lnT w="6350">
                      <a:solidFill>
                        <a:srgbClr val="4471C4"/>
                      </a:solidFill>
                      <a:prstDash val="solid"/>
                    </a:lnT>
                    <a:lnB w="6350">
                      <a:solidFill>
                        <a:srgbClr val="4471C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A |</a:t>
                      </a:r>
                      <a:r>
                        <a:rPr sz="1800" spc="-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50" dirty="0">
                          <a:latin typeface="Calibri"/>
                          <a:cs typeface="Calibri"/>
                        </a:rPr>
                        <a:t>B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6350">
                      <a:solidFill>
                        <a:srgbClr val="4471C4"/>
                      </a:solidFill>
                      <a:prstDash val="solid"/>
                    </a:lnL>
                    <a:lnR w="6350">
                      <a:solidFill>
                        <a:srgbClr val="4471C4"/>
                      </a:solidFill>
                      <a:prstDash val="solid"/>
                    </a:lnR>
                    <a:lnT w="6350">
                      <a:solidFill>
                        <a:srgbClr val="4471C4"/>
                      </a:solidFill>
                      <a:prstDash val="solid"/>
                    </a:lnT>
                    <a:lnB w="6350">
                      <a:solidFill>
                        <a:srgbClr val="4471C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A</a:t>
                      </a:r>
                      <a:r>
                        <a:rPr sz="1800" spc="-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^ </a:t>
                      </a:r>
                      <a:r>
                        <a:rPr sz="1800" spc="-50" dirty="0">
                          <a:latin typeface="Calibri"/>
                          <a:cs typeface="Calibri"/>
                        </a:rPr>
                        <a:t>B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6350">
                      <a:solidFill>
                        <a:srgbClr val="4471C4"/>
                      </a:solidFill>
                      <a:prstDash val="solid"/>
                    </a:lnL>
                    <a:lnR w="6350">
                      <a:solidFill>
                        <a:srgbClr val="4471C4"/>
                      </a:solidFill>
                      <a:prstDash val="solid"/>
                    </a:lnR>
                    <a:lnT w="6350">
                      <a:solidFill>
                        <a:srgbClr val="4471C4"/>
                      </a:solidFill>
                      <a:prstDash val="solid"/>
                    </a:lnT>
                    <a:lnB w="6350">
                      <a:solidFill>
                        <a:srgbClr val="4471C4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12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spc="-50" dirty="0">
                          <a:latin typeface="Calibri"/>
                          <a:cs typeface="Calibri"/>
                        </a:rPr>
                        <a:t>0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6350">
                      <a:solidFill>
                        <a:srgbClr val="4471C4"/>
                      </a:solidFill>
                      <a:prstDash val="solid"/>
                    </a:lnL>
                    <a:lnR w="6350">
                      <a:solidFill>
                        <a:srgbClr val="4471C4"/>
                      </a:solidFill>
                      <a:prstDash val="solid"/>
                    </a:lnR>
                    <a:lnT w="6350">
                      <a:solidFill>
                        <a:srgbClr val="4471C4"/>
                      </a:solidFill>
                      <a:prstDash val="solid"/>
                    </a:lnT>
                    <a:lnB w="6350">
                      <a:solidFill>
                        <a:srgbClr val="4471C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spc="-50" dirty="0">
                          <a:latin typeface="Calibri"/>
                          <a:cs typeface="Calibri"/>
                        </a:rPr>
                        <a:t>0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6350">
                      <a:solidFill>
                        <a:srgbClr val="4471C4"/>
                      </a:solidFill>
                      <a:prstDash val="solid"/>
                    </a:lnL>
                    <a:lnR w="6350">
                      <a:solidFill>
                        <a:srgbClr val="4471C4"/>
                      </a:solidFill>
                      <a:prstDash val="solid"/>
                    </a:lnR>
                    <a:lnT w="6350">
                      <a:solidFill>
                        <a:srgbClr val="4471C4"/>
                      </a:solidFill>
                      <a:prstDash val="solid"/>
                    </a:lnT>
                    <a:lnB w="6350">
                      <a:solidFill>
                        <a:srgbClr val="4471C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spc="-50" dirty="0">
                          <a:latin typeface="Calibri"/>
                          <a:cs typeface="Calibri"/>
                        </a:rPr>
                        <a:t>0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6350">
                      <a:solidFill>
                        <a:srgbClr val="4471C4"/>
                      </a:solidFill>
                      <a:prstDash val="solid"/>
                    </a:lnL>
                    <a:lnR w="6350">
                      <a:solidFill>
                        <a:srgbClr val="4471C4"/>
                      </a:solidFill>
                      <a:prstDash val="solid"/>
                    </a:lnR>
                    <a:lnT w="6350">
                      <a:solidFill>
                        <a:srgbClr val="4471C4"/>
                      </a:solidFill>
                      <a:prstDash val="solid"/>
                    </a:lnT>
                    <a:lnB w="6350">
                      <a:solidFill>
                        <a:srgbClr val="4471C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spc="-50" dirty="0">
                          <a:latin typeface="Calibri"/>
                          <a:cs typeface="Calibri"/>
                        </a:rPr>
                        <a:t>0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6350">
                      <a:solidFill>
                        <a:srgbClr val="4471C4"/>
                      </a:solidFill>
                      <a:prstDash val="solid"/>
                    </a:lnL>
                    <a:lnR w="6350">
                      <a:solidFill>
                        <a:srgbClr val="4471C4"/>
                      </a:solidFill>
                      <a:prstDash val="solid"/>
                    </a:lnR>
                    <a:lnT w="6350">
                      <a:solidFill>
                        <a:srgbClr val="4471C4"/>
                      </a:solidFill>
                      <a:prstDash val="solid"/>
                    </a:lnT>
                    <a:lnB w="6350">
                      <a:solidFill>
                        <a:srgbClr val="4471C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spc="-50" dirty="0">
                          <a:latin typeface="Calibri"/>
                          <a:cs typeface="Calibri"/>
                        </a:rPr>
                        <a:t>0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6350">
                      <a:solidFill>
                        <a:srgbClr val="4471C4"/>
                      </a:solidFill>
                      <a:prstDash val="solid"/>
                    </a:lnL>
                    <a:lnR w="6350">
                      <a:solidFill>
                        <a:srgbClr val="4471C4"/>
                      </a:solidFill>
                      <a:prstDash val="solid"/>
                    </a:lnR>
                    <a:lnT w="6350">
                      <a:solidFill>
                        <a:srgbClr val="4471C4"/>
                      </a:solidFill>
                      <a:prstDash val="solid"/>
                    </a:lnT>
                    <a:lnB w="6350">
                      <a:solidFill>
                        <a:srgbClr val="4471C4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1800" spc="-50" dirty="0">
                          <a:latin typeface="Calibri"/>
                          <a:cs typeface="Calibri"/>
                        </a:rPr>
                        <a:t>0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750" marB="0">
                    <a:lnL w="6350">
                      <a:solidFill>
                        <a:srgbClr val="4471C4"/>
                      </a:solidFill>
                      <a:prstDash val="solid"/>
                    </a:lnL>
                    <a:lnR w="6350">
                      <a:solidFill>
                        <a:srgbClr val="4471C4"/>
                      </a:solidFill>
                      <a:prstDash val="solid"/>
                    </a:lnR>
                    <a:lnT w="6350">
                      <a:solidFill>
                        <a:srgbClr val="4471C4"/>
                      </a:solidFill>
                      <a:prstDash val="solid"/>
                    </a:lnT>
                    <a:lnB w="6350">
                      <a:solidFill>
                        <a:srgbClr val="4471C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1800" spc="-50" dirty="0">
                          <a:latin typeface="Calibri"/>
                          <a:cs typeface="Calibri"/>
                        </a:rPr>
                        <a:t>1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750" marB="0">
                    <a:lnL w="6350">
                      <a:solidFill>
                        <a:srgbClr val="4471C4"/>
                      </a:solidFill>
                      <a:prstDash val="solid"/>
                    </a:lnL>
                    <a:lnR w="6350">
                      <a:solidFill>
                        <a:srgbClr val="4471C4"/>
                      </a:solidFill>
                      <a:prstDash val="solid"/>
                    </a:lnR>
                    <a:lnT w="6350">
                      <a:solidFill>
                        <a:srgbClr val="4471C4"/>
                      </a:solidFill>
                      <a:prstDash val="solid"/>
                    </a:lnT>
                    <a:lnB w="6350">
                      <a:solidFill>
                        <a:srgbClr val="4471C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1800" spc="-50" dirty="0">
                          <a:latin typeface="Calibri"/>
                          <a:cs typeface="Calibri"/>
                        </a:rPr>
                        <a:t>0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750" marB="0">
                    <a:lnL w="6350">
                      <a:solidFill>
                        <a:srgbClr val="4471C4"/>
                      </a:solidFill>
                      <a:prstDash val="solid"/>
                    </a:lnL>
                    <a:lnR w="6350">
                      <a:solidFill>
                        <a:srgbClr val="4471C4"/>
                      </a:solidFill>
                      <a:prstDash val="solid"/>
                    </a:lnR>
                    <a:lnT w="6350">
                      <a:solidFill>
                        <a:srgbClr val="4471C4"/>
                      </a:solidFill>
                      <a:prstDash val="solid"/>
                    </a:lnT>
                    <a:lnB w="6350">
                      <a:solidFill>
                        <a:srgbClr val="4471C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1800" spc="-50" dirty="0">
                          <a:latin typeface="Calibri"/>
                          <a:cs typeface="Calibri"/>
                        </a:rPr>
                        <a:t>1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750" marB="0">
                    <a:lnL w="6350">
                      <a:solidFill>
                        <a:srgbClr val="4471C4"/>
                      </a:solidFill>
                      <a:prstDash val="solid"/>
                    </a:lnL>
                    <a:lnR w="6350">
                      <a:solidFill>
                        <a:srgbClr val="4471C4"/>
                      </a:solidFill>
                      <a:prstDash val="solid"/>
                    </a:lnR>
                    <a:lnT w="6350">
                      <a:solidFill>
                        <a:srgbClr val="4471C4"/>
                      </a:solidFill>
                      <a:prstDash val="solid"/>
                    </a:lnT>
                    <a:lnB w="6350">
                      <a:solidFill>
                        <a:srgbClr val="4471C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1800" spc="-50" dirty="0">
                          <a:latin typeface="Calibri"/>
                          <a:cs typeface="Calibri"/>
                        </a:rPr>
                        <a:t>1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750" marB="0">
                    <a:lnL w="6350">
                      <a:solidFill>
                        <a:srgbClr val="4471C4"/>
                      </a:solidFill>
                      <a:prstDash val="solid"/>
                    </a:lnL>
                    <a:lnR w="6350">
                      <a:solidFill>
                        <a:srgbClr val="4471C4"/>
                      </a:solidFill>
                      <a:prstDash val="solid"/>
                    </a:lnR>
                    <a:lnT w="6350">
                      <a:solidFill>
                        <a:srgbClr val="4471C4"/>
                      </a:solidFill>
                      <a:prstDash val="solid"/>
                    </a:lnT>
                    <a:lnB w="6350">
                      <a:solidFill>
                        <a:srgbClr val="4471C4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1800" spc="-50" dirty="0">
                          <a:latin typeface="Calibri"/>
                          <a:cs typeface="Calibri"/>
                        </a:rPr>
                        <a:t>1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750" marB="0">
                    <a:lnL w="6350">
                      <a:solidFill>
                        <a:srgbClr val="4471C4"/>
                      </a:solidFill>
                      <a:prstDash val="solid"/>
                    </a:lnL>
                    <a:lnR w="6350">
                      <a:solidFill>
                        <a:srgbClr val="4471C4"/>
                      </a:solidFill>
                      <a:prstDash val="solid"/>
                    </a:lnR>
                    <a:lnT w="6350">
                      <a:solidFill>
                        <a:srgbClr val="4471C4"/>
                      </a:solidFill>
                      <a:prstDash val="solid"/>
                    </a:lnT>
                    <a:lnB w="6350">
                      <a:solidFill>
                        <a:srgbClr val="4471C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1800" spc="-50" dirty="0">
                          <a:latin typeface="Calibri"/>
                          <a:cs typeface="Calibri"/>
                        </a:rPr>
                        <a:t>0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750" marB="0">
                    <a:lnL w="6350">
                      <a:solidFill>
                        <a:srgbClr val="4471C4"/>
                      </a:solidFill>
                      <a:prstDash val="solid"/>
                    </a:lnL>
                    <a:lnR w="6350">
                      <a:solidFill>
                        <a:srgbClr val="4471C4"/>
                      </a:solidFill>
                      <a:prstDash val="solid"/>
                    </a:lnR>
                    <a:lnT w="6350">
                      <a:solidFill>
                        <a:srgbClr val="4471C4"/>
                      </a:solidFill>
                      <a:prstDash val="solid"/>
                    </a:lnT>
                    <a:lnB w="6350">
                      <a:solidFill>
                        <a:srgbClr val="4471C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1800" spc="-50" dirty="0">
                          <a:latin typeface="Calibri"/>
                          <a:cs typeface="Calibri"/>
                        </a:rPr>
                        <a:t>0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750" marB="0">
                    <a:lnL w="6350">
                      <a:solidFill>
                        <a:srgbClr val="4471C4"/>
                      </a:solidFill>
                      <a:prstDash val="solid"/>
                    </a:lnL>
                    <a:lnR w="6350">
                      <a:solidFill>
                        <a:srgbClr val="4471C4"/>
                      </a:solidFill>
                      <a:prstDash val="solid"/>
                    </a:lnR>
                    <a:lnT w="6350">
                      <a:solidFill>
                        <a:srgbClr val="4471C4"/>
                      </a:solidFill>
                      <a:prstDash val="solid"/>
                    </a:lnT>
                    <a:lnB w="6350">
                      <a:solidFill>
                        <a:srgbClr val="4471C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1800" spc="-50" dirty="0">
                          <a:latin typeface="Calibri"/>
                          <a:cs typeface="Calibri"/>
                        </a:rPr>
                        <a:t>1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750" marB="0">
                    <a:lnL w="6350">
                      <a:solidFill>
                        <a:srgbClr val="4471C4"/>
                      </a:solidFill>
                      <a:prstDash val="solid"/>
                    </a:lnL>
                    <a:lnR w="6350">
                      <a:solidFill>
                        <a:srgbClr val="4471C4"/>
                      </a:solidFill>
                      <a:prstDash val="solid"/>
                    </a:lnR>
                    <a:lnT w="6350">
                      <a:solidFill>
                        <a:srgbClr val="4471C4"/>
                      </a:solidFill>
                      <a:prstDash val="solid"/>
                    </a:lnT>
                    <a:lnB w="6350">
                      <a:solidFill>
                        <a:srgbClr val="4471C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1800" spc="-50" dirty="0">
                          <a:latin typeface="Calibri"/>
                          <a:cs typeface="Calibri"/>
                        </a:rPr>
                        <a:t>1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750" marB="0">
                    <a:lnL w="6350">
                      <a:solidFill>
                        <a:srgbClr val="4471C4"/>
                      </a:solidFill>
                      <a:prstDash val="solid"/>
                    </a:lnL>
                    <a:lnR w="6350">
                      <a:solidFill>
                        <a:srgbClr val="4471C4"/>
                      </a:solidFill>
                      <a:prstDash val="solid"/>
                    </a:lnR>
                    <a:lnT w="6350">
                      <a:solidFill>
                        <a:srgbClr val="4471C4"/>
                      </a:solidFill>
                      <a:prstDash val="solid"/>
                    </a:lnT>
                    <a:lnB w="6350">
                      <a:solidFill>
                        <a:srgbClr val="4471C4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1800" spc="-50" dirty="0">
                          <a:latin typeface="Calibri"/>
                          <a:cs typeface="Calibri"/>
                        </a:rPr>
                        <a:t>1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750" marB="0">
                    <a:lnL w="6350">
                      <a:solidFill>
                        <a:srgbClr val="4471C4"/>
                      </a:solidFill>
                      <a:prstDash val="solid"/>
                    </a:lnL>
                    <a:lnR w="6350">
                      <a:solidFill>
                        <a:srgbClr val="4471C4"/>
                      </a:solidFill>
                      <a:prstDash val="solid"/>
                    </a:lnR>
                    <a:lnT w="6350">
                      <a:solidFill>
                        <a:srgbClr val="4471C4"/>
                      </a:solidFill>
                      <a:prstDash val="solid"/>
                    </a:lnT>
                    <a:lnB w="6350">
                      <a:solidFill>
                        <a:srgbClr val="4471C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1800" spc="-50" dirty="0">
                          <a:latin typeface="Calibri"/>
                          <a:cs typeface="Calibri"/>
                        </a:rPr>
                        <a:t>1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750" marB="0">
                    <a:lnL w="6350">
                      <a:solidFill>
                        <a:srgbClr val="4471C4"/>
                      </a:solidFill>
                      <a:prstDash val="solid"/>
                    </a:lnL>
                    <a:lnR w="6350">
                      <a:solidFill>
                        <a:srgbClr val="4471C4"/>
                      </a:solidFill>
                      <a:prstDash val="solid"/>
                    </a:lnR>
                    <a:lnT w="6350">
                      <a:solidFill>
                        <a:srgbClr val="4471C4"/>
                      </a:solidFill>
                      <a:prstDash val="solid"/>
                    </a:lnT>
                    <a:lnB w="6350">
                      <a:solidFill>
                        <a:srgbClr val="4471C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1800" spc="-50" dirty="0">
                          <a:latin typeface="Calibri"/>
                          <a:cs typeface="Calibri"/>
                        </a:rPr>
                        <a:t>1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750" marB="0">
                    <a:lnL w="6350">
                      <a:solidFill>
                        <a:srgbClr val="4471C4"/>
                      </a:solidFill>
                      <a:prstDash val="solid"/>
                    </a:lnL>
                    <a:lnR w="6350">
                      <a:solidFill>
                        <a:srgbClr val="4471C4"/>
                      </a:solidFill>
                      <a:prstDash val="solid"/>
                    </a:lnR>
                    <a:lnT w="6350">
                      <a:solidFill>
                        <a:srgbClr val="4471C4"/>
                      </a:solidFill>
                      <a:prstDash val="solid"/>
                    </a:lnT>
                    <a:lnB w="6350">
                      <a:solidFill>
                        <a:srgbClr val="4471C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1800" spc="-50" dirty="0">
                          <a:latin typeface="Calibri"/>
                          <a:cs typeface="Calibri"/>
                        </a:rPr>
                        <a:t>1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750" marB="0">
                    <a:lnL w="6350">
                      <a:solidFill>
                        <a:srgbClr val="4471C4"/>
                      </a:solidFill>
                      <a:prstDash val="solid"/>
                    </a:lnL>
                    <a:lnR w="6350">
                      <a:solidFill>
                        <a:srgbClr val="4471C4"/>
                      </a:solidFill>
                      <a:prstDash val="solid"/>
                    </a:lnR>
                    <a:lnT w="6350">
                      <a:solidFill>
                        <a:srgbClr val="4471C4"/>
                      </a:solidFill>
                      <a:prstDash val="solid"/>
                    </a:lnT>
                    <a:lnB w="6350">
                      <a:solidFill>
                        <a:srgbClr val="4471C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1800" spc="-50" dirty="0">
                          <a:latin typeface="Calibri"/>
                          <a:cs typeface="Calibri"/>
                        </a:rPr>
                        <a:t>0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750" marB="0">
                    <a:lnL w="6350">
                      <a:solidFill>
                        <a:srgbClr val="4471C4"/>
                      </a:solidFill>
                      <a:prstDash val="solid"/>
                    </a:lnL>
                    <a:lnR w="6350">
                      <a:solidFill>
                        <a:srgbClr val="4471C4"/>
                      </a:solidFill>
                      <a:prstDash val="solid"/>
                    </a:lnR>
                    <a:lnT w="6350">
                      <a:solidFill>
                        <a:srgbClr val="4471C4"/>
                      </a:solidFill>
                      <a:prstDash val="solid"/>
                    </a:lnT>
                    <a:lnB w="6350">
                      <a:solidFill>
                        <a:srgbClr val="4471C4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pic>
        <p:nvPicPr>
          <p:cNvPr id="9" name="object 9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328790" y="1601216"/>
            <a:ext cx="4732020" cy="1463039"/>
          </a:xfrm>
          <a:prstGeom prst="rect">
            <a:avLst/>
          </a:prstGeom>
        </p:spPr>
      </p:pic>
      <p:graphicFrame>
        <p:nvGraphicFramePr>
          <p:cNvPr id="10" name="object 10"/>
          <p:cNvGraphicFramePr>
            <a:graphicFrameLocks noGrp="1"/>
          </p:cNvGraphicFramePr>
          <p:nvPr/>
        </p:nvGraphicFramePr>
        <p:xfrm>
          <a:off x="6325615" y="1598041"/>
          <a:ext cx="4732020" cy="146240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3660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6601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5760">
                <a:tc gridSpan="2"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Bitwise</a:t>
                      </a:r>
                      <a:r>
                        <a:rPr sz="180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operations</a:t>
                      </a:r>
                      <a:r>
                        <a:rPr sz="180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25" dirty="0">
                          <a:latin typeface="Calibri"/>
                          <a:cs typeface="Calibri"/>
                        </a:rPr>
                        <a:t>(~)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0480" marB="0">
                    <a:lnL w="6350">
                      <a:solidFill>
                        <a:srgbClr val="4471C4"/>
                      </a:solidFill>
                      <a:prstDash val="solid"/>
                    </a:lnL>
                    <a:lnR w="6350">
                      <a:solidFill>
                        <a:srgbClr val="4471C4"/>
                      </a:solidFill>
                      <a:prstDash val="solid"/>
                    </a:lnR>
                    <a:lnT w="6350">
                      <a:solidFill>
                        <a:srgbClr val="4471C4"/>
                      </a:solidFill>
                      <a:prstDash val="solid"/>
                    </a:lnT>
                    <a:lnB w="6350">
                      <a:solidFill>
                        <a:srgbClr val="4471C4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244"/>
                        </a:spcBef>
                      </a:pPr>
                      <a:r>
                        <a:rPr sz="1800" spc="-10" dirty="0">
                          <a:latin typeface="Calibri"/>
                          <a:cs typeface="Calibri"/>
                        </a:rPr>
                        <a:t>Argument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4" marB="0">
                    <a:lnL w="6350">
                      <a:solidFill>
                        <a:srgbClr val="4471C4"/>
                      </a:solidFill>
                      <a:prstDash val="solid"/>
                    </a:lnL>
                    <a:lnR w="6350">
                      <a:solidFill>
                        <a:srgbClr val="4471C4"/>
                      </a:solidFill>
                      <a:prstDash val="solid"/>
                    </a:lnR>
                    <a:lnT w="6350">
                      <a:solidFill>
                        <a:srgbClr val="4471C4"/>
                      </a:solidFill>
                      <a:prstDash val="solid"/>
                    </a:lnT>
                    <a:lnB w="6350">
                      <a:solidFill>
                        <a:srgbClr val="4471C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244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~</a:t>
                      </a:r>
                      <a:r>
                        <a:rPr sz="180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Argument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4" marB="0">
                    <a:lnL w="6350">
                      <a:solidFill>
                        <a:srgbClr val="4471C4"/>
                      </a:solidFill>
                      <a:prstDash val="solid"/>
                    </a:lnL>
                    <a:lnR w="6350">
                      <a:solidFill>
                        <a:srgbClr val="4471C4"/>
                      </a:solidFill>
                      <a:prstDash val="solid"/>
                    </a:lnR>
                    <a:lnT w="6350">
                      <a:solidFill>
                        <a:srgbClr val="4471C4"/>
                      </a:solidFill>
                      <a:prstDash val="solid"/>
                    </a:lnT>
                    <a:lnB w="6350">
                      <a:solidFill>
                        <a:srgbClr val="4471C4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1800" spc="-50" dirty="0">
                          <a:latin typeface="Calibri"/>
                          <a:cs typeface="Calibri"/>
                        </a:rPr>
                        <a:t>0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0480" marB="0">
                    <a:lnL w="6350">
                      <a:solidFill>
                        <a:srgbClr val="4471C4"/>
                      </a:solidFill>
                      <a:prstDash val="solid"/>
                    </a:lnL>
                    <a:lnR w="6350">
                      <a:solidFill>
                        <a:srgbClr val="4471C4"/>
                      </a:solidFill>
                      <a:prstDash val="solid"/>
                    </a:lnR>
                    <a:lnT w="6350">
                      <a:solidFill>
                        <a:srgbClr val="4471C4"/>
                      </a:solidFill>
                      <a:prstDash val="solid"/>
                    </a:lnT>
                    <a:lnB w="6350">
                      <a:solidFill>
                        <a:srgbClr val="4471C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1800" spc="-50" dirty="0">
                          <a:latin typeface="Calibri"/>
                          <a:cs typeface="Calibri"/>
                        </a:rPr>
                        <a:t>1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0480" marB="0">
                    <a:lnL w="6350">
                      <a:solidFill>
                        <a:srgbClr val="4471C4"/>
                      </a:solidFill>
                      <a:prstDash val="solid"/>
                    </a:lnL>
                    <a:lnR w="6350">
                      <a:solidFill>
                        <a:srgbClr val="4471C4"/>
                      </a:solidFill>
                      <a:prstDash val="solid"/>
                    </a:lnR>
                    <a:lnT w="6350">
                      <a:solidFill>
                        <a:srgbClr val="4471C4"/>
                      </a:solidFill>
                      <a:prstDash val="solid"/>
                    </a:lnT>
                    <a:lnB w="6350">
                      <a:solidFill>
                        <a:srgbClr val="4471C4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125"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244"/>
                        </a:spcBef>
                      </a:pPr>
                      <a:r>
                        <a:rPr sz="1800" spc="-50" dirty="0">
                          <a:latin typeface="Calibri"/>
                          <a:cs typeface="Calibri"/>
                        </a:rPr>
                        <a:t>1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4" marB="0">
                    <a:lnL w="6350">
                      <a:solidFill>
                        <a:srgbClr val="4471C4"/>
                      </a:solidFill>
                      <a:prstDash val="solid"/>
                    </a:lnL>
                    <a:lnR w="6350">
                      <a:solidFill>
                        <a:srgbClr val="4471C4"/>
                      </a:solidFill>
                      <a:prstDash val="solid"/>
                    </a:lnR>
                    <a:lnT w="6350">
                      <a:solidFill>
                        <a:srgbClr val="4471C4"/>
                      </a:solidFill>
                      <a:prstDash val="solid"/>
                    </a:lnT>
                    <a:lnB w="6350">
                      <a:solidFill>
                        <a:srgbClr val="4471C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244"/>
                        </a:spcBef>
                      </a:pPr>
                      <a:r>
                        <a:rPr sz="1800" spc="-50" dirty="0">
                          <a:latin typeface="Calibri"/>
                          <a:cs typeface="Calibri"/>
                        </a:rPr>
                        <a:t>0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4" marB="0">
                    <a:lnL w="6350">
                      <a:solidFill>
                        <a:srgbClr val="4471C4"/>
                      </a:solidFill>
                      <a:prstDash val="solid"/>
                    </a:lnL>
                    <a:lnR w="6350">
                      <a:solidFill>
                        <a:srgbClr val="4471C4"/>
                      </a:solidFill>
                      <a:prstDash val="solid"/>
                    </a:lnR>
                    <a:lnT w="6350">
                      <a:solidFill>
                        <a:srgbClr val="4471C4"/>
                      </a:solidFill>
                      <a:prstDash val="solid"/>
                    </a:lnT>
                    <a:lnB w="6350">
                      <a:solidFill>
                        <a:srgbClr val="4471C4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11860" y="93726"/>
            <a:ext cx="23628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solidFill>
                  <a:srgbClr val="4471C4"/>
                </a:solidFill>
                <a:latin typeface="Calibri"/>
                <a:cs typeface="Calibri"/>
              </a:rPr>
              <a:t>Logical</a:t>
            </a:r>
            <a:r>
              <a:rPr sz="1800" b="1" spc="-35" dirty="0">
                <a:solidFill>
                  <a:srgbClr val="4471C4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4471C4"/>
                </a:solidFill>
                <a:latin typeface="Calibri"/>
                <a:cs typeface="Calibri"/>
              </a:rPr>
              <a:t>vs.</a:t>
            </a:r>
            <a:r>
              <a:rPr sz="1800" b="1" spc="-20" dirty="0">
                <a:solidFill>
                  <a:srgbClr val="4471C4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4471C4"/>
                </a:solidFill>
                <a:latin typeface="Calibri"/>
                <a:cs typeface="Calibri"/>
              </a:rPr>
              <a:t>bit</a:t>
            </a:r>
            <a:r>
              <a:rPr sz="1800" b="1" spc="-25" dirty="0">
                <a:solidFill>
                  <a:srgbClr val="4471C4"/>
                </a:solidFill>
                <a:latin typeface="Calibri"/>
                <a:cs typeface="Calibri"/>
              </a:rPr>
              <a:t> </a:t>
            </a:r>
            <a:r>
              <a:rPr sz="1800" b="1" spc="-10" dirty="0">
                <a:solidFill>
                  <a:srgbClr val="4471C4"/>
                </a:solidFill>
                <a:latin typeface="Calibri"/>
                <a:cs typeface="Calibri"/>
              </a:rPr>
              <a:t>operations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19531" y="555497"/>
            <a:ext cx="530225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alibri"/>
                <a:cs typeface="Calibri"/>
              </a:rPr>
              <a:t>i =</a:t>
            </a:r>
            <a:r>
              <a:rPr sz="1800" spc="-10" dirty="0">
                <a:latin typeface="Calibri"/>
                <a:cs typeface="Calibri"/>
              </a:rPr>
              <a:t> </a:t>
            </a:r>
            <a:r>
              <a:rPr sz="1800" spc="-25" dirty="0">
                <a:latin typeface="Calibri"/>
                <a:cs typeface="Calibri"/>
              </a:rPr>
              <a:t>15</a:t>
            </a:r>
            <a:endParaRPr sz="1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1800" dirty="0">
                <a:latin typeface="Calibri"/>
                <a:cs typeface="Calibri"/>
              </a:rPr>
              <a:t>j</a:t>
            </a:r>
            <a:r>
              <a:rPr sz="1800" spc="-1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= </a:t>
            </a:r>
            <a:r>
              <a:rPr sz="1800" spc="-25" dirty="0">
                <a:latin typeface="Calibri"/>
                <a:cs typeface="Calibri"/>
              </a:rPr>
              <a:t>22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105611" y="555497"/>
            <a:ext cx="3900170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alibri"/>
                <a:cs typeface="Calibri"/>
              </a:rPr>
              <a:t>i:</a:t>
            </a:r>
            <a:r>
              <a:rPr sz="1800" spc="-10" dirty="0">
                <a:latin typeface="Calibri"/>
                <a:cs typeface="Calibri"/>
              </a:rPr>
              <a:t> 00000000000000000000000000001111</a:t>
            </a:r>
            <a:endParaRPr sz="1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1800" dirty="0">
                <a:latin typeface="Calibri"/>
                <a:cs typeface="Calibri"/>
              </a:rPr>
              <a:t>j: </a:t>
            </a:r>
            <a:r>
              <a:rPr sz="1800" spc="-10" dirty="0">
                <a:latin typeface="Calibri"/>
                <a:cs typeface="Calibri"/>
              </a:rPr>
              <a:t>00000000000000000000000000010110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19531" y="1397330"/>
            <a:ext cx="1087120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alibri"/>
                <a:cs typeface="Calibri"/>
              </a:rPr>
              <a:t>log</a:t>
            </a:r>
            <a:r>
              <a:rPr sz="1800" spc="-1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=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i</a:t>
            </a:r>
            <a:r>
              <a:rPr sz="1800" spc="-1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and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spc="-50" dirty="0">
                <a:latin typeface="Calibri"/>
                <a:cs typeface="Calibri"/>
              </a:rPr>
              <a:t>j</a:t>
            </a:r>
            <a:endParaRPr sz="1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800" spc="-20" dirty="0">
                <a:latin typeface="Calibri"/>
                <a:cs typeface="Calibri"/>
              </a:rPr>
              <a:t>True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19531" y="2202434"/>
            <a:ext cx="861060" cy="9239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3700"/>
              </a:lnSpc>
              <a:spcBef>
                <a:spcPts val="100"/>
              </a:spcBef>
            </a:pPr>
            <a:r>
              <a:rPr sz="1800" dirty="0">
                <a:latin typeface="Calibri"/>
                <a:cs typeface="Calibri"/>
              </a:rPr>
              <a:t>bit</a:t>
            </a:r>
            <a:r>
              <a:rPr sz="1800" spc="-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= i</a:t>
            </a:r>
            <a:r>
              <a:rPr sz="1800" spc="-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&amp;</a:t>
            </a:r>
            <a:r>
              <a:rPr sz="1800" spc="-10" dirty="0">
                <a:latin typeface="Calibri"/>
                <a:cs typeface="Calibri"/>
              </a:rPr>
              <a:t> </a:t>
            </a:r>
            <a:r>
              <a:rPr sz="1800" spc="-50" dirty="0">
                <a:latin typeface="Calibri"/>
                <a:cs typeface="Calibri"/>
              </a:rPr>
              <a:t>j i</a:t>
            </a:r>
            <a:endParaRPr sz="1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1800" spc="-50" dirty="0">
                <a:latin typeface="Calibri"/>
                <a:cs typeface="Calibri"/>
              </a:rPr>
              <a:t>j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233932" y="2551938"/>
            <a:ext cx="373189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Calibri"/>
                <a:cs typeface="Calibri"/>
              </a:rPr>
              <a:t>00000000000000000000000000001111</a:t>
            </a:r>
            <a:endParaRPr sz="1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1800" spc="-10" dirty="0">
                <a:latin typeface="Calibri"/>
                <a:cs typeface="Calibri"/>
              </a:rPr>
              <a:t>00000000000000000000000000010110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319531" y="3100273"/>
            <a:ext cx="464629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alibri"/>
                <a:cs typeface="Calibri"/>
              </a:rPr>
              <a:t>bit</a:t>
            </a:r>
            <a:r>
              <a:rPr sz="1800" spc="-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=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i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&amp; j</a:t>
            </a:r>
            <a:r>
              <a:rPr sz="1800" spc="21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00000000000000000000000000000110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100452" y="1408938"/>
            <a:ext cx="129603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alibri"/>
                <a:cs typeface="Calibri"/>
              </a:rPr>
              <a:t>logneg</a:t>
            </a:r>
            <a:r>
              <a:rPr sz="1800" spc="-1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=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not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spc="-50" dirty="0">
                <a:latin typeface="Calibri"/>
                <a:cs typeface="Calibri"/>
              </a:rPr>
              <a:t>I </a:t>
            </a:r>
            <a:r>
              <a:rPr sz="1800" spc="-10" dirty="0">
                <a:latin typeface="Calibri"/>
                <a:cs typeface="Calibri"/>
              </a:rPr>
              <a:t>False</a:t>
            </a:r>
            <a:endParaRPr sz="1800">
              <a:latin typeface="Calibri"/>
              <a:cs typeface="Calibri"/>
            </a:endParaRPr>
          </a:p>
        </p:txBody>
      </p:sp>
      <p:pic>
        <p:nvPicPr>
          <p:cNvPr id="10" name="object 10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73113" y="3597021"/>
            <a:ext cx="4732020" cy="1097279"/>
          </a:xfrm>
          <a:prstGeom prst="rect">
            <a:avLst/>
          </a:prstGeom>
        </p:spPr>
      </p:pic>
      <p:graphicFrame>
        <p:nvGraphicFramePr>
          <p:cNvPr id="11" name="object 1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53214597"/>
              </p:ext>
            </p:extLst>
          </p:nvPr>
        </p:nvGraphicFramePr>
        <p:xfrm>
          <a:off x="287089" y="3607994"/>
          <a:ext cx="4732020" cy="109601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3660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6601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5125"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x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= x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&amp;</a:t>
                      </a:r>
                      <a:r>
                        <a:rPr sz="1800" spc="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50" dirty="0">
                          <a:latin typeface="Calibri"/>
                          <a:cs typeface="Calibri"/>
                        </a:rPr>
                        <a:t>y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6350">
                      <a:solidFill>
                        <a:srgbClr val="4471C4"/>
                      </a:solidFill>
                      <a:prstDash val="solid"/>
                    </a:lnL>
                    <a:lnR w="6350">
                      <a:solidFill>
                        <a:srgbClr val="4471C4"/>
                      </a:solidFill>
                      <a:prstDash val="solid"/>
                    </a:lnR>
                    <a:lnT w="6350">
                      <a:solidFill>
                        <a:srgbClr val="4471C4"/>
                      </a:solidFill>
                      <a:prstDash val="solid"/>
                    </a:lnT>
                    <a:lnB w="6350">
                      <a:solidFill>
                        <a:srgbClr val="4471C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x</a:t>
                      </a:r>
                      <a:r>
                        <a:rPr sz="180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&amp;=</a:t>
                      </a:r>
                      <a:r>
                        <a:rPr sz="180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50" dirty="0">
                          <a:latin typeface="Calibri"/>
                          <a:cs typeface="Calibri"/>
                        </a:rPr>
                        <a:t>y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6350">
                      <a:solidFill>
                        <a:srgbClr val="4471C4"/>
                      </a:solidFill>
                      <a:prstDash val="solid"/>
                    </a:lnL>
                    <a:lnR w="6350">
                      <a:solidFill>
                        <a:srgbClr val="4471C4"/>
                      </a:solidFill>
                      <a:prstDash val="solid"/>
                    </a:lnR>
                    <a:lnT w="6350">
                      <a:solidFill>
                        <a:srgbClr val="4471C4"/>
                      </a:solidFill>
                      <a:prstDash val="solid"/>
                    </a:lnT>
                    <a:lnB w="6350">
                      <a:solidFill>
                        <a:srgbClr val="4471C4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x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= x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|</a:t>
                      </a:r>
                      <a:r>
                        <a:rPr sz="1800" spc="-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50" dirty="0">
                          <a:latin typeface="Calibri"/>
                          <a:cs typeface="Calibri"/>
                        </a:rPr>
                        <a:t>y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6350">
                      <a:solidFill>
                        <a:srgbClr val="4471C4"/>
                      </a:solidFill>
                      <a:prstDash val="solid"/>
                    </a:lnL>
                    <a:lnR w="6350">
                      <a:solidFill>
                        <a:srgbClr val="4471C4"/>
                      </a:solidFill>
                      <a:prstDash val="solid"/>
                    </a:lnR>
                    <a:lnT w="6350">
                      <a:solidFill>
                        <a:srgbClr val="4471C4"/>
                      </a:solidFill>
                      <a:prstDash val="solid"/>
                    </a:lnT>
                    <a:lnB w="6350">
                      <a:solidFill>
                        <a:srgbClr val="4471C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x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|=</a:t>
                      </a:r>
                      <a:r>
                        <a:rPr sz="1800" spc="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50" dirty="0">
                          <a:latin typeface="Calibri"/>
                          <a:cs typeface="Calibri"/>
                        </a:rPr>
                        <a:t>y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6350">
                      <a:solidFill>
                        <a:srgbClr val="4471C4"/>
                      </a:solidFill>
                      <a:prstDash val="solid"/>
                    </a:lnL>
                    <a:lnR w="6350">
                      <a:solidFill>
                        <a:srgbClr val="4471C4"/>
                      </a:solidFill>
                      <a:prstDash val="solid"/>
                    </a:lnR>
                    <a:lnT w="6350">
                      <a:solidFill>
                        <a:srgbClr val="4471C4"/>
                      </a:solidFill>
                      <a:prstDash val="solid"/>
                    </a:lnT>
                    <a:lnB w="6350">
                      <a:solidFill>
                        <a:srgbClr val="4471C4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125"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x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=</a:t>
                      </a:r>
                      <a:r>
                        <a:rPr sz="1800" spc="-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x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^</a:t>
                      </a:r>
                      <a:r>
                        <a:rPr sz="1800" spc="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50" dirty="0">
                          <a:latin typeface="Calibri"/>
                          <a:cs typeface="Calibri"/>
                        </a:rPr>
                        <a:t>y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6350">
                      <a:solidFill>
                        <a:srgbClr val="4471C4"/>
                      </a:solidFill>
                      <a:prstDash val="solid"/>
                    </a:lnL>
                    <a:lnR w="6350">
                      <a:solidFill>
                        <a:srgbClr val="4471C4"/>
                      </a:solidFill>
                      <a:prstDash val="solid"/>
                    </a:lnR>
                    <a:lnT w="6350">
                      <a:solidFill>
                        <a:srgbClr val="4471C4"/>
                      </a:solidFill>
                      <a:prstDash val="solid"/>
                    </a:lnT>
                    <a:lnB w="6350">
                      <a:solidFill>
                        <a:srgbClr val="4471C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x</a:t>
                      </a:r>
                      <a:r>
                        <a:rPr sz="180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^=</a:t>
                      </a:r>
                      <a:r>
                        <a:rPr sz="180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50" dirty="0">
                          <a:latin typeface="Calibri"/>
                          <a:cs typeface="Calibri"/>
                        </a:rPr>
                        <a:t>y</a:t>
                      </a:r>
                      <a:endParaRPr sz="1800" dirty="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6350">
                      <a:solidFill>
                        <a:srgbClr val="4471C4"/>
                      </a:solidFill>
                      <a:prstDash val="solid"/>
                    </a:lnL>
                    <a:lnR w="6350">
                      <a:solidFill>
                        <a:srgbClr val="4471C4"/>
                      </a:solidFill>
                      <a:prstDash val="solid"/>
                    </a:lnR>
                    <a:lnT w="6350">
                      <a:solidFill>
                        <a:srgbClr val="4471C4"/>
                      </a:solidFill>
                      <a:prstDash val="solid"/>
                    </a:lnT>
                    <a:lnB w="6350">
                      <a:solidFill>
                        <a:srgbClr val="4471C4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2" name="object 12"/>
          <p:cNvSpPr txBox="1"/>
          <p:nvPr/>
        </p:nvSpPr>
        <p:spPr>
          <a:xfrm>
            <a:off x="7571358" y="93726"/>
            <a:ext cx="269811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4471C4"/>
                </a:solidFill>
                <a:latin typeface="Calibri"/>
                <a:cs typeface="Calibri"/>
              </a:rPr>
              <a:t>How</a:t>
            </a:r>
            <a:r>
              <a:rPr sz="1800" spc="-25" dirty="0">
                <a:solidFill>
                  <a:srgbClr val="4471C4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4471C4"/>
                </a:solidFill>
                <a:latin typeface="Calibri"/>
                <a:cs typeface="Calibri"/>
              </a:rPr>
              <a:t>to</a:t>
            </a:r>
            <a:r>
              <a:rPr sz="1800" spc="-40" dirty="0">
                <a:solidFill>
                  <a:srgbClr val="4471C4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4471C4"/>
                </a:solidFill>
                <a:latin typeface="Calibri"/>
                <a:cs typeface="Calibri"/>
              </a:rPr>
              <a:t>deal</a:t>
            </a:r>
            <a:r>
              <a:rPr sz="1800" spc="-35" dirty="0">
                <a:solidFill>
                  <a:srgbClr val="4471C4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4471C4"/>
                </a:solidFill>
                <a:latin typeface="Calibri"/>
                <a:cs typeface="Calibri"/>
              </a:rPr>
              <a:t>with</a:t>
            </a:r>
            <a:r>
              <a:rPr sz="1800" spc="-25" dirty="0">
                <a:solidFill>
                  <a:srgbClr val="4471C4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4471C4"/>
                </a:solidFill>
                <a:latin typeface="Calibri"/>
                <a:cs typeface="Calibri"/>
              </a:rPr>
              <a:t>single</a:t>
            </a:r>
            <a:r>
              <a:rPr sz="1800" spc="-25" dirty="0">
                <a:solidFill>
                  <a:srgbClr val="4471C4"/>
                </a:solidFill>
                <a:latin typeface="Calibri"/>
                <a:cs typeface="Calibri"/>
              </a:rPr>
              <a:t> </a:t>
            </a:r>
            <a:r>
              <a:rPr sz="1800" spc="-20" dirty="0">
                <a:solidFill>
                  <a:srgbClr val="4471C4"/>
                </a:solidFill>
                <a:latin typeface="Calibri"/>
                <a:cs typeface="Calibri"/>
              </a:rPr>
              <a:t>bits?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6416166" y="592073"/>
            <a:ext cx="208153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Calibri"/>
                <a:cs typeface="Calibri"/>
              </a:rPr>
              <a:t>flag_register</a:t>
            </a:r>
            <a:r>
              <a:rPr sz="1800" spc="-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=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0x1234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6299961" y="1146175"/>
            <a:ext cx="50933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Calibri"/>
                <a:cs typeface="Calibri"/>
              </a:rPr>
              <a:t>flag_register </a:t>
            </a:r>
            <a:r>
              <a:rPr sz="1800" dirty="0">
                <a:latin typeface="Calibri"/>
                <a:cs typeface="Calibri"/>
              </a:rPr>
              <a:t>=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0000000000000000000000000000x000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6299961" y="1593596"/>
            <a:ext cx="1270635" cy="9829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8270" marR="32512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alibri"/>
                <a:cs typeface="Calibri"/>
              </a:rPr>
              <a:t>x</a:t>
            </a:r>
            <a:r>
              <a:rPr sz="1800" spc="-1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&amp;</a:t>
            </a:r>
            <a:r>
              <a:rPr sz="1800" spc="-1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1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=</a:t>
            </a:r>
            <a:r>
              <a:rPr sz="1800" spc="-10" dirty="0">
                <a:latin typeface="Calibri"/>
                <a:cs typeface="Calibri"/>
              </a:rPr>
              <a:t> </a:t>
            </a:r>
            <a:r>
              <a:rPr sz="1800" spc="-50" dirty="0">
                <a:latin typeface="Calibri"/>
                <a:cs typeface="Calibri"/>
              </a:rPr>
              <a:t>x </a:t>
            </a:r>
            <a:r>
              <a:rPr sz="1800" dirty="0">
                <a:latin typeface="Calibri"/>
                <a:cs typeface="Calibri"/>
              </a:rPr>
              <a:t>x</a:t>
            </a:r>
            <a:r>
              <a:rPr sz="1800" spc="-1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&amp;</a:t>
            </a:r>
            <a:r>
              <a:rPr sz="1800" spc="-1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0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=</a:t>
            </a:r>
            <a:r>
              <a:rPr sz="1800" spc="-10" dirty="0">
                <a:latin typeface="Calibri"/>
                <a:cs typeface="Calibri"/>
              </a:rPr>
              <a:t> </a:t>
            </a:r>
            <a:r>
              <a:rPr sz="1800" spc="-50" dirty="0">
                <a:latin typeface="Calibri"/>
                <a:cs typeface="Calibri"/>
              </a:rPr>
              <a:t>0</a:t>
            </a:r>
            <a:endParaRPr sz="1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55"/>
              </a:spcBef>
            </a:pPr>
            <a:r>
              <a:rPr sz="1800" dirty="0">
                <a:latin typeface="Calibri"/>
                <a:cs typeface="Calibri"/>
              </a:rPr>
              <a:t>the_mask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=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spc="-50" dirty="0">
                <a:latin typeface="Calibri"/>
                <a:cs typeface="Calibri"/>
              </a:rPr>
              <a:t>8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8517635" y="1586483"/>
            <a:ext cx="3177540" cy="1640205"/>
          </a:xfrm>
          <a:prstGeom prst="rect">
            <a:avLst/>
          </a:prstGeom>
          <a:solidFill>
            <a:srgbClr val="4471C4"/>
          </a:solidFill>
          <a:ln w="12700">
            <a:solidFill>
              <a:srgbClr val="2E528F"/>
            </a:solidFill>
          </a:ln>
        </p:spPr>
        <p:txBody>
          <a:bodyPr vert="horz" wrap="square" lIns="0" tIns="255904" rIns="0" bIns="0" rtlCol="0">
            <a:spAutoFit/>
          </a:bodyPr>
          <a:lstStyle/>
          <a:p>
            <a:pPr marL="301625" marR="509270" indent="-208915">
              <a:lnSpc>
                <a:spcPct val="100000"/>
              </a:lnSpc>
              <a:spcBef>
                <a:spcPts val="2014"/>
              </a:spcBef>
            </a:pP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if </a:t>
            </a:r>
            <a:r>
              <a:rPr sz="1800" spc="-10" dirty="0">
                <a:solidFill>
                  <a:srgbClr val="FFFFFF"/>
                </a:solidFill>
                <a:latin typeface="Calibri"/>
                <a:cs typeface="Calibri"/>
              </a:rPr>
              <a:t>flag_register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&amp;</a:t>
            </a:r>
            <a:r>
              <a:rPr sz="1800" spc="-10" dirty="0">
                <a:solidFill>
                  <a:srgbClr val="FFFFFF"/>
                </a:solidFill>
                <a:latin typeface="Calibri"/>
                <a:cs typeface="Calibri"/>
              </a:rPr>
              <a:t> the_mask: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# My</a:t>
            </a:r>
            <a:r>
              <a:rPr sz="1800" spc="-1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bit</a:t>
            </a:r>
            <a:r>
              <a:rPr sz="1800" spc="-1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is</a:t>
            </a:r>
            <a:r>
              <a:rPr sz="1800" spc="-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-20" dirty="0">
                <a:solidFill>
                  <a:srgbClr val="FFFFFF"/>
                </a:solidFill>
                <a:latin typeface="Calibri"/>
                <a:cs typeface="Calibri"/>
              </a:rPr>
              <a:t>set.</a:t>
            </a:r>
            <a:endParaRPr sz="1800">
              <a:latin typeface="Calibri"/>
              <a:cs typeface="Calibri"/>
            </a:endParaRPr>
          </a:p>
          <a:p>
            <a:pPr marL="92710">
              <a:lnSpc>
                <a:spcPct val="100000"/>
              </a:lnSpc>
            </a:pPr>
            <a:r>
              <a:rPr sz="1800" spc="-10" dirty="0">
                <a:solidFill>
                  <a:srgbClr val="FFFFFF"/>
                </a:solidFill>
                <a:latin typeface="Calibri"/>
                <a:cs typeface="Calibri"/>
              </a:rPr>
              <a:t>else:</a:t>
            </a:r>
            <a:endParaRPr sz="1800">
              <a:latin typeface="Calibri"/>
              <a:cs typeface="Calibri"/>
            </a:endParaRPr>
          </a:p>
          <a:p>
            <a:pPr marL="301625">
              <a:lnSpc>
                <a:spcPct val="100000"/>
              </a:lnSpc>
              <a:spcBef>
                <a:spcPts val="5"/>
              </a:spcBef>
            </a:pP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# My</a:t>
            </a:r>
            <a:r>
              <a:rPr sz="1800" spc="-1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bit</a:t>
            </a:r>
            <a:r>
              <a:rPr sz="1800" spc="-1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is</a:t>
            </a:r>
            <a:r>
              <a:rPr sz="1800" spc="-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Calibri"/>
                <a:cs typeface="Calibri"/>
              </a:rPr>
              <a:t>reset.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6416166" y="2839592"/>
            <a:ext cx="78422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alibri"/>
                <a:cs typeface="Calibri"/>
              </a:rPr>
              <a:t>x</a:t>
            </a:r>
            <a:r>
              <a:rPr sz="1800" spc="-1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|</a:t>
            </a:r>
            <a:r>
              <a:rPr sz="1800" spc="-1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1</a:t>
            </a:r>
            <a:r>
              <a:rPr sz="1800" spc="-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=</a:t>
            </a:r>
            <a:r>
              <a:rPr sz="1800" spc="10" dirty="0">
                <a:latin typeface="Calibri"/>
                <a:cs typeface="Calibri"/>
              </a:rPr>
              <a:t> </a:t>
            </a:r>
            <a:r>
              <a:rPr sz="1800" spc="-50" dirty="0">
                <a:latin typeface="Calibri"/>
                <a:cs typeface="Calibri"/>
              </a:rPr>
              <a:t>1 </a:t>
            </a:r>
            <a:r>
              <a:rPr sz="1800" dirty="0">
                <a:latin typeface="Calibri"/>
                <a:cs typeface="Calibri"/>
              </a:rPr>
              <a:t>x</a:t>
            </a:r>
            <a:r>
              <a:rPr sz="1800" spc="-1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|</a:t>
            </a:r>
            <a:r>
              <a:rPr sz="1800" spc="-1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0</a:t>
            </a:r>
            <a:r>
              <a:rPr sz="1800" spc="-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=</a:t>
            </a:r>
            <a:r>
              <a:rPr sz="1800" spc="10" dirty="0">
                <a:latin typeface="Calibri"/>
                <a:cs typeface="Calibri"/>
              </a:rPr>
              <a:t> </a:t>
            </a:r>
            <a:r>
              <a:rPr sz="1800" spc="-50" dirty="0">
                <a:latin typeface="Calibri"/>
                <a:cs typeface="Calibri"/>
              </a:rPr>
              <a:t>x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18" name="object 18"/>
          <p:cNvGrpSpPr/>
          <p:nvPr/>
        </p:nvGrpSpPr>
        <p:grpSpPr>
          <a:xfrm>
            <a:off x="7116826" y="4814061"/>
            <a:ext cx="5081905" cy="2050414"/>
            <a:chOff x="7116826" y="4814061"/>
            <a:chExt cx="5081905" cy="2050414"/>
          </a:xfrm>
        </p:grpSpPr>
        <p:sp>
          <p:nvSpPr>
            <p:cNvPr id="19" name="object 19"/>
            <p:cNvSpPr/>
            <p:nvPr/>
          </p:nvSpPr>
          <p:spPr>
            <a:xfrm>
              <a:off x="7123176" y="4820411"/>
              <a:ext cx="5069205" cy="2037714"/>
            </a:xfrm>
            <a:custGeom>
              <a:avLst/>
              <a:gdLst/>
              <a:ahLst/>
              <a:cxnLst/>
              <a:rect l="l" t="t" r="r" b="b"/>
              <a:pathLst>
                <a:path w="5069205" h="2037715">
                  <a:moveTo>
                    <a:pt x="5068824" y="0"/>
                  </a:moveTo>
                  <a:lnTo>
                    <a:pt x="0" y="0"/>
                  </a:lnTo>
                  <a:lnTo>
                    <a:pt x="0" y="2037588"/>
                  </a:lnTo>
                  <a:lnTo>
                    <a:pt x="5068824" y="2037588"/>
                  </a:lnTo>
                  <a:lnTo>
                    <a:pt x="5068824" y="0"/>
                  </a:lnTo>
                  <a:close/>
                </a:path>
              </a:pathLst>
            </a:custGeom>
            <a:solidFill>
              <a:srgbClr val="4471C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7123176" y="4820411"/>
              <a:ext cx="5069205" cy="2037714"/>
            </a:xfrm>
            <a:custGeom>
              <a:avLst/>
              <a:gdLst/>
              <a:ahLst/>
              <a:cxnLst/>
              <a:rect l="l" t="t" r="r" b="b"/>
              <a:pathLst>
                <a:path w="5069205" h="2037715">
                  <a:moveTo>
                    <a:pt x="0" y="2037588"/>
                  </a:moveTo>
                  <a:lnTo>
                    <a:pt x="5068824" y="2037588"/>
                  </a:lnTo>
                  <a:lnTo>
                    <a:pt x="5068824" y="0"/>
                  </a:lnTo>
                  <a:lnTo>
                    <a:pt x="0" y="0"/>
                  </a:lnTo>
                  <a:lnTo>
                    <a:pt x="0" y="2037588"/>
                  </a:lnTo>
                  <a:close/>
                </a:path>
              </a:pathLst>
            </a:custGeom>
            <a:ln w="12700">
              <a:solidFill>
                <a:srgbClr val="2E528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1" name="object 21"/>
          <p:cNvSpPr txBox="1"/>
          <p:nvPr/>
        </p:nvSpPr>
        <p:spPr>
          <a:xfrm>
            <a:off x="6416166" y="3844797"/>
            <a:ext cx="4669155" cy="25425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alibri"/>
                <a:cs typeface="Calibri"/>
              </a:rPr>
              <a:t>x</a:t>
            </a:r>
            <a:r>
              <a:rPr sz="1800" spc="-1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^</a:t>
            </a:r>
            <a:r>
              <a:rPr sz="1800" spc="-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1 =</a:t>
            </a:r>
            <a:r>
              <a:rPr sz="1800" spc="-10" dirty="0">
                <a:latin typeface="Calibri"/>
                <a:cs typeface="Calibri"/>
              </a:rPr>
              <a:t> </a:t>
            </a:r>
            <a:r>
              <a:rPr sz="1800" spc="-35" dirty="0">
                <a:latin typeface="Calibri"/>
                <a:cs typeface="Calibri"/>
              </a:rPr>
              <a:t>~x</a:t>
            </a:r>
            <a:endParaRPr sz="1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1800" dirty="0">
                <a:latin typeface="Calibri"/>
                <a:cs typeface="Calibri"/>
              </a:rPr>
              <a:t>x</a:t>
            </a:r>
            <a:r>
              <a:rPr sz="1800" spc="-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^</a:t>
            </a:r>
            <a:r>
              <a:rPr sz="1800" spc="-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0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=</a:t>
            </a:r>
            <a:r>
              <a:rPr sz="1800" spc="-5" dirty="0">
                <a:latin typeface="Calibri"/>
                <a:cs typeface="Calibri"/>
              </a:rPr>
              <a:t> </a:t>
            </a:r>
            <a:r>
              <a:rPr sz="1800" spc="-50" dirty="0">
                <a:latin typeface="Calibri"/>
                <a:cs typeface="Calibri"/>
              </a:rPr>
              <a:t>x</a:t>
            </a:r>
            <a:endParaRPr sz="1800">
              <a:latin typeface="Calibri"/>
              <a:cs typeface="Calibri"/>
            </a:endParaRPr>
          </a:p>
          <a:p>
            <a:pPr marL="1167765">
              <a:lnSpc>
                <a:spcPct val="100000"/>
              </a:lnSpc>
              <a:spcBef>
                <a:spcPts val="605"/>
              </a:spcBef>
            </a:pPr>
            <a:r>
              <a:rPr sz="1800" b="1" dirty="0">
                <a:solidFill>
                  <a:srgbClr val="4471C4"/>
                </a:solidFill>
                <a:latin typeface="Calibri"/>
                <a:cs typeface="Calibri"/>
              </a:rPr>
              <a:t>Binary</a:t>
            </a:r>
            <a:r>
              <a:rPr sz="1800" b="1" spc="-30" dirty="0">
                <a:solidFill>
                  <a:srgbClr val="4471C4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4471C4"/>
                </a:solidFill>
                <a:latin typeface="Calibri"/>
                <a:cs typeface="Calibri"/>
              </a:rPr>
              <a:t>left</a:t>
            </a:r>
            <a:r>
              <a:rPr sz="1800" b="1" spc="-10" dirty="0">
                <a:solidFill>
                  <a:srgbClr val="4471C4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4471C4"/>
                </a:solidFill>
                <a:latin typeface="Calibri"/>
                <a:cs typeface="Calibri"/>
              </a:rPr>
              <a:t>shift</a:t>
            </a:r>
            <a:r>
              <a:rPr sz="1800" b="1" spc="-25" dirty="0">
                <a:solidFill>
                  <a:srgbClr val="4471C4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4471C4"/>
                </a:solidFill>
                <a:latin typeface="Calibri"/>
                <a:cs typeface="Calibri"/>
              </a:rPr>
              <a:t>and</a:t>
            </a:r>
            <a:r>
              <a:rPr sz="1800" b="1" spc="-15" dirty="0">
                <a:solidFill>
                  <a:srgbClr val="4471C4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4471C4"/>
                </a:solidFill>
                <a:latin typeface="Calibri"/>
                <a:cs typeface="Calibri"/>
              </a:rPr>
              <a:t>binary</a:t>
            </a:r>
            <a:r>
              <a:rPr sz="1800" b="1" spc="-35" dirty="0">
                <a:solidFill>
                  <a:srgbClr val="4471C4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4471C4"/>
                </a:solidFill>
                <a:latin typeface="Calibri"/>
                <a:cs typeface="Calibri"/>
              </a:rPr>
              <a:t>right</a:t>
            </a:r>
            <a:r>
              <a:rPr sz="1800" b="1" spc="-35" dirty="0">
                <a:solidFill>
                  <a:srgbClr val="4471C4"/>
                </a:solidFill>
                <a:latin typeface="Calibri"/>
                <a:cs typeface="Calibri"/>
              </a:rPr>
              <a:t> </a:t>
            </a:r>
            <a:r>
              <a:rPr sz="1800" b="1" spc="-10" dirty="0">
                <a:solidFill>
                  <a:srgbClr val="4471C4"/>
                </a:solidFill>
                <a:latin typeface="Calibri"/>
                <a:cs typeface="Calibri"/>
              </a:rPr>
              <a:t>shift</a:t>
            </a:r>
            <a:endParaRPr sz="18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889"/>
              </a:spcBef>
            </a:pPr>
            <a:endParaRPr sz="1800">
              <a:latin typeface="Calibri"/>
              <a:cs typeface="Calibri"/>
            </a:endParaRPr>
          </a:p>
          <a:p>
            <a:pPr marL="798195">
              <a:lnSpc>
                <a:spcPct val="100000"/>
              </a:lnSpc>
            </a:pP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var</a:t>
            </a:r>
            <a:r>
              <a:rPr sz="1800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=</a:t>
            </a:r>
            <a:r>
              <a:rPr sz="1800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-25" dirty="0">
                <a:solidFill>
                  <a:srgbClr val="FFFFFF"/>
                </a:solidFill>
                <a:latin typeface="Calibri"/>
                <a:cs typeface="Calibri"/>
              </a:rPr>
              <a:t>17</a:t>
            </a:r>
            <a:endParaRPr sz="1800">
              <a:latin typeface="Calibri"/>
              <a:cs typeface="Calibri"/>
            </a:endParaRPr>
          </a:p>
          <a:p>
            <a:pPr marL="798195">
              <a:lnSpc>
                <a:spcPct val="100000"/>
              </a:lnSpc>
            </a:pP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var_right</a:t>
            </a:r>
            <a:r>
              <a:rPr sz="18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=</a:t>
            </a:r>
            <a:r>
              <a:rPr sz="18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var</a:t>
            </a:r>
            <a:r>
              <a:rPr sz="18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&gt;&gt;</a:t>
            </a:r>
            <a:r>
              <a:rPr sz="1800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-50" dirty="0">
                <a:solidFill>
                  <a:srgbClr val="FFFFFF"/>
                </a:solidFill>
                <a:latin typeface="Calibri"/>
                <a:cs typeface="Calibri"/>
              </a:rPr>
              <a:t>1</a:t>
            </a:r>
            <a:endParaRPr sz="1800">
              <a:latin typeface="Calibri"/>
              <a:cs typeface="Calibri"/>
            </a:endParaRPr>
          </a:p>
          <a:p>
            <a:pPr marL="798195">
              <a:lnSpc>
                <a:spcPct val="100000"/>
              </a:lnSpc>
            </a:pP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var_left</a:t>
            </a:r>
            <a:r>
              <a:rPr sz="18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=</a:t>
            </a:r>
            <a:r>
              <a:rPr sz="1800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var</a:t>
            </a:r>
            <a:r>
              <a:rPr sz="1800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&lt;&lt;</a:t>
            </a:r>
            <a:r>
              <a:rPr sz="18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-50" dirty="0">
                <a:solidFill>
                  <a:srgbClr val="FFFFFF"/>
                </a:solidFill>
                <a:latin typeface="Calibri"/>
                <a:cs typeface="Calibri"/>
              </a:rPr>
              <a:t>2</a:t>
            </a:r>
            <a:endParaRPr sz="1800">
              <a:latin typeface="Calibri"/>
              <a:cs typeface="Calibri"/>
            </a:endParaRPr>
          </a:p>
          <a:p>
            <a:pPr marL="798195">
              <a:lnSpc>
                <a:spcPct val="100000"/>
              </a:lnSpc>
              <a:spcBef>
                <a:spcPts val="5"/>
              </a:spcBef>
            </a:pPr>
            <a:r>
              <a:rPr sz="1800" spc="-25" dirty="0">
                <a:solidFill>
                  <a:srgbClr val="FFFFFF"/>
                </a:solidFill>
                <a:latin typeface="Calibri"/>
                <a:cs typeface="Calibri"/>
              </a:rPr>
              <a:t>print(var,</a:t>
            </a:r>
            <a:r>
              <a:rPr sz="18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var_left,</a:t>
            </a:r>
            <a:r>
              <a:rPr sz="1800" spc="-6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Calibri"/>
                <a:cs typeface="Calibri"/>
              </a:rPr>
              <a:t>var_right)</a:t>
            </a:r>
            <a:endParaRPr sz="1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8739" y="154051"/>
            <a:ext cx="214503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solidFill>
                  <a:srgbClr val="4471C4"/>
                </a:solidFill>
                <a:latin typeface="Calibri"/>
                <a:cs typeface="Calibri"/>
              </a:rPr>
              <a:t>Why</a:t>
            </a:r>
            <a:r>
              <a:rPr sz="1800" b="1" spc="-20" dirty="0">
                <a:solidFill>
                  <a:srgbClr val="4471C4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4471C4"/>
                </a:solidFill>
                <a:latin typeface="Calibri"/>
                <a:cs typeface="Calibri"/>
              </a:rPr>
              <a:t>do</a:t>
            </a:r>
            <a:r>
              <a:rPr sz="1800" b="1" spc="-25" dirty="0">
                <a:solidFill>
                  <a:srgbClr val="4471C4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4471C4"/>
                </a:solidFill>
                <a:latin typeface="Calibri"/>
                <a:cs typeface="Calibri"/>
              </a:rPr>
              <a:t>we</a:t>
            </a:r>
            <a:r>
              <a:rPr sz="1800" b="1" spc="-30" dirty="0">
                <a:solidFill>
                  <a:srgbClr val="4471C4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4471C4"/>
                </a:solidFill>
                <a:latin typeface="Calibri"/>
                <a:cs typeface="Calibri"/>
              </a:rPr>
              <a:t>need</a:t>
            </a:r>
            <a:r>
              <a:rPr sz="1800" b="1" spc="-60" dirty="0">
                <a:solidFill>
                  <a:srgbClr val="4471C4"/>
                </a:solidFill>
                <a:latin typeface="Calibri"/>
                <a:cs typeface="Calibri"/>
              </a:rPr>
              <a:t> </a:t>
            </a:r>
            <a:r>
              <a:rPr sz="1800" b="1" spc="-10" dirty="0">
                <a:solidFill>
                  <a:srgbClr val="4471C4"/>
                </a:solidFill>
                <a:latin typeface="Calibri"/>
                <a:cs typeface="Calibri"/>
              </a:rPr>
              <a:t>lists?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0" y="673608"/>
            <a:ext cx="4058920" cy="3386454"/>
          </a:xfrm>
          <a:prstGeom prst="rect">
            <a:avLst/>
          </a:prstGeom>
          <a:solidFill>
            <a:srgbClr val="4471C4"/>
          </a:solidFill>
          <a:ln w="12700">
            <a:solidFill>
              <a:srgbClr val="2E528F"/>
            </a:solidFill>
          </a:ln>
        </p:spPr>
        <p:txBody>
          <a:bodyPr vert="horz" wrap="square" lIns="0" tIns="31750" rIns="0" bIns="0" rtlCol="0">
            <a:spAutoFit/>
          </a:bodyPr>
          <a:lstStyle/>
          <a:p>
            <a:pPr marL="91440" marR="2324735" algn="just">
              <a:lnSpc>
                <a:spcPct val="100000"/>
              </a:lnSpc>
              <a:spcBef>
                <a:spcPts val="250"/>
              </a:spcBef>
            </a:pP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var1</a:t>
            </a:r>
            <a:r>
              <a:rPr sz="1800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=</a:t>
            </a:r>
            <a:r>
              <a:rPr sz="1800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Calibri"/>
                <a:cs typeface="Calibri"/>
              </a:rPr>
              <a:t>int(input())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var2</a:t>
            </a:r>
            <a:r>
              <a:rPr sz="1800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=</a:t>
            </a:r>
            <a:r>
              <a:rPr sz="1800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Calibri"/>
                <a:cs typeface="Calibri"/>
              </a:rPr>
              <a:t>int(input())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var3</a:t>
            </a:r>
            <a:r>
              <a:rPr sz="1800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=</a:t>
            </a:r>
            <a:r>
              <a:rPr sz="1800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Calibri"/>
                <a:cs typeface="Calibri"/>
              </a:rPr>
              <a:t>int(input())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var4</a:t>
            </a:r>
            <a:r>
              <a:rPr sz="1800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=</a:t>
            </a:r>
            <a:r>
              <a:rPr sz="1800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Calibri"/>
                <a:cs typeface="Calibri"/>
              </a:rPr>
              <a:t>int(input())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var5</a:t>
            </a:r>
            <a:r>
              <a:rPr sz="1800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=</a:t>
            </a:r>
            <a:r>
              <a:rPr sz="1800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Calibri"/>
                <a:cs typeface="Calibri"/>
              </a:rPr>
              <a:t>int(input())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var6</a:t>
            </a:r>
            <a:r>
              <a:rPr sz="1800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=</a:t>
            </a:r>
            <a:r>
              <a:rPr sz="1800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Calibri"/>
                <a:cs typeface="Calibri"/>
              </a:rPr>
              <a:t>int(input())</a:t>
            </a:r>
            <a:endParaRPr sz="1800">
              <a:latin typeface="Calibri"/>
              <a:cs typeface="Calibri"/>
            </a:endParaRPr>
          </a:p>
          <a:p>
            <a:pPr marL="91440">
              <a:lnSpc>
                <a:spcPct val="100000"/>
              </a:lnSpc>
              <a:spcBef>
                <a:spcPts val="5"/>
              </a:spcBef>
            </a:pPr>
            <a:r>
              <a:rPr sz="1800" spc="-50" dirty="0">
                <a:solidFill>
                  <a:srgbClr val="FFFFFF"/>
                </a:solidFill>
                <a:latin typeface="Calibri"/>
                <a:cs typeface="Calibri"/>
              </a:rPr>
              <a:t>:</a:t>
            </a:r>
            <a:endParaRPr sz="1800">
              <a:latin typeface="Calibri"/>
              <a:cs typeface="Calibri"/>
            </a:endParaRPr>
          </a:p>
          <a:p>
            <a:pPr marL="91440">
              <a:lnSpc>
                <a:spcPct val="100000"/>
              </a:lnSpc>
            </a:pPr>
            <a:r>
              <a:rPr sz="1800" spc="-50" dirty="0">
                <a:solidFill>
                  <a:srgbClr val="FFFFFF"/>
                </a:solidFill>
                <a:latin typeface="Calibri"/>
                <a:cs typeface="Calibri"/>
              </a:rPr>
              <a:t>:</a:t>
            </a:r>
            <a:endParaRPr sz="1800">
              <a:latin typeface="Calibri"/>
              <a:cs typeface="Calibri"/>
            </a:endParaRPr>
          </a:p>
          <a:p>
            <a:pPr marL="91440" marR="241300">
              <a:lnSpc>
                <a:spcPct val="100000"/>
              </a:lnSpc>
            </a:pPr>
            <a:r>
              <a:rPr sz="1800" b="1" dirty="0">
                <a:solidFill>
                  <a:srgbClr val="FFFFFF"/>
                </a:solidFill>
                <a:latin typeface="Calibri"/>
                <a:cs typeface="Calibri"/>
              </a:rPr>
              <a:t>list</a:t>
            </a:r>
            <a:r>
              <a:rPr sz="1800" b="1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FFFFFF"/>
                </a:solidFill>
                <a:latin typeface="Calibri"/>
                <a:cs typeface="Calibri"/>
              </a:rPr>
              <a:t>is</a:t>
            </a:r>
            <a:r>
              <a:rPr sz="1800" b="1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sz="1800" b="1" spc="-1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FFFFFF"/>
                </a:solidFill>
                <a:latin typeface="Calibri"/>
                <a:cs typeface="Calibri"/>
              </a:rPr>
              <a:t>collection</a:t>
            </a:r>
            <a:r>
              <a:rPr sz="1800" b="1" spc="-6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FFFFFF"/>
                </a:solidFill>
                <a:latin typeface="Calibri"/>
                <a:cs typeface="Calibri"/>
              </a:rPr>
              <a:t>of</a:t>
            </a:r>
            <a:r>
              <a:rPr sz="1800" b="1" spc="-1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FFFFFF"/>
                </a:solidFill>
                <a:latin typeface="Calibri"/>
                <a:cs typeface="Calibri"/>
              </a:rPr>
              <a:t>elements,</a:t>
            </a:r>
            <a:r>
              <a:rPr sz="1800" b="1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FFFFFF"/>
                </a:solidFill>
                <a:latin typeface="Calibri"/>
                <a:cs typeface="Calibri"/>
              </a:rPr>
              <a:t>but</a:t>
            </a:r>
            <a:r>
              <a:rPr sz="1800" b="1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b="1" spc="-20" dirty="0">
                <a:solidFill>
                  <a:srgbClr val="FFFFFF"/>
                </a:solidFill>
                <a:latin typeface="Calibri"/>
                <a:cs typeface="Calibri"/>
              </a:rPr>
              <a:t>each </a:t>
            </a:r>
            <a:r>
              <a:rPr sz="1800" b="1" dirty="0">
                <a:solidFill>
                  <a:srgbClr val="FFFFFF"/>
                </a:solidFill>
                <a:latin typeface="Calibri"/>
                <a:cs typeface="Calibri"/>
              </a:rPr>
              <a:t>element</a:t>
            </a:r>
            <a:r>
              <a:rPr sz="1800" b="1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FFFFFF"/>
                </a:solidFill>
                <a:latin typeface="Calibri"/>
                <a:cs typeface="Calibri"/>
              </a:rPr>
              <a:t>is</a:t>
            </a:r>
            <a:r>
              <a:rPr sz="1800" b="1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sz="1800" b="1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b="1" spc="-10" dirty="0">
                <a:solidFill>
                  <a:srgbClr val="FFFFFF"/>
                </a:solidFill>
                <a:latin typeface="Calibri"/>
                <a:cs typeface="Calibri"/>
              </a:rPr>
              <a:t>scalar</a:t>
            </a:r>
            <a:r>
              <a:rPr sz="1800" spc="-10" dirty="0">
                <a:solidFill>
                  <a:srgbClr val="FFFFFF"/>
                </a:solidFill>
                <a:latin typeface="Calibri"/>
                <a:cs typeface="Calibri"/>
              </a:rPr>
              <a:t>.</a:t>
            </a:r>
            <a:endParaRPr sz="1800">
              <a:latin typeface="Calibri"/>
              <a:cs typeface="Calibri"/>
            </a:endParaRPr>
          </a:p>
          <a:p>
            <a:pPr marL="91440">
              <a:lnSpc>
                <a:spcPct val="100000"/>
              </a:lnSpc>
              <a:spcBef>
                <a:spcPts val="2160"/>
              </a:spcBef>
            </a:pP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numbers</a:t>
            </a:r>
            <a:r>
              <a:rPr sz="1800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=</a:t>
            </a:r>
            <a:r>
              <a:rPr sz="1800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[10,</a:t>
            </a:r>
            <a:r>
              <a:rPr sz="1800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5,</a:t>
            </a:r>
            <a:r>
              <a:rPr sz="1800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7,</a:t>
            </a:r>
            <a:r>
              <a:rPr sz="1800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2,</a:t>
            </a:r>
            <a:r>
              <a:rPr sz="18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-25" dirty="0">
                <a:solidFill>
                  <a:srgbClr val="FFFFFF"/>
                </a:solidFill>
                <a:latin typeface="Calibri"/>
                <a:cs typeface="Calibri"/>
              </a:rPr>
              <a:t>1]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8506" y="4174617"/>
            <a:ext cx="58166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solidFill>
                  <a:srgbClr val="4471C4"/>
                </a:solidFill>
                <a:latin typeface="Calibri"/>
                <a:cs typeface="Calibri"/>
              </a:rPr>
              <a:t>How</a:t>
            </a:r>
            <a:r>
              <a:rPr sz="1800" b="1" spc="-25" dirty="0">
                <a:solidFill>
                  <a:srgbClr val="4471C4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4471C4"/>
                </a:solidFill>
                <a:latin typeface="Calibri"/>
                <a:cs typeface="Calibri"/>
              </a:rPr>
              <a:t>do</a:t>
            </a:r>
            <a:r>
              <a:rPr sz="1800" b="1" spc="-35" dirty="0">
                <a:solidFill>
                  <a:srgbClr val="4471C4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4471C4"/>
                </a:solidFill>
                <a:latin typeface="Calibri"/>
                <a:cs typeface="Calibri"/>
              </a:rPr>
              <a:t>you</a:t>
            </a:r>
            <a:r>
              <a:rPr sz="1800" b="1" spc="-20" dirty="0">
                <a:solidFill>
                  <a:srgbClr val="4471C4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4471C4"/>
                </a:solidFill>
                <a:latin typeface="Calibri"/>
                <a:cs typeface="Calibri"/>
              </a:rPr>
              <a:t>change</a:t>
            </a:r>
            <a:r>
              <a:rPr sz="1800" b="1" spc="-35" dirty="0">
                <a:solidFill>
                  <a:srgbClr val="4471C4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4471C4"/>
                </a:solidFill>
                <a:latin typeface="Calibri"/>
                <a:cs typeface="Calibri"/>
              </a:rPr>
              <a:t>the</a:t>
            </a:r>
            <a:r>
              <a:rPr sz="1800" b="1" spc="-35" dirty="0">
                <a:solidFill>
                  <a:srgbClr val="4471C4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4471C4"/>
                </a:solidFill>
                <a:latin typeface="Calibri"/>
                <a:cs typeface="Calibri"/>
              </a:rPr>
              <a:t>value</a:t>
            </a:r>
            <a:r>
              <a:rPr sz="1800" b="1" spc="-35" dirty="0">
                <a:solidFill>
                  <a:srgbClr val="4471C4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4471C4"/>
                </a:solidFill>
                <a:latin typeface="Calibri"/>
                <a:cs typeface="Calibri"/>
              </a:rPr>
              <a:t>of</a:t>
            </a:r>
            <a:r>
              <a:rPr sz="1800" b="1" spc="-10" dirty="0">
                <a:solidFill>
                  <a:srgbClr val="4471C4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4471C4"/>
                </a:solidFill>
                <a:latin typeface="Calibri"/>
                <a:cs typeface="Calibri"/>
              </a:rPr>
              <a:t>a</a:t>
            </a:r>
            <a:r>
              <a:rPr sz="1800" b="1" spc="-15" dirty="0">
                <a:solidFill>
                  <a:srgbClr val="4471C4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4471C4"/>
                </a:solidFill>
                <a:latin typeface="Calibri"/>
                <a:cs typeface="Calibri"/>
              </a:rPr>
              <a:t>chosen</a:t>
            </a:r>
            <a:r>
              <a:rPr sz="1800" b="1" spc="-20" dirty="0">
                <a:solidFill>
                  <a:srgbClr val="4471C4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4471C4"/>
                </a:solidFill>
                <a:latin typeface="Calibri"/>
                <a:cs typeface="Calibri"/>
              </a:rPr>
              <a:t>element</a:t>
            </a:r>
            <a:r>
              <a:rPr sz="1800" b="1" spc="-55" dirty="0">
                <a:solidFill>
                  <a:srgbClr val="4471C4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4471C4"/>
                </a:solidFill>
                <a:latin typeface="Calibri"/>
                <a:cs typeface="Calibri"/>
              </a:rPr>
              <a:t>in</a:t>
            </a:r>
            <a:r>
              <a:rPr sz="1800" b="1" spc="-20" dirty="0">
                <a:solidFill>
                  <a:srgbClr val="4471C4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4471C4"/>
                </a:solidFill>
                <a:latin typeface="Calibri"/>
                <a:cs typeface="Calibri"/>
              </a:rPr>
              <a:t>the</a:t>
            </a:r>
            <a:r>
              <a:rPr sz="1800" b="1" spc="-20" dirty="0">
                <a:solidFill>
                  <a:srgbClr val="4471C4"/>
                </a:solidFill>
                <a:latin typeface="Calibri"/>
                <a:cs typeface="Calibri"/>
              </a:rPr>
              <a:t> </a:t>
            </a:r>
            <a:r>
              <a:rPr sz="1800" b="1" spc="-10" dirty="0">
                <a:solidFill>
                  <a:srgbClr val="4471C4"/>
                </a:solidFill>
                <a:latin typeface="Calibri"/>
                <a:cs typeface="Calibri"/>
              </a:rPr>
              <a:t>list?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-6350" y="4518404"/>
            <a:ext cx="7192645" cy="2250440"/>
            <a:chOff x="-6350" y="4518404"/>
            <a:chExt cx="7192645" cy="2250440"/>
          </a:xfrm>
        </p:grpSpPr>
        <p:sp>
          <p:nvSpPr>
            <p:cNvPr id="6" name="object 6"/>
            <p:cNvSpPr/>
            <p:nvPr/>
          </p:nvSpPr>
          <p:spPr>
            <a:xfrm>
              <a:off x="0" y="4524754"/>
              <a:ext cx="7179945" cy="2237740"/>
            </a:xfrm>
            <a:custGeom>
              <a:avLst/>
              <a:gdLst/>
              <a:ahLst/>
              <a:cxnLst/>
              <a:rect l="l" t="t" r="r" b="b"/>
              <a:pathLst>
                <a:path w="7179945" h="2237740">
                  <a:moveTo>
                    <a:pt x="7179564" y="0"/>
                  </a:moveTo>
                  <a:lnTo>
                    <a:pt x="0" y="0"/>
                  </a:lnTo>
                  <a:lnTo>
                    <a:pt x="0" y="2237232"/>
                  </a:lnTo>
                  <a:lnTo>
                    <a:pt x="7179564" y="2237232"/>
                  </a:lnTo>
                  <a:lnTo>
                    <a:pt x="7179564" y="0"/>
                  </a:lnTo>
                  <a:close/>
                </a:path>
              </a:pathLst>
            </a:custGeom>
            <a:solidFill>
              <a:srgbClr val="4471C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0" y="4524754"/>
              <a:ext cx="7179945" cy="2237740"/>
            </a:xfrm>
            <a:custGeom>
              <a:avLst/>
              <a:gdLst/>
              <a:ahLst/>
              <a:cxnLst/>
              <a:rect l="l" t="t" r="r" b="b"/>
              <a:pathLst>
                <a:path w="7179945" h="2237740">
                  <a:moveTo>
                    <a:pt x="0" y="2237232"/>
                  </a:moveTo>
                  <a:lnTo>
                    <a:pt x="7179564" y="2237232"/>
                  </a:lnTo>
                  <a:lnTo>
                    <a:pt x="7179564" y="0"/>
                  </a:lnTo>
                  <a:lnTo>
                    <a:pt x="0" y="0"/>
                  </a:lnTo>
                  <a:lnTo>
                    <a:pt x="0" y="2237232"/>
                  </a:lnTo>
                  <a:close/>
                </a:path>
              </a:pathLst>
            </a:custGeom>
            <a:ln w="12700">
              <a:solidFill>
                <a:srgbClr val="2E528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91439" y="4656582"/>
            <a:ext cx="232664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numbers</a:t>
            </a:r>
            <a:r>
              <a:rPr sz="1800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=</a:t>
            </a:r>
            <a:r>
              <a:rPr sz="1800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[10,</a:t>
            </a:r>
            <a:r>
              <a:rPr sz="1800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5,</a:t>
            </a:r>
            <a:r>
              <a:rPr sz="1800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7,</a:t>
            </a:r>
            <a:r>
              <a:rPr sz="1800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2,</a:t>
            </a:r>
            <a:r>
              <a:rPr sz="18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-25" dirty="0">
                <a:solidFill>
                  <a:srgbClr val="FFFFFF"/>
                </a:solidFill>
                <a:latin typeface="Calibri"/>
                <a:cs typeface="Calibri"/>
              </a:rPr>
              <a:t>1]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91439" y="5205221"/>
            <a:ext cx="3364229" cy="13976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R="639445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numbers[0]</a:t>
            </a:r>
            <a:r>
              <a:rPr sz="18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=</a:t>
            </a:r>
            <a:r>
              <a:rPr sz="1800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111</a:t>
            </a:r>
            <a:r>
              <a:rPr sz="18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&lt;-</a:t>
            </a:r>
            <a:r>
              <a:rPr sz="18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Calibri"/>
                <a:cs typeface="Calibri"/>
              </a:rPr>
              <a:t>indexing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numbers[1]</a:t>
            </a:r>
            <a:r>
              <a:rPr sz="18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=</a:t>
            </a:r>
            <a:r>
              <a:rPr sz="1800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Calibri"/>
                <a:cs typeface="Calibri"/>
              </a:rPr>
              <a:t>numbers[4] print(numbers) print(numbers[0])</a:t>
            </a:r>
            <a:endParaRPr sz="180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r>
              <a:rPr sz="1800" spc="-10" dirty="0">
                <a:solidFill>
                  <a:srgbClr val="FFFFFF"/>
                </a:solidFill>
                <a:latin typeface="Calibri"/>
                <a:cs typeface="Calibri"/>
              </a:rPr>
              <a:t>print("\nList</a:t>
            </a:r>
            <a:r>
              <a:rPr sz="18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length:",</a:t>
            </a:r>
            <a:r>
              <a:rPr sz="18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FF0000"/>
                </a:solidFill>
                <a:latin typeface="Calibri"/>
                <a:cs typeface="Calibri"/>
              </a:rPr>
              <a:t>len</a:t>
            </a:r>
            <a:r>
              <a:rPr sz="1800" spc="-10" dirty="0">
                <a:solidFill>
                  <a:srgbClr val="FFFFFF"/>
                </a:solidFill>
                <a:latin typeface="Calibri"/>
                <a:cs typeface="Calibri"/>
              </a:rPr>
              <a:t>(numbers))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title"/>
          </p:nvPr>
        </p:nvSpPr>
        <p:spPr>
          <a:xfrm>
            <a:off x="7402445" y="74232"/>
            <a:ext cx="195897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>
                <a:solidFill>
                  <a:srgbClr val="4471C4"/>
                </a:solidFill>
              </a:rPr>
              <a:t>The</a:t>
            </a:r>
            <a:r>
              <a:rPr spc="10" dirty="0">
                <a:solidFill>
                  <a:srgbClr val="4471C4"/>
                </a:solidFill>
              </a:rPr>
              <a:t> </a:t>
            </a:r>
            <a:r>
              <a:rPr spc="-10" dirty="0">
                <a:solidFill>
                  <a:srgbClr val="4471C4"/>
                </a:solidFill>
                <a:latin typeface="Courier New"/>
                <a:cs typeface="Courier New"/>
              </a:rPr>
              <a:t>len()</a:t>
            </a:r>
            <a:r>
              <a:rPr spc="-690" dirty="0">
                <a:solidFill>
                  <a:srgbClr val="4471C4"/>
                </a:solidFill>
                <a:latin typeface="Courier New"/>
                <a:cs typeface="Courier New"/>
              </a:rPr>
              <a:t> </a:t>
            </a:r>
            <a:r>
              <a:rPr spc="-10" dirty="0">
                <a:solidFill>
                  <a:srgbClr val="4471C4"/>
                </a:solidFill>
              </a:rPr>
              <a:t>function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4884420" y="419100"/>
            <a:ext cx="7179945" cy="2487295"/>
          </a:xfrm>
          <a:prstGeom prst="rect">
            <a:avLst/>
          </a:prstGeom>
          <a:solidFill>
            <a:srgbClr val="4471C4"/>
          </a:solidFill>
          <a:ln w="12700">
            <a:solidFill>
              <a:srgbClr val="2E528F"/>
            </a:solidFill>
          </a:ln>
        </p:spPr>
        <p:txBody>
          <a:bodyPr vert="horz" wrap="square" lIns="0" tIns="17399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370"/>
              </a:spcBef>
            </a:pPr>
            <a:endParaRPr sz="1400">
              <a:latin typeface="Times New Roman"/>
              <a:cs typeface="Times New Roman"/>
            </a:endParaRPr>
          </a:p>
          <a:p>
            <a:pPr marL="92075" marR="417195">
              <a:lnSpc>
                <a:spcPct val="100000"/>
              </a:lnSpc>
            </a:pPr>
            <a:r>
              <a:rPr sz="1400" dirty="0">
                <a:solidFill>
                  <a:srgbClr val="FFFFFF"/>
                </a:solidFill>
                <a:latin typeface="Calibri"/>
                <a:cs typeface="Calibri"/>
              </a:rPr>
              <a:t>The</a:t>
            </a:r>
            <a:r>
              <a:rPr sz="14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FFFFFF"/>
                </a:solidFill>
                <a:latin typeface="Calibri"/>
                <a:cs typeface="Calibri"/>
              </a:rPr>
              <a:t>length</a:t>
            </a:r>
            <a:r>
              <a:rPr sz="1400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FFFFFF"/>
                </a:solidFill>
                <a:latin typeface="Calibri"/>
                <a:cs typeface="Calibri"/>
              </a:rPr>
              <a:t>of</a:t>
            </a:r>
            <a:r>
              <a:rPr sz="1400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sz="14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FFFFFF"/>
                </a:solidFill>
                <a:latin typeface="Calibri"/>
                <a:cs typeface="Calibri"/>
              </a:rPr>
              <a:t>list</a:t>
            </a:r>
            <a:r>
              <a:rPr sz="14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FFFFFF"/>
                </a:solidFill>
                <a:latin typeface="Calibri"/>
                <a:cs typeface="Calibri"/>
              </a:rPr>
              <a:t>may</a:t>
            </a:r>
            <a:r>
              <a:rPr sz="14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FFFFFF"/>
                </a:solidFill>
                <a:latin typeface="Calibri"/>
                <a:cs typeface="Calibri"/>
              </a:rPr>
              <a:t>vary</a:t>
            </a:r>
            <a:r>
              <a:rPr sz="14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FFFFFF"/>
                </a:solidFill>
                <a:latin typeface="Calibri"/>
                <a:cs typeface="Calibri"/>
              </a:rPr>
              <a:t>during</a:t>
            </a:r>
            <a:r>
              <a:rPr sz="14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FFFFFF"/>
                </a:solidFill>
                <a:latin typeface="Calibri"/>
                <a:cs typeface="Calibri"/>
              </a:rPr>
              <a:t>execution.</a:t>
            </a:r>
            <a:r>
              <a:rPr sz="1400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FFFFFF"/>
                </a:solidFill>
                <a:latin typeface="Calibri"/>
                <a:cs typeface="Calibri"/>
              </a:rPr>
              <a:t>New</a:t>
            </a:r>
            <a:r>
              <a:rPr sz="14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FFFFFF"/>
                </a:solidFill>
                <a:latin typeface="Calibri"/>
                <a:cs typeface="Calibri"/>
              </a:rPr>
              <a:t>elements</a:t>
            </a:r>
            <a:r>
              <a:rPr sz="14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FFFFFF"/>
                </a:solidFill>
                <a:latin typeface="Calibri"/>
                <a:cs typeface="Calibri"/>
              </a:rPr>
              <a:t>may</a:t>
            </a:r>
            <a:r>
              <a:rPr sz="14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FFFFFF"/>
                </a:solidFill>
                <a:latin typeface="Calibri"/>
                <a:cs typeface="Calibri"/>
              </a:rPr>
              <a:t>be</a:t>
            </a:r>
            <a:r>
              <a:rPr sz="14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FFFFFF"/>
                </a:solidFill>
                <a:latin typeface="Calibri"/>
                <a:cs typeface="Calibri"/>
              </a:rPr>
              <a:t>added</a:t>
            </a:r>
            <a:r>
              <a:rPr sz="14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FFFFFF"/>
                </a:solidFill>
                <a:latin typeface="Calibri"/>
                <a:cs typeface="Calibri"/>
              </a:rPr>
              <a:t>to</a:t>
            </a:r>
            <a:r>
              <a:rPr sz="14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FFFFFF"/>
                </a:solidFill>
                <a:latin typeface="Calibri"/>
                <a:cs typeface="Calibri"/>
              </a:rPr>
              <a:t>the</a:t>
            </a:r>
            <a:r>
              <a:rPr sz="14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FFFFFF"/>
                </a:solidFill>
                <a:latin typeface="Calibri"/>
                <a:cs typeface="Calibri"/>
              </a:rPr>
              <a:t>list,</a:t>
            </a:r>
            <a:r>
              <a:rPr sz="14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FFFFFF"/>
                </a:solidFill>
                <a:latin typeface="Calibri"/>
                <a:cs typeface="Calibri"/>
              </a:rPr>
              <a:t>while </a:t>
            </a:r>
            <a:r>
              <a:rPr sz="1400" dirty="0">
                <a:solidFill>
                  <a:srgbClr val="FFFFFF"/>
                </a:solidFill>
                <a:latin typeface="Calibri"/>
                <a:cs typeface="Calibri"/>
              </a:rPr>
              <a:t>others</a:t>
            </a:r>
            <a:r>
              <a:rPr sz="14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FFFFFF"/>
                </a:solidFill>
                <a:latin typeface="Calibri"/>
                <a:cs typeface="Calibri"/>
              </a:rPr>
              <a:t>may</a:t>
            </a:r>
            <a:r>
              <a:rPr sz="14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FFFFFF"/>
                </a:solidFill>
                <a:latin typeface="Calibri"/>
                <a:cs typeface="Calibri"/>
              </a:rPr>
              <a:t>be</a:t>
            </a:r>
            <a:r>
              <a:rPr sz="14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FFFFFF"/>
                </a:solidFill>
                <a:latin typeface="Calibri"/>
                <a:cs typeface="Calibri"/>
              </a:rPr>
              <a:t>removed</a:t>
            </a:r>
            <a:r>
              <a:rPr sz="14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FFFFFF"/>
                </a:solidFill>
                <a:latin typeface="Calibri"/>
                <a:cs typeface="Calibri"/>
              </a:rPr>
              <a:t>from</a:t>
            </a:r>
            <a:r>
              <a:rPr sz="1400" spc="-6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FFFFFF"/>
                </a:solidFill>
                <a:latin typeface="Calibri"/>
                <a:cs typeface="Calibri"/>
              </a:rPr>
              <a:t>it.</a:t>
            </a:r>
            <a:r>
              <a:rPr sz="14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FFFFFF"/>
                </a:solidFill>
                <a:latin typeface="Calibri"/>
                <a:cs typeface="Calibri"/>
              </a:rPr>
              <a:t>This</a:t>
            </a:r>
            <a:r>
              <a:rPr sz="1400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FFFFFF"/>
                </a:solidFill>
                <a:latin typeface="Calibri"/>
                <a:cs typeface="Calibri"/>
              </a:rPr>
              <a:t>means</a:t>
            </a:r>
            <a:r>
              <a:rPr sz="14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FFFFFF"/>
                </a:solidFill>
                <a:latin typeface="Calibri"/>
                <a:cs typeface="Calibri"/>
              </a:rPr>
              <a:t>that</a:t>
            </a:r>
            <a:r>
              <a:rPr sz="14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FFFFFF"/>
                </a:solidFill>
                <a:latin typeface="Calibri"/>
                <a:cs typeface="Calibri"/>
              </a:rPr>
              <a:t>the</a:t>
            </a:r>
            <a:r>
              <a:rPr sz="1400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FFFFFF"/>
                </a:solidFill>
                <a:latin typeface="Calibri"/>
                <a:cs typeface="Calibri"/>
              </a:rPr>
              <a:t>list</a:t>
            </a:r>
            <a:r>
              <a:rPr sz="14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FFFFFF"/>
                </a:solidFill>
                <a:latin typeface="Calibri"/>
                <a:cs typeface="Calibri"/>
              </a:rPr>
              <a:t>is</a:t>
            </a:r>
            <a:r>
              <a:rPr sz="14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sz="14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FFFFFF"/>
                </a:solidFill>
                <a:latin typeface="Calibri"/>
                <a:cs typeface="Calibri"/>
              </a:rPr>
              <a:t>very</a:t>
            </a:r>
            <a:r>
              <a:rPr sz="14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FFFFFF"/>
                </a:solidFill>
                <a:latin typeface="Calibri"/>
                <a:cs typeface="Calibri"/>
              </a:rPr>
              <a:t>dynamic</a:t>
            </a:r>
            <a:r>
              <a:rPr sz="14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FFFFFF"/>
                </a:solidFill>
                <a:latin typeface="Calibri"/>
                <a:cs typeface="Calibri"/>
              </a:rPr>
              <a:t>entity.</a:t>
            </a:r>
            <a:endParaRPr sz="1400">
              <a:latin typeface="Calibri"/>
              <a:cs typeface="Calibri"/>
            </a:endParaRPr>
          </a:p>
          <a:p>
            <a:pPr marL="92075" marR="583565">
              <a:lnSpc>
                <a:spcPct val="100000"/>
              </a:lnSpc>
              <a:spcBef>
                <a:spcPts val="1685"/>
              </a:spcBef>
            </a:pPr>
            <a:r>
              <a:rPr sz="1400" dirty="0">
                <a:solidFill>
                  <a:srgbClr val="FFFFFF"/>
                </a:solidFill>
                <a:latin typeface="Calibri"/>
                <a:cs typeface="Calibri"/>
              </a:rPr>
              <a:t>If</a:t>
            </a:r>
            <a:r>
              <a:rPr sz="14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FFFFFF"/>
                </a:solidFill>
                <a:latin typeface="Calibri"/>
                <a:cs typeface="Calibri"/>
              </a:rPr>
              <a:t>you</a:t>
            </a:r>
            <a:r>
              <a:rPr sz="14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FFFFFF"/>
                </a:solidFill>
                <a:latin typeface="Calibri"/>
                <a:cs typeface="Calibri"/>
              </a:rPr>
              <a:t>want</a:t>
            </a:r>
            <a:r>
              <a:rPr sz="14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FFFFFF"/>
                </a:solidFill>
                <a:latin typeface="Calibri"/>
                <a:cs typeface="Calibri"/>
              </a:rPr>
              <a:t>to</a:t>
            </a:r>
            <a:r>
              <a:rPr sz="14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FFFFFF"/>
                </a:solidFill>
                <a:latin typeface="Calibri"/>
                <a:cs typeface="Calibri"/>
              </a:rPr>
              <a:t>check</a:t>
            </a:r>
            <a:r>
              <a:rPr sz="14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FFFFFF"/>
                </a:solidFill>
                <a:latin typeface="Calibri"/>
                <a:cs typeface="Calibri"/>
              </a:rPr>
              <a:t>the</a:t>
            </a:r>
            <a:r>
              <a:rPr sz="1400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FFFFFF"/>
                </a:solidFill>
                <a:latin typeface="Calibri"/>
                <a:cs typeface="Calibri"/>
              </a:rPr>
              <a:t>list's</a:t>
            </a:r>
            <a:r>
              <a:rPr sz="14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FFFFFF"/>
                </a:solidFill>
                <a:latin typeface="Calibri"/>
                <a:cs typeface="Calibri"/>
              </a:rPr>
              <a:t>current</a:t>
            </a:r>
            <a:r>
              <a:rPr sz="1400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FFFFFF"/>
                </a:solidFill>
                <a:latin typeface="Calibri"/>
                <a:cs typeface="Calibri"/>
              </a:rPr>
              <a:t>length,</a:t>
            </a:r>
            <a:r>
              <a:rPr sz="1400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FFFFFF"/>
                </a:solidFill>
                <a:latin typeface="Calibri"/>
                <a:cs typeface="Calibri"/>
              </a:rPr>
              <a:t>you</a:t>
            </a:r>
            <a:r>
              <a:rPr sz="14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FFFFFF"/>
                </a:solidFill>
                <a:latin typeface="Calibri"/>
                <a:cs typeface="Calibri"/>
              </a:rPr>
              <a:t>can</a:t>
            </a:r>
            <a:r>
              <a:rPr sz="14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FFFFFF"/>
                </a:solidFill>
                <a:latin typeface="Calibri"/>
                <a:cs typeface="Calibri"/>
              </a:rPr>
              <a:t>use</a:t>
            </a:r>
            <a:r>
              <a:rPr sz="14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sz="14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FFFFFF"/>
                </a:solidFill>
                <a:latin typeface="Calibri"/>
                <a:cs typeface="Calibri"/>
              </a:rPr>
              <a:t>function</a:t>
            </a:r>
            <a:r>
              <a:rPr sz="14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FFFFFF"/>
                </a:solidFill>
                <a:latin typeface="Calibri"/>
                <a:cs typeface="Calibri"/>
              </a:rPr>
              <a:t>named</a:t>
            </a:r>
            <a:r>
              <a:rPr sz="1400" spc="-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FFFFFF"/>
                </a:solidFill>
                <a:latin typeface="Calibri"/>
                <a:cs typeface="Calibri"/>
              </a:rPr>
              <a:t>len()</a:t>
            </a:r>
            <a:r>
              <a:rPr sz="14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FFFFFF"/>
                </a:solidFill>
                <a:latin typeface="Calibri"/>
                <a:cs typeface="Calibri"/>
              </a:rPr>
              <a:t>(its</a:t>
            </a:r>
            <a:r>
              <a:rPr sz="14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spc="-20" dirty="0">
                <a:solidFill>
                  <a:srgbClr val="FFFFFF"/>
                </a:solidFill>
                <a:latin typeface="Calibri"/>
                <a:cs typeface="Calibri"/>
              </a:rPr>
              <a:t>name </a:t>
            </a:r>
            <a:r>
              <a:rPr sz="1400" dirty="0">
                <a:solidFill>
                  <a:srgbClr val="FFFFFF"/>
                </a:solidFill>
                <a:latin typeface="Calibri"/>
                <a:cs typeface="Calibri"/>
              </a:rPr>
              <a:t>comes</a:t>
            </a:r>
            <a:r>
              <a:rPr sz="14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FFFFFF"/>
                </a:solidFill>
                <a:latin typeface="Calibri"/>
                <a:cs typeface="Calibri"/>
              </a:rPr>
              <a:t>from</a:t>
            </a:r>
            <a:r>
              <a:rPr sz="14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FFFFFF"/>
                </a:solidFill>
                <a:latin typeface="Calibri"/>
                <a:cs typeface="Calibri"/>
              </a:rPr>
              <a:t>length).</a:t>
            </a:r>
            <a:endParaRPr sz="1400">
              <a:latin typeface="Calibri"/>
              <a:cs typeface="Calibri"/>
            </a:endParaRPr>
          </a:p>
          <a:p>
            <a:pPr marL="92075" marR="87630">
              <a:lnSpc>
                <a:spcPct val="100000"/>
              </a:lnSpc>
              <a:spcBef>
                <a:spcPts val="1680"/>
              </a:spcBef>
            </a:pPr>
            <a:r>
              <a:rPr sz="1400" dirty="0">
                <a:solidFill>
                  <a:srgbClr val="FFFFFF"/>
                </a:solidFill>
                <a:latin typeface="Calibri"/>
                <a:cs typeface="Calibri"/>
              </a:rPr>
              <a:t>The</a:t>
            </a:r>
            <a:r>
              <a:rPr sz="14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FFFFFF"/>
                </a:solidFill>
                <a:latin typeface="Calibri"/>
                <a:cs typeface="Calibri"/>
              </a:rPr>
              <a:t>function</a:t>
            </a:r>
            <a:r>
              <a:rPr sz="14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FFFFFF"/>
                </a:solidFill>
                <a:latin typeface="Calibri"/>
                <a:cs typeface="Calibri"/>
              </a:rPr>
              <a:t>takes</a:t>
            </a:r>
            <a:r>
              <a:rPr sz="14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FFFFFF"/>
                </a:solidFill>
                <a:latin typeface="Calibri"/>
                <a:cs typeface="Calibri"/>
              </a:rPr>
              <a:t>the</a:t>
            </a:r>
            <a:r>
              <a:rPr sz="14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FFFFFF"/>
                </a:solidFill>
                <a:latin typeface="Calibri"/>
                <a:cs typeface="Calibri"/>
              </a:rPr>
              <a:t>list's</a:t>
            </a:r>
            <a:r>
              <a:rPr sz="14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FFFFFF"/>
                </a:solidFill>
                <a:latin typeface="Calibri"/>
                <a:cs typeface="Calibri"/>
              </a:rPr>
              <a:t>name</a:t>
            </a:r>
            <a:r>
              <a:rPr sz="14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FFFFFF"/>
                </a:solidFill>
                <a:latin typeface="Calibri"/>
                <a:cs typeface="Calibri"/>
              </a:rPr>
              <a:t>as</a:t>
            </a:r>
            <a:r>
              <a:rPr sz="14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FFFFFF"/>
                </a:solidFill>
                <a:latin typeface="Calibri"/>
                <a:cs typeface="Calibri"/>
              </a:rPr>
              <a:t>an</a:t>
            </a:r>
            <a:r>
              <a:rPr sz="14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FFFFFF"/>
                </a:solidFill>
                <a:latin typeface="Calibri"/>
                <a:cs typeface="Calibri"/>
              </a:rPr>
              <a:t>argument,</a:t>
            </a:r>
            <a:r>
              <a:rPr sz="1400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FFFFFF"/>
                </a:solidFill>
                <a:latin typeface="Calibri"/>
                <a:cs typeface="Calibri"/>
              </a:rPr>
              <a:t>and</a:t>
            </a:r>
            <a:r>
              <a:rPr sz="14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FFFFFF"/>
                </a:solidFill>
                <a:latin typeface="Calibri"/>
                <a:cs typeface="Calibri"/>
              </a:rPr>
              <a:t>returns</a:t>
            </a:r>
            <a:r>
              <a:rPr sz="1400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FFFFFF"/>
                </a:solidFill>
                <a:latin typeface="Calibri"/>
                <a:cs typeface="Calibri"/>
              </a:rPr>
              <a:t>the</a:t>
            </a:r>
            <a:r>
              <a:rPr sz="14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FFFFFF"/>
                </a:solidFill>
                <a:latin typeface="Calibri"/>
                <a:cs typeface="Calibri"/>
              </a:rPr>
              <a:t>number</a:t>
            </a:r>
            <a:r>
              <a:rPr sz="14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FFFFFF"/>
                </a:solidFill>
                <a:latin typeface="Calibri"/>
                <a:cs typeface="Calibri"/>
              </a:rPr>
              <a:t>of</a:t>
            </a:r>
            <a:r>
              <a:rPr sz="14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FFFFFF"/>
                </a:solidFill>
                <a:latin typeface="Calibri"/>
                <a:cs typeface="Calibri"/>
              </a:rPr>
              <a:t>elements</a:t>
            </a:r>
            <a:r>
              <a:rPr sz="1400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FFFFFF"/>
                </a:solidFill>
                <a:latin typeface="Calibri"/>
                <a:cs typeface="Calibri"/>
              </a:rPr>
              <a:t>currently stored</a:t>
            </a:r>
            <a:r>
              <a:rPr sz="14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FFFFFF"/>
                </a:solidFill>
                <a:latin typeface="Calibri"/>
                <a:cs typeface="Calibri"/>
              </a:rPr>
              <a:t>inside</a:t>
            </a:r>
            <a:r>
              <a:rPr sz="1400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FFFFFF"/>
                </a:solidFill>
                <a:latin typeface="Calibri"/>
                <a:cs typeface="Calibri"/>
              </a:rPr>
              <a:t>the</a:t>
            </a:r>
            <a:r>
              <a:rPr sz="14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FFFFFF"/>
                </a:solidFill>
                <a:latin typeface="Calibri"/>
                <a:cs typeface="Calibri"/>
              </a:rPr>
              <a:t>list</a:t>
            </a:r>
            <a:r>
              <a:rPr sz="14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FFFFFF"/>
                </a:solidFill>
                <a:latin typeface="Calibri"/>
                <a:cs typeface="Calibri"/>
              </a:rPr>
              <a:t>(in</a:t>
            </a:r>
            <a:r>
              <a:rPr sz="14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FFFFFF"/>
                </a:solidFill>
                <a:latin typeface="Calibri"/>
                <a:cs typeface="Calibri"/>
              </a:rPr>
              <a:t>other</a:t>
            </a:r>
            <a:r>
              <a:rPr sz="1400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FFFFFF"/>
                </a:solidFill>
                <a:latin typeface="Calibri"/>
                <a:cs typeface="Calibri"/>
              </a:rPr>
              <a:t>words</a:t>
            </a:r>
            <a:r>
              <a:rPr sz="14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FFFFFF"/>
                </a:solidFill>
                <a:latin typeface="Calibri"/>
                <a:cs typeface="Calibri"/>
              </a:rPr>
              <a:t>-</a:t>
            </a:r>
            <a:r>
              <a:rPr sz="14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FFFFFF"/>
                </a:solidFill>
                <a:latin typeface="Calibri"/>
                <a:cs typeface="Calibri"/>
              </a:rPr>
              <a:t>the</a:t>
            </a:r>
            <a:r>
              <a:rPr sz="1400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FFFFFF"/>
                </a:solidFill>
                <a:latin typeface="Calibri"/>
                <a:cs typeface="Calibri"/>
              </a:rPr>
              <a:t>list's</a:t>
            </a:r>
            <a:r>
              <a:rPr sz="14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FFFFFF"/>
                </a:solidFill>
                <a:latin typeface="Calibri"/>
                <a:cs typeface="Calibri"/>
              </a:rPr>
              <a:t>length).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3589020" y="4622291"/>
            <a:ext cx="3401695" cy="657225"/>
          </a:xfrm>
          <a:custGeom>
            <a:avLst/>
            <a:gdLst/>
            <a:ahLst/>
            <a:cxnLst/>
            <a:rect l="l" t="t" r="r" b="b"/>
            <a:pathLst>
              <a:path w="3401695" h="657225">
                <a:moveTo>
                  <a:pt x="0" y="656843"/>
                </a:moveTo>
                <a:lnTo>
                  <a:pt x="3401568" y="656843"/>
                </a:lnTo>
                <a:lnTo>
                  <a:pt x="3401568" y="0"/>
                </a:lnTo>
                <a:lnTo>
                  <a:pt x="0" y="0"/>
                </a:lnTo>
                <a:lnTo>
                  <a:pt x="0" y="656843"/>
                </a:lnTo>
                <a:close/>
              </a:path>
            </a:pathLst>
          </a:custGeom>
          <a:ln w="12700">
            <a:solidFill>
              <a:srgbClr val="2E528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3681348" y="4649470"/>
            <a:ext cx="302831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R="5080" indent="19939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solidFill>
                  <a:srgbClr val="FFFFFF"/>
                </a:solidFill>
                <a:latin typeface="Calibri"/>
                <a:cs typeface="Calibri"/>
              </a:rPr>
              <a:t>Removing</a:t>
            </a:r>
            <a:r>
              <a:rPr sz="18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elements</a:t>
            </a:r>
            <a:r>
              <a:rPr sz="18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from</a:t>
            </a:r>
            <a:r>
              <a:rPr sz="18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sz="18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-20" dirty="0">
                <a:solidFill>
                  <a:srgbClr val="FFFFFF"/>
                </a:solidFill>
                <a:latin typeface="Calibri"/>
                <a:cs typeface="Calibri"/>
              </a:rPr>
              <a:t>list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del</a:t>
            </a:r>
            <a:r>
              <a:rPr sz="1800" spc="-10" dirty="0">
                <a:solidFill>
                  <a:srgbClr val="FFFFFF"/>
                </a:solidFill>
                <a:latin typeface="Calibri"/>
                <a:cs typeface="Calibri"/>
              </a:rPr>
              <a:t> numbers[1]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3626992" y="5275960"/>
            <a:ext cx="3406775" cy="1457325"/>
            <a:chOff x="3626992" y="5275960"/>
            <a:chExt cx="3406775" cy="1457325"/>
          </a:xfrm>
        </p:grpSpPr>
        <p:pic>
          <p:nvPicPr>
            <p:cNvPr id="15" name="object 1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630167" y="5279135"/>
              <a:ext cx="3400043" cy="1450848"/>
            </a:xfrm>
            <a:prstGeom prst="rect">
              <a:avLst/>
            </a:prstGeom>
          </p:spPr>
        </p:pic>
        <p:sp>
          <p:nvSpPr>
            <p:cNvPr id="16" name="object 16"/>
            <p:cNvSpPr/>
            <p:nvPr/>
          </p:nvSpPr>
          <p:spPr>
            <a:xfrm>
              <a:off x="3630167" y="5279135"/>
              <a:ext cx="3400425" cy="1450975"/>
            </a:xfrm>
            <a:custGeom>
              <a:avLst/>
              <a:gdLst/>
              <a:ahLst/>
              <a:cxnLst/>
              <a:rect l="l" t="t" r="r" b="b"/>
              <a:pathLst>
                <a:path w="3400425" h="1450975">
                  <a:moveTo>
                    <a:pt x="0" y="1450848"/>
                  </a:moveTo>
                  <a:lnTo>
                    <a:pt x="3400043" y="1450848"/>
                  </a:lnTo>
                  <a:lnTo>
                    <a:pt x="3400043" y="0"/>
                  </a:lnTo>
                  <a:lnTo>
                    <a:pt x="0" y="0"/>
                  </a:lnTo>
                  <a:lnTo>
                    <a:pt x="0" y="1450848"/>
                  </a:lnTo>
                  <a:close/>
                </a:path>
              </a:pathLst>
            </a:custGeom>
            <a:ln w="6350">
              <a:solidFill>
                <a:srgbClr val="EC7C3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7" name="object 17"/>
          <p:cNvSpPr txBox="1"/>
          <p:nvPr/>
        </p:nvSpPr>
        <p:spPr>
          <a:xfrm>
            <a:off x="3721353" y="5428894"/>
            <a:ext cx="3211195" cy="11226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R="5080">
              <a:lnSpc>
                <a:spcPct val="100000"/>
              </a:lnSpc>
              <a:spcBef>
                <a:spcPts val="100"/>
              </a:spcBef>
            </a:pPr>
            <a:r>
              <a:rPr sz="1800" spc="-40" dirty="0">
                <a:latin typeface="Calibri"/>
                <a:cs typeface="Calibri"/>
              </a:rPr>
              <a:t>You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can't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access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an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element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spc="-20" dirty="0">
                <a:latin typeface="Calibri"/>
                <a:cs typeface="Calibri"/>
              </a:rPr>
              <a:t>which </a:t>
            </a:r>
            <a:r>
              <a:rPr sz="1800" dirty="0">
                <a:latin typeface="Calibri"/>
                <a:cs typeface="Calibri"/>
              </a:rPr>
              <a:t>doesn't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spc="-20" dirty="0">
                <a:latin typeface="Calibri"/>
                <a:cs typeface="Calibri"/>
              </a:rPr>
              <a:t>exist</a:t>
            </a:r>
            <a:endParaRPr sz="1800">
              <a:latin typeface="Calibri"/>
              <a:cs typeface="Calibri"/>
            </a:endParaRPr>
          </a:p>
          <a:p>
            <a:pPr marR="1540510">
              <a:lnSpc>
                <a:spcPct val="100000"/>
              </a:lnSpc>
            </a:pPr>
            <a:r>
              <a:rPr sz="1800" spc="-10" dirty="0">
                <a:solidFill>
                  <a:srgbClr val="FF0000"/>
                </a:solidFill>
                <a:latin typeface="Calibri"/>
                <a:cs typeface="Calibri"/>
              </a:rPr>
              <a:t>print(numbers[4]) numbers[4] </a:t>
            </a:r>
            <a:r>
              <a:rPr sz="1800" dirty="0">
                <a:solidFill>
                  <a:srgbClr val="FF0000"/>
                </a:solidFill>
                <a:latin typeface="Calibri"/>
                <a:cs typeface="Calibri"/>
              </a:rPr>
              <a:t>=</a:t>
            </a:r>
            <a:r>
              <a:rPr sz="1800" spc="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800" spc="-50" dirty="0">
                <a:solidFill>
                  <a:srgbClr val="FF0000"/>
                </a:solidFill>
                <a:latin typeface="Calibri"/>
                <a:cs typeface="Calibri"/>
              </a:rPr>
              <a:t>1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8608567" y="4622291"/>
            <a:ext cx="242252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10" dirty="0">
                <a:solidFill>
                  <a:srgbClr val="4471C4"/>
                </a:solidFill>
                <a:latin typeface="Calibri"/>
                <a:cs typeface="Calibri"/>
              </a:rPr>
              <a:t>Negative</a:t>
            </a:r>
            <a:r>
              <a:rPr sz="1800" b="1" spc="-40" dirty="0">
                <a:solidFill>
                  <a:srgbClr val="4471C4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4471C4"/>
                </a:solidFill>
                <a:latin typeface="Calibri"/>
                <a:cs typeface="Calibri"/>
              </a:rPr>
              <a:t>indices</a:t>
            </a:r>
            <a:r>
              <a:rPr sz="1800" b="1" spc="-25" dirty="0">
                <a:solidFill>
                  <a:srgbClr val="4471C4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4471C4"/>
                </a:solidFill>
                <a:latin typeface="Calibri"/>
                <a:cs typeface="Calibri"/>
              </a:rPr>
              <a:t>are</a:t>
            </a:r>
            <a:r>
              <a:rPr sz="1800" b="1" spc="-30" dirty="0">
                <a:solidFill>
                  <a:srgbClr val="4471C4"/>
                </a:solidFill>
                <a:latin typeface="Calibri"/>
                <a:cs typeface="Calibri"/>
              </a:rPr>
              <a:t> </a:t>
            </a:r>
            <a:r>
              <a:rPr sz="1800" b="1" spc="-20" dirty="0">
                <a:solidFill>
                  <a:srgbClr val="4471C4"/>
                </a:solidFill>
                <a:latin typeface="Calibri"/>
                <a:cs typeface="Calibri"/>
              </a:rPr>
              <a:t>legal</a:t>
            </a:r>
            <a:endParaRPr sz="1800" dirty="0">
              <a:latin typeface="Calibri"/>
              <a:cs typeface="Calibri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7557960" y="4978400"/>
            <a:ext cx="4523740" cy="1460500"/>
          </a:xfrm>
          <a:prstGeom prst="rect">
            <a:avLst/>
          </a:prstGeom>
          <a:solidFill>
            <a:srgbClr val="4471C4"/>
          </a:solidFill>
          <a:ln w="12700">
            <a:solidFill>
              <a:srgbClr val="2E528F"/>
            </a:solidFill>
          </a:ln>
        </p:spPr>
        <p:txBody>
          <a:bodyPr vert="horz" wrap="square" lIns="0" tIns="4191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330"/>
              </a:spcBef>
            </a:pPr>
            <a:endParaRPr sz="1800" dirty="0">
              <a:latin typeface="Times New Roman"/>
              <a:cs typeface="Times New Roman"/>
            </a:endParaRPr>
          </a:p>
          <a:p>
            <a:pPr marL="91440" marR="2218055">
              <a:lnSpc>
                <a:spcPct val="100000"/>
              </a:lnSpc>
            </a:pP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numbers</a:t>
            </a:r>
            <a:r>
              <a:rPr sz="18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=</a:t>
            </a:r>
            <a:r>
              <a:rPr sz="1800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[111,</a:t>
            </a:r>
            <a:r>
              <a:rPr sz="1800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7,</a:t>
            </a:r>
            <a:r>
              <a:rPr sz="1800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2,</a:t>
            </a:r>
            <a:r>
              <a:rPr sz="1800" spc="-25" dirty="0">
                <a:solidFill>
                  <a:srgbClr val="FFFFFF"/>
                </a:solidFill>
                <a:latin typeface="Calibri"/>
                <a:cs typeface="Calibri"/>
              </a:rPr>
              <a:t> 1] </a:t>
            </a:r>
            <a:r>
              <a:rPr sz="1800" spc="-20" dirty="0">
                <a:solidFill>
                  <a:srgbClr val="FFFFFF"/>
                </a:solidFill>
                <a:latin typeface="Calibri"/>
                <a:cs typeface="Calibri"/>
              </a:rPr>
              <a:t>print(numbers[-</a:t>
            </a:r>
            <a:r>
              <a:rPr sz="1800" spc="-25" dirty="0">
                <a:solidFill>
                  <a:srgbClr val="FFFFFF"/>
                </a:solidFill>
                <a:latin typeface="Calibri"/>
                <a:cs typeface="Calibri"/>
              </a:rPr>
              <a:t>1]) </a:t>
            </a:r>
            <a:r>
              <a:rPr sz="1800" spc="-10" dirty="0">
                <a:solidFill>
                  <a:srgbClr val="FFFFFF"/>
                </a:solidFill>
                <a:latin typeface="Calibri"/>
                <a:cs typeface="Calibri"/>
              </a:rPr>
              <a:t>print(numbers[-</a:t>
            </a:r>
            <a:r>
              <a:rPr sz="1800" spc="-25" dirty="0">
                <a:solidFill>
                  <a:srgbClr val="FFFFFF"/>
                </a:solidFill>
                <a:latin typeface="Calibri"/>
                <a:cs typeface="Calibri"/>
              </a:rPr>
              <a:t>2])</a:t>
            </a:r>
            <a:endParaRPr sz="1800" dirty="0">
              <a:latin typeface="Calibri"/>
              <a:cs typeface="Calibri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10287000" y="5308647"/>
            <a:ext cx="1556385" cy="946785"/>
          </a:xfrm>
          <a:prstGeom prst="rect">
            <a:avLst/>
          </a:prstGeom>
          <a:solidFill>
            <a:srgbClr val="6FAC46"/>
          </a:solidFill>
          <a:ln w="12700">
            <a:solidFill>
              <a:srgbClr val="507D31"/>
            </a:solidFill>
          </a:ln>
        </p:spPr>
        <p:txBody>
          <a:bodyPr vert="horz" wrap="square" lIns="0" tIns="184785" rIns="0" bIns="0" rtlCol="0">
            <a:spAutoFit/>
          </a:bodyPr>
          <a:lstStyle/>
          <a:p>
            <a:pPr marL="1905" algn="ctr">
              <a:lnSpc>
                <a:spcPct val="100000"/>
              </a:lnSpc>
              <a:spcBef>
                <a:spcPts val="1455"/>
              </a:spcBef>
            </a:pPr>
            <a:r>
              <a:rPr sz="1800" spc="-50" dirty="0">
                <a:solidFill>
                  <a:srgbClr val="FFFFFF"/>
                </a:solidFill>
                <a:latin typeface="Calibri"/>
                <a:cs typeface="Calibri"/>
              </a:rPr>
              <a:t>1</a:t>
            </a:r>
            <a:endParaRPr sz="1800">
              <a:latin typeface="Calibri"/>
              <a:cs typeface="Calibri"/>
            </a:endParaRPr>
          </a:p>
          <a:p>
            <a:pPr marL="1905" algn="ctr">
              <a:lnSpc>
                <a:spcPct val="100000"/>
              </a:lnSpc>
            </a:pPr>
            <a:r>
              <a:rPr sz="1800" spc="-50" dirty="0">
                <a:solidFill>
                  <a:srgbClr val="FFFFFF"/>
                </a:solidFill>
                <a:latin typeface="Calibri"/>
                <a:cs typeface="Calibri"/>
              </a:rPr>
              <a:t>2</a:t>
            </a:r>
            <a:endParaRPr sz="1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8739" y="17780"/>
            <a:ext cx="214312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>
                <a:solidFill>
                  <a:srgbClr val="4471C4"/>
                </a:solidFill>
              </a:rPr>
              <a:t>Functions</a:t>
            </a:r>
            <a:r>
              <a:rPr spc="-50" dirty="0">
                <a:solidFill>
                  <a:srgbClr val="4471C4"/>
                </a:solidFill>
              </a:rPr>
              <a:t> </a:t>
            </a:r>
            <a:r>
              <a:rPr dirty="0">
                <a:solidFill>
                  <a:srgbClr val="4471C4"/>
                </a:solidFill>
              </a:rPr>
              <a:t>vs.</a:t>
            </a:r>
            <a:r>
              <a:rPr spc="-10" dirty="0">
                <a:solidFill>
                  <a:srgbClr val="4471C4"/>
                </a:solidFill>
              </a:rPr>
              <a:t> methods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0" y="368808"/>
            <a:ext cx="4107179" cy="1283335"/>
          </a:xfrm>
          <a:prstGeom prst="rect">
            <a:avLst/>
          </a:prstGeom>
          <a:solidFill>
            <a:srgbClr val="4471C4"/>
          </a:solidFill>
          <a:ln w="12700">
            <a:solidFill>
              <a:srgbClr val="2E528F"/>
            </a:solidFill>
          </a:ln>
        </p:spPr>
        <p:txBody>
          <a:bodyPr vert="horz" wrap="square" lIns="0" tIns="9271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730"/>
              </a:spcBef>
            </a:pPr>
            <a:endParaRPr sz="1800">
              <a:latin typeface="Times New Roman"/>
              <a:cs typeface="Times New Roman"/>
            </a:endParaRPr>
          </a:p>
          <a:p>
            <a:pPr marL="142875" marR="497840" indent="-52069">
              <a:lnSpc>
                <a:spcPct val="100000"/>
              </a:lnSpc>
            </a:pP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result</a:t>
            </a:r>
            <a:r>
              <a:rPr sz="1800" spc="-6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=</a:t>
            </a:r>
            <a:r>
              <a:rPr sz="18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function(arg)</a:t>
            </a:r>
            <a:r>
              <a:rPr sz="1800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Wingdings"/>
                <a:cs typeface="Wingdings"/>
              </a:rPr>
              <a:t></a:t>
            </a:r>
            <a:r>
              <a:rPr sz="1800" spc="-9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Calibri"/>
                <a:cs typeface="Calibri"/>
              </a:rPr>
              <a:t>Function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result</a:t>
            </a:r>
            <a:r>
              <a:rPr sz="1800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=</a:t>
            </a:r>
            <a:r>
              <a:rPr sz="1800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Calibri"/>
                <a:cs typeface="Calibri"/>
              </a:rPr>
              <a:t>data.method(arg) </a:t>
            </a:r>
            <a:r>
              <a:rPr sz="1800" dirty="0">
                <a:solidFill>
                  <a:srgbClr val="FFFFFF"/>
                </a:solidFill>
                <a:latin typeface="Wingdings"/>
                <a:cs typeface="Wingdings"/>
              </a:rPr>
              <a:t></a:t>
            </a:r>
            <a:r>
              <a:rPr sz="1800" spc="-7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Calibri"/>
                <a:cs typeface="Calibri"/>
              </a:rPr>
              <a:t>Method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4660" y="1845945"/>
            <a:ext cx="513651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solidFill>
                  <a:srgbClr val="4471C4"/>
                </a:solidFill>
                <a:latin typeface="Calibri"/>
                <a:cs typeface="Calibri"/>
              </a:rPr>
              <a:t>Adding</a:t>
            </a:r>
            <a:r>
              <a:rPr sz="1800" b="1" spc="-50" dirty="0">
                <a:solidFill>
                  <a:srgbClr val="4471C4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4471C4"/>
                </a:solidFill>
                <a:latin typeface="Calibri"/>
                <a:cs typeface="Calibri"/>
              </a:rPr>
              <a:t>elements</a:t>
            </a:r>
            <a:r>
              <a:rPr sz="1800" b="1" spc="-40" dirty="0">
                <a:solidFill>
                  <a:srgbClr val="4471C4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4471C4"/>
                </a:solidFill>
                <a:latin typeface="Calibri"/>
                <a:cs typeface="Calibri"/>
              </a:rPr>
              <a:t>to</a:t>
            </a:r>
            <a:r>
              <a:rPr sz="1800" b="1" spc="-15" dirty="0">
                <a:solidFill>
                  <a:srgbClr val="4471C4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4471C4"/>
                </a:solidFill>
                <a:latin typeface="Calibri"/>
                <a:cs typeface="Calibri"/>
              </a:rPr>
              <a:t>a list: </a:t>
            </a:r>
            <a:r>
              <a:rPr sz="1800" b="1" spc="-10" dirty="0">
                <a:solidFill>
                  <a:srgbClr val="4471C4"/>
                </a:solidFill>
                <a:latin typeface="Courier New"/>
                <a:cs typeface="Courier New"/>
              </a:rPr>
              <a:t>append()</a:t>
            </a:r>
            <a:r>
              <a:rPr sz="1800" b="1" spc="-710" dirty="0">
                <a:solidFill>
                  <a:srgbClr val="4471C4"/>
                </a:solidFill>
                <a:latin typeface="Courier New"/>
                <a:cs typeface="Courier New"/>
              </a:rPr>
              <a:t> </a:t>
            </a:r>
            <a:r>
              <a:rPr sz="1800" b="1" dirty="0">
                <a:solidFill>
                  <a:srgbClr val="4471C4"/>
                </a:solidFill>
                <a:latin typeface="Calibri"/>
                <a:cs typeface="Calibri"/>
              </a:rPr>
              <a:t>and</a:t>
            </a:r>
            <a:r>
              <a:rPr sz="1800" b="1" spc="-10" dirty="0">
                <a:solidFill>
                  <a:srgbClr val="4471C4"/>
                </a:solidFill>
                <a:latin typeface="Calibri"/>
                <a:cs typeface="Calibri"/>
              </a:rPr>
              <a:t> </a:t>
            </a:r>
            <a:r>
              <a:rPr sz="1800" b="1" spc="-10" dirty="0">
                <a:solidFill>
                  <a:srgbClr val="4471C4"/>
                </a:solidFill>
                <a:latin typeface="Courier New"/>
                <a:cs typeface="Courier New"/>
              </a:rPr>
              <a:t>insert()</a:t>
            </a:r>
            <a:endParaRPr sz="1800" dirty="0">
              <a:latin typeface="Courier New"/>
              <a:cs typeface="Courier New"/>
            </a:endParaRPr>
          </a:p>
        </p:txBody>
      </p:sp>
      <p:graphicFrame>
        <p:nvGraphicFramePr>
          <p:cNvPr id="5" name="object 5"/>
          <p:cNvGraphicFramePr>
            <a:graphicFrameLocks noGrp="1"/>
          </p:cNvGraphicFramePr>
          <p:nvPr/>
        </p:nvGraphicFramePr>
        <p:xfrm>
          <a:off x="0" y="2368042"/>
          <a:ext cx="5935345" cy="343979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4701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6519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18159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2E528F"/>
                      </a:solidFill>
                      <a:prstDash val="solid"/>
                    </a:lnL>
                    <a:lnR w="12700">
                      <a:solidFill>
                        <a:srgbClr val="2E528F"/>
                      </a:solidFill>
                      <a:prstDash val="solid"/>
                    </a:lnR>
                    <a:lnT w="12700">
                      <a:solidFill>
                        <a:srgbClr val="2E528F"/>
                      </a:solidFill>
                      <a:prstDash val="solid"/>
                    </a:lnT>
                    <a:solidFill>
                      <a:srgbClr val="4471C4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1650"/>
                        </a:spcBef>
                      </a:pPr>
                      <a:r>
                        <a:rPr sz="180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numbers</a:t>
                      </a:r>
                      <a:r>
                        <a:rPr sz="1800" spc="-3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=</a:t>
                      </a:r>
                      <a:r>
                        <a:rPr sz="1800" spc="-1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[111,</a:t>
                      </a:r>
                      <a:r>
                        <a:rPr sz="1800" spc="-2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7,</a:t>
                      </a:r>
                      <a:r>
                        <a:rPr sz="1800" spc="-2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2,</a:t>
                      </a:r>
                      <a:r>
                        <a:rPr sz="1800" spc="-2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1]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209550" marB="0">
                    <a:lnL w="12700">
                      <a:solidFill>
                        <a:srgbClr val="2E528F"/>
                      </a:solidFill>
                      <a:prstDash val="solid"/>
                    </a:lnL>
                    <a:lnR w="12700">
                      <a:solidFill>
                        <a:srgbClr val="2E528F"/>
                      </a:solidFill>
                      <a:prstDash val="solid"/>
                    </a:lnR>
                    <a:lnT w="12700">
                      <a:solidFill>
                        <a:srgbClr val="2E528F"/>
                      </a:solidFill>
                      <a:prstDash val="solid"/>
                    </a:lnT>
                    <a:solidFill>
                      <a:srgbClr val="4471C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2E528F"/>
                      </a:solidFill>
                      <a:prstDash val="solid"/>
                    </a:lnL>
                    <a:lnR w="12700">
                      <a:solidFill>
                        <a:srgbClr val="2E528F"/>
                      </a:solidFill>
                      <a:prstDash val="solid"/>
                    </a:lnR>
                    <a:solidFill>
                      <a:srgbClr val="4471C4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ts val="1889"/>
                        </a:lnSpc>
                      </a:pPr>
                      <a:r>
                        <a:rPr sz="1800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print(len(numbers))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2700">
                      <a:solidFill>
                        <a:srgbClr val="2E528F"/>
                      </a:solidFill>
                      <a:prstDash val="solid"/>
                    </a:lnL>
                    <a:lnR w="12700">
                      <a:solidFill>
                        <a:srgbClr val="2E528F"/>
                      </a:solidFill>
                      <a:prstDash val="solid"/>
                    </a:lnR>
                    <a:solidFill>
                      <a:srgbClr val="4471C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368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2E528F"/>
                      </a:solidFill>
                      <a:prstDash val="solid"/>
                    </a:lnL>
                    <a:lnR w="12700">
                      <a:solidFill>
                        <a:srgbClr val="2E528F"/>
                      </a:solidFill>
                      <a:prstDash val="solid"/>
                    </a:lnR>
                    <a:solidFill>
                      <a:srgbClr val="4471C4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ts val="1889"/>
                        </a:lnSpc>
                      </a:pPr>
                      <a:r>
                        <a:rPr sz="1800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print(numbers)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2700">
                      <a:solidFill>
                        <a:srgbClr val="2E528F"/>
                      </a:solidFill>
                      <a:prstDash val="solid"/>
                    </a:lnL>
                    <a:lnR w="12700">
                      <a:solidFill>
                        <a:srgbClr val="2E528F"/>
                      </a:solidFill>
                      <a:prstDash val="solid"/>
                    </a:lnR>
                    <a:solidFill>
                      <a:srgbClr val="4471C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2E528F"/>
                      </a:solidFill>
                      <a:prstDash val="solid"/>
                    </a:lnL>
                    <a:lnR w="12700">
                      <a:solidFill>
                        <a:srgbClr val="2E528F"/>
                      </a:solidFill>
                      <a:prstDash val="solid"/>
                    </a:lnR>
                    <a:solidFill>
                      <a:srgbClr val="4471C4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ts val="1889"/>
                        </a:lnSpc>
                      </a:pPr>
                      <a:r>
                        <a:rPr sz="1800" spc="-2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###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2700">
                      <a:solidFill>
                        <a:srgbClr val="2E528F"/>
                      </a:solidFill>
                      <a:prstDash val="solid"/>
                    </a:lnL>
                    <a:lnR w="12700">
                      <a:solidFill>
                        <a:srgbClr val="2E528F"/>
                      </a:solidFill>
                      <a:prstDash val="solid"/>
                    </a:lnR>
                    <a:solidFill>
                      <a:srgbClr val="4471C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22960">
                <a:tc>
                  <a:txBody>
                    <a:bodyPr/>
                    <a:lstStyle/>
                    <a:p>
                      <a:pPr marL="91440" marR="23495">
                        <a:lnSpc>
                          <a:spcPct val="100000"/>
                        </a:lnSpc>
                        <a:spcBef>
                          <a:spcPts val="680"/>
                        </a:spcBef>
                      </a:pPr>
                      <a:r>
                        <a:rPr sz="1800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list.append(value) list.insert(location,</a:t>
                      </a:r>
                      <a:r>
                        <a:rPr sz="1800" spc="6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value)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86360" marB="0">
                    <a:lnL w="12700">
                      <a:solidFill>
                        <a:srgbClr val="2E528F"/>
                      </a:solidFill>
                      <a:prstDash val="solid"/>
                    </a:lnL>
                    <a:lnR w="12700">
                      <a:solidFill>
                        <a:srgbClr val="2E528F"/>
                      </a:solidFill>
                      <a:prstDash val="solid"/>
                    </a:lnR>
                    <a:solidFill>
                      <a:srgbClr val="4471C4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ts val="1889"/>
                        </a:lnSpc>
                      </a:pPr>
                      <a:r>
                        <a:rPr sz="1800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numbers.append(4)</a:t>
                      </a:r>
                      <a:endParaRPr sz="1800">
                        <a:latin typeface="Calibri"/>
                        <a:cs typeface="Calibri"/>
                      </a:endParaRPr>
                    </a:p>
                    <a:p>
                      <a:pPr marL="91440" marR="1533525">
                        <a:lnSpc>
                          <a:spcPct val="100000"/>
                        </a:lnSpc>
                      </a:pPr>
                      <a:r>
                        <a:rPr sz="1800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print(len(numbers)) print(numbers)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2700">
                      <a:solidFill>
                        <a:srgbClr val="2E528F"/>
                      </a:solidFill>
                      <a:prstDash val="solid"/>
                    </a:lnL>
                    <a:lnR w="12700">
                      <a:solidFill>
                        <a:srgbClr val="2E528F"/>
                      </a:solidFill>
                      <a:prstDash val="solid"/>
                    </a:lnR>
                    <a:solidFill>
                      <a:srgbClr val="4471C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2E528F"/>
                      </a:solidFill>
                      <a:prstDash val="solid"/>
                    </a:lnL>
                    <a:lnR w="12700">
                      <a:solidFill>
                        <a:srgbClr val="2E528F"/>
                      </a:solidFill>
                      <a:prstDash val="solid"/>
                    </a:lnR>
                    <a:solidFill>
                      <a:srgbClr val="4471C4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ts val="1889"/>
                        </a:lnSpc>
                      </a:pPr>
                      <a:r>
                        <a:rPr sz="1800" spc="-2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###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2700">
                      <a:solidFill>
                        <a:srgbClr val="2E528F"/>
                      </a:solidFill>
                      <a:prstDash val="solid"/>
                    </a:lnL>
                    <a:lnR w="12700">
                      <a:solidFill>
                        <a:srgbClr val="2E528F"/>
                      </a:solidFill>
                      <a:prstDash val="solid"/>
                    </a:lnR>
                    <a:solidFill>
                      <a:srgbClr val="4471C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7368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2E528F"/>
                      </a:solidFill>
                      <a:prstDash val="solid"/>
                    </a:lnL>
                    <a:lnR w="12700">
                      <a:solidFill>
                        <a:srgbClr val="2E528F"/>
                      </a:solidFill>
                      <a:prstDash val="solid"/>
                    </a:lnR>
                    <a:solidFill>
                      <a:srgbClr val="4471C4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ts val="1889"/>
                        </a:lnSpc>
                      </a:pPr>
                      <a:r>
                        <a:rPr sz="1800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numbers.insert(0,</a:t>
                      </a:r>
                      <a:r>
                        <a:rPr sz="1800" spc="2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2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222)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2700">
                      <a:solidFill>
                        <a:srgbClr val="2E528F"/>
                      </a:solidFill>
                      <a:prstDash val="solid"/>
                    </a:lnL>
                    <a:lnR w="12700">
                      <a:solidFill>
                        <a:srgbClr val="2E528F"/>
                      </a:solidFill>
                      <a:prstDash val="solid"/>
                    </a:lnR>
                    <a:solidFill>
                      <a:srgbClr val="4471C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2E528F"/>
                      </a:solidFill>
                      <a:prstDash val="solid"/>
                    </a:lnL>
                    <a:lnR w="12700">
                      <a:solidFill>
                        <a:srgbClr val="2E528F"/>
                      </a:solidFill>
                      <a:prstDash val="solid"/>
                    </a:lnR>
                    <a:solidFill>
                      <a:srgbClr val="4471C4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ts val="1889"/>
                        </a:lnSpc>
                      </a:pPr>
                      <a:r>
                        <a:rPr sz="1800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print(len(numbers))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2700">
                      <a:solidFill>
                        <a:srgbClr val="2E528F"/>
                      </a:solidFill>
                      <a:prstDash val="solid"/>
                    </a:lnL>
                    <a:lnR w="12700">
                      <a:solidFill>
                        <a:srgbClr val="2E528F"/>
                      </a:solidFill>
                      <a:prstDash val="solid"/>
                    </a:lnR>
                    <a:solidFill>
                      <a:srgbClr val="4471C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5402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2E528F"/>
                      </a:solidFill>
                      <a:prstDash val="solid"/>
                    </a:lnL>
                    <a:lnR w="12700">
                      <a:solidFill>
                        <a:srgbClr val="2E528F"/>
                      </a:solidFill>
                      <a:prstDash val="solid"/>
                    </a:lnR>
                    <a:lnB w="12700">
                      <a:solidFill>
                        <a:srgbClr val="2E528F"/>
                      </a:solidFill>
                      <a:prstDash val="solid"/>
                    </a:lnB>
                    <a:solidFill>
                      <a:srgbClr val="4471C4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ts val="1889"/>
                        </a:lnSpc>
                      </a:pPr>
                      <a:r>
                        <a:rPr sz="1800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print(numbers)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2700">
                      <a:solidFill>
                        <a:srgbClr val="2E528F"/>
                      </a:solidFill>
                      <a:prstDash val="solid"/>
                    </a:lnL>
                    <a:lnR w="12700">
                      <a:solidFill>
                        <a:srgbClr val="2E528F"/>
                      </a:solidFill>
                      <a:prstDash val="solid"/>
                    </a:lnR>
                    <a:lnB w="12700">
                      <a:solidFill>
                        <a:srgbClr val="2E528F"/>
                      </a:solidFill>
                      <a:prstDash val="solid"/>
                    </a:lnB>
                    <a:solidFill>
                      <a:srgbClr val="4471C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grpSp>
        <p:nvGrpSpPr>
          <p:cNvPr id="6" name="object 6"/>
          <p:cNvGrpSpPr/>
          <p:nvPr/>
        </p:nvGrpSpPr>
        <p:grpSpPr>
          <a:xfrm>
            <a:off x="6554469" y="136905"/>
            <a:ext cx="5243195" cy="2219960"/>
            <a:chOff x="6554469" y="136905"/>
            <a:chExt cx="5243195" cy="2219960"/>
          </a:xfrm>
        </p:grpSpPr>
        <p:sp>
          <p:nvSpPr>
            <p:cNvPr id="7" name="object 7"/>
            <p:cNvSpPr/>
            <p:nvPr/>
          </p:nvSpPr>
          <p:spPr>
            <a:xfrm>
              <a:off x="6560819" y="143255"/>
              <a:ext cx="5230495" cy="2207260"/>
            </a:xfrm>
            <a:custGeom>
              <a:avLst/>
              <a:gdLst/>
              <a:ahLst/>
              <a:cxnLst/>
              <a:rect l="l" t="t" r="r" b="b"/>
              <a:pathLst>
                <a:path w="5230495" h="2207260">
                  <a:moveTo>
                    <a:pt x="5230368" y="0"/>
                  </a:moveTo>
                  <a:lnTo>
                    <a:pt x="0" y="0"/>
                  </a:lnTo>
                  <a:lnTo>
                    <a:pt x="0" y="2206752"/>
                  </a:lnTo>
                  <a:lnTo>
                    <a:pt x="5230368" y="2206752"/>
                  </a:lnTo>
                  <a:lnTo>
                    <a:pt x="5230368" y="0"/>
                  </a:lnTo>
                  <a:close/>
                </a:path>
              </a:pathLst>
            </a:custGeom>
            <a:solidFill>
              <a:srgbClr val="4471C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6560819" y="143255"/>
              <a:ext cx="5230495" cy="2207260"/>
            </a:xfrm>
            <a:custGeom>
              <a:avLst/>
              <a:gdLst/>
              <a:ahLst/>
              <a:cxnLst/>
              <a:rect l="l" t="t" r="r" b="b"/>
              <a:pathLst>
                <a:path w="5230495" h="2207260">
                  <a:moveTo>
                    <a:pt x="0" y="2206752"/>
                  </a:moveTo>
                  <a:lnTo>
                    <a:pt x="5230368" y="2206752"/>
                  </a:lnTo>
                  <a:lnTo>
                    <a:pt x="5230368" y="0"/>
                  </a:lnTo>
                  <a:lnTo>
                    <a:pt x="0" y="0"/>
                  </a:lnTo>
                  <a:lnTo>
                    <a:pt x="0" y="2206752"/>
                  </a:lnTo>
                  <a:close/>
                </a:path>
              </a:pathLst>
            </a:custGeom>
            <a:ln w="12700">
              <a:solidFill>
                <a:srgbClr val="2E528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6653530" y="396366"/>
            <a:ext cx="33909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my_list</a:t>
            </a:r>
            <a:r>
              <a:rPr sz="18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=</a:t>
            </a:r>
            <a:r>
              <a:rPr sz="1800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[]</a:t>
            </a:r>
            <a:r>
              <a:rPr sz="1800" spc="3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#</a:t>
            </a:r>
            <a:r>
              <a:rPr sz="1800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Creating</a:t>
            </a:r>
            <a:r>
              <a:rPr sz="18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an</a:t>
            </a:r>
            <a:r>
              <a:rPr sz="1800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empty</a:t>
            </a:r>
            <a:r>
              <a:rPr sz="18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Calibri"/>
                <a:cs typeface="Calibri"/>
              </a:rPr>
              <a:t>list.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6653530" y="945260"/>
            <a:ext cx="217614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08279" marR="5080" indent="-208915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for</a:t>
            </a:r>
            <a:r>
              <a:rPr sz="1800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i</a:t>
            </a:r>
            <a:r>
              <a:rPr sz="1800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in</a:t>
            </a:r>
            <a:r>
              <a:rPr sz="1800" spc="-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Calibri"/>
                <a:cs typeface="Calibri"/>
              </a:rPr>
              <a:t>range(5): my_list.append(i</a:t>
            </a:r>
            <a:r>
              <a:rPr sz="1800" spc="-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+</a:t>
            </a:r>
            <a:r>
              <a:rPr sz="1800" spc="-1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-25" dirty="0">
                <a:solidFill>
                  <a:srgbClr val="FFFFFF"/>
                </a:solidFill>
                <a:latin typeface="Calibri"/>
                <a:cs typeface="Calibri"/>
              </a:rPr>
              <a:t>1)</a:t>
            </a:r>
            <a:endParaRPr sz="1800" dirty="0">
              <a:latin typeface="Calibri"/>
              <a:cs typeface="Calibri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6653530" y="1768221"/>
            <a:ext cx="126047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solidFill>
                  <a:srgbClr val="FFFFFF"/>
                </a:solidFill>
                <a:latin typeface="Calibri"/>
                <a:cs typeface="Calibri"/>
              </a:rPr>
              <a:t>print(my_list)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6560819" y="2431287"/>
            <a:ext cx="5243195" cy="2219960"/>
            <a:chOff x="6554469" y="2384805"/>
            <a:chExt cx="5243195" cy="2219960"/>
          </a:xfrm>
        </p:grpSpPr>
        <p:sp>
          <p:nvSpPr>
            <p:cNvPr id="13" name="object 13"/>
            <p:cNvSpPr/>
            <p:nvPr/>
          </p:nvSpPr>
          <p:spPr>
            <a:xfrm>
              <a:off x="6560819" y="2391155"/>
              <a:ext cx="5230495" cy="2207260"/>
            </a:xfrm>
            <a:custGeom>
              <a:avLst/>
              <a:gdLst/>
              <a:ahLst/>
              <a:cxnLst/>
              <a:rect l="l" t="t" r="r" b="b"/>
              <a:pathLst>
                <a:path w="5230495" h="2207260">
                  <a:moveTo>
                    <a:pt x="5230368" y="0"/>
                  </a:moveTo>
                  <a:lnTo>
                    <a:pt x="0" y="0"/>
                  </a:lnTo>
                  <a:lnTo>
                    <a:pt x="0" y="2206752"/>
                  </a:lnTo>
                  <a:lnTo>
                    <a:pt x="5230368" y="2206752"/>
                  </a:lnTo>
                  <a:lnTo>
                    <a:pt x="5230368" y="0"/>
                  </a:lnTo>
                  <a:close/>
                </a:path>
              </a:pathLst>
            </a:custGeom>
            <a:solidFill>
              <a:srgbClr val="4471C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6560819" y="2391155"/>
              <a:ext cx="5230495" cy="2207260"/>
            </a:xfrm>
            <a:custGeom>
              <a:avLst/>
              <a:gdLst/>
              <a:ahLst/>
              <a:cxnLst/>
              <a:rect l="l" t="t" r="r" b="b"/>
              <a:pathLst>
                <a:path w="5230495" h="2207260">
                  <a:moveTo>
                    <a:pt x="0" y="2206752"/>
                  </a:moveTo>
                  <a:lnTo>
                    <a:pt x="5230368" y="2206752"/>
                  </a:lnTo>
                  <a:lnTo>
                    <a:pt x="5230368" y="0"/>
                  </a:lnTo>
                  <a:lnTo>
                    <a:pt x="0" y="0"/>
                  </a:lnTo>
                  <a:lnTo>
                    <a:pt x="0" y="2206752"/>
                  </a:lnTo>
                  <a:close/>
                </a:path>
              </a:pathLst>
            </a:custGeom>
            <a:ln w="12700">
              <a:solidFill>
                <a:srgbClr val="2E528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object 15"/>
          <p:cNvSpPr txBox="1"/>
          <p:nvPr/>
        </p:nvSpPr>
        <p:spPr>
          <a:xfrm>
            <a:off x="6653530" y="2506726"/>
            <a:ext cx="2472690" cy="19462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my_list</a:t>
            </a:r>
            <a:r>
              <a:rPr sz="18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=</a:t>
            </a:r>
            <a:r>
              <a:rPr sz="1800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[10,</a:t>
            </a:r>
            <a:r>
              <a:rPr sz="1800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1,</a:t>
            </a:r>
            <a:r>
              <a:rPr sz="1800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8,</a:t>
            </a:r>
            <a:r>
              <a:rPr sz="1800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3,</a:t>
            </a:r>
            <a:r>
              <a:rPr sz="18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-25" dirty="0">
                <a:solidFill>
                  <a:srgbClr val="FFFFFF"/>
                </a:solidFill>
                <a:latin typeface="Calibri"/>
                <a:cs typeface="Calibri"/>
              </a:rPr>
              <a:t>5]</a:t>
            </a:r>
            <a:endParaRPr sz="1800" dirty="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total</a:t>
            </a:r>
            <a:r>
              <a:rPr sz="18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=</a:t>
            </a:r>
            <a:r>
              <a:rPr sz="1800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-50" dirty="0">
                <a:solidFill>
                  <a:srgbClr val="FFFFFF"/>
                </a:solidFill>
                <a:latin typeface="Calibri"/>
                <a:cs typeface="Calibri"/>
              </a:rPr>
              <a:t>0</a:t>
            </a:r>
            <a:endParaRPr sz="1800" dirty="0">
              <a:latin typeface="Calibri"/>
              <a:cs typeface="Calibri"/>
            </a:endParaRPr>
          </a:p>
          <a:p>
            <a:pPr marL="208279" marR="5080" indent="-208915">
              <a:lnSpc>
                <a:spcPct val="100000"/>
              </a:lnSpc>
              <a:spcBef>
                <a:spcPts val="2160"/>
              </a:spcBef>
            </a:pP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for</a:t>
            </a:r>
            <a:r>
              <a:rPr sz="1800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i</a:t>
            </a:r>
            <a:r>
              <a:rPr sz="1800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in</a:t>
            </a:r>
            <a:r>
              <a:rPr sz="1800" spc="-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Calibri"/>
                <a:cs typeface="Calibri"/>
              </a:rPr>
              <a:t>range(len(my_list)):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total</a:t>
            </a:r>
            <a:r>
              <a:rPr sz="18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+=</a:t>
            </a:r>
            <a:r>
              <a:rPr sz="18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Calibri"/>
                <a:cs typeface="Calibri"/>
              </a:rPr>
              <a:t>my_list[i]</a:t>
            </a:r>
            <a:endParaRPr sz="1800" dirty="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2160"/>
              </a:spcBef>
            </a:pPr>
            <a:r>
              <a:rPr sz="1800" spc="-10" dirty="0">
                <a:solidFill>
                  <a:srgbClr val="FFFFFF"/>
                </a:solidFill>
                <a:latin typeface="Calibri"/>
                <a:cs typeface="Calibri"/>
              </a:rPr>
              <a:t>print(total)</a:t>
            </a:r>
            <a:endParaRPr sz="1800" dirty="0">
              <a:latin typeface="Calibri"/>
              <a:cs typeface="Calibri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6096000" y="4732020"/>
            <a:ext cx="6096000" cy="2077720"/>
          </a:xfrm>
          <a:custGeom>
            <a:avLst/>
            <a:gdLst/>
            <a:ahLst/>
            <a:cxnLst/>
            <a:rect l="l" t="t" r="r" b="b"/>
            <a:pathLst>
              <a:path w="6096000" h="2077720">
                <a:moveTo>
                  <a:pt x="6096000" y="0"/>
                </a:moveTo>
                <a:lnTo>
                  <a:pt x="0" y="0"/>
                </a:lnTo>
                <a:lnTo>
                  <a:pt x="0" y="2077211"/>
                </a:lnTo>
                <a:lnTo>
                  <a:pt x="6096000" y="2077211"/>
                </a:lnTo>
                <a:lnTo>
                  <a:pt x="6096000" y="0"/>
                </a:lnTo>
                <a:close/>
              </a:path>
            </a:pathLst>
          </a:custGeom>
          <a:solidFill>
            <a:srgbClr val="4471C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 txBox="1"/>
          <p:nvPr/>
        </p:nvSpPr>
        <p:spPr>
          <a:xfrm>
            <a:off x="6096000" y="4732020"/>
            <a:ext cx="6096000" cy="2077720"/>
          </a:xfrm>
          <a:prstGeom prst="rect">
            <a:avLst/>
          </a:prstGeom>
          <a:ln w="12700">
            <a:solidFill>
              <a:srgbClr val="2E528F"/>
            </a:solidFill>
          </a:ln>
        </p:spPr>
        <p:txBody>
          <a:bodyPr vert="horz" wrap="square" lIns="0" tIns="201930" rIns="0" bIns="0" rtlCol="0">
            <a:spAutoFit/>
          </a:bodyPr>
          <a:lstStyle/>
          <a:p>
            <a:pPr marL="92075" marR="3841750">
              <a:lnSpc>
                <a:spcPct val="100000"/>
              </a:lnSpc>
              <a:spcBef>
                <a:spcPts val="1590"/>
              </a:spcBef>
            </a:pP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my_list</a:t>
            </a:r>
            <a:r>
              <a:rPr sz="18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=</a:t>
            </a:r>
            <a:r>
              <a:rPr sz="1800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[10,</a:t>
            </a:r>
            <a:r>
              <a:rPr sz="1800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1,</a:t>
            </a:r>
            <a:r>
              <a:rPr sz="1800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8,</a:t>
            </a:r>
            <a:r>
              <a:rPr sz="1800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3,</a:t>
            </a:r>
            <a:r>
              <a:rPr sz="18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-25" dirty="0">
                <a:solidFill>
                  <a:srgbClr val="FFFFFF"/>
                </a:solidFill>
                <a:latin typeface="Calibri"/>
                <a:cs typeface="Calibri"/>
              </a:rPr>
              <a:t>5]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length</a:t>
            </a:r>
            <a:r>
              <a:rPr sz="18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=</a:t>
            </a:r>
            <a:r>
              <a:rPr sz="18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Calibri"/>
                <a:cs typeface="Calibri"/>
              </a:rPr>
              <a:t>len(my_list)</a:t>
            </a:r>
            <a:endParaRPr sz="1800">
              <a:latin typeface="Calibri"/>
              <a:cs typeface="Calibri"/>
            </a:endParaRPr>
          </a:p>
          <a:p>
            <a:pPr marL="92075">
              <a:lnSpc>
                <a:spcPct val="100000"/>
              </a:lnSpc>
            </a:pP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for</a:t>
            </a:r>
            <a:r>
              <a:rPr sz="18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i</a:t>
            </a:r>
            <a:r>
              <a:rPr sz="1800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in</a:t>
            </a:r>
            <a:r>
              <a:rPr sz="1800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Calibri"/>
                <a:cs typeface="Calibri"/>
              </a:rPr>
              <a:t>range(length</a:t>
            </a:r>
            <a:r>
              <a:rPr sz="1800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//</a:t>
            </a:r>
            <a:r>
              <a:rPr sz="1800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-25" dirty="0">
                <a:solidFill>
                  <a:srgbClr val="FFFFFF"/>
                </a:solidFill>
                <a:latin typeface="Calibri"/>
                <a:cs typeface="Calibri"/>
              </a:rPr>
              <a:t>2):</a:t>
            </a:r>
            <a:endParaRPr sz="1800">
              <a:latin typeface="Calibri"/>
              <a:cs typeface="Calibri"/>
            </a:endParaRPr>
          </a:p>
          <a:p>
            <a:pPr marL="92075" marR="725805" indent="208279">
              <a:lnSpc>
                <a:spcPct val="100000"/>
              </a:lnSpc>
            </a:pP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my_list[i],</a:t>
            </a:r>
            <a:r>
              <a:rPr sz="1800" spc="-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Calibri"/>
                <a:cs typeface="Calibri"/>
              </a:rPr>
              <a:t>my_list[length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-</a:t>
            </a:r>
            <a:r>
              <a:rPr sz="1800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i</a:t>
            </a:r>
            <a:r>
              <a:rPr sz="1800" spc="-1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-</a:t>
            </a:r>
            <a:r>
              <a:rPr sz="1800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1]</a:t>
            </a:r>
            <a:r>
              <a:rPr sz="1800" spc="-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=</a:t>
            </a:r>
            <a:r>
              <a:rPr sz="1800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Calibri"/>
                <a:cs typeface="Calibri"/>
              </a:rPr>
              <a:t>my_list[length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 -</a:t>
            </a:r>
            <a:r>
              <a:rPr sz="1800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i</a:t>
            </a:r>
            <a:r>
              <a:rPr sz="1800" spc="-1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-</a:t>
            </a:r>
            <a:r>
              <a:rPr sz="1800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-25" dirty="0">
                <a:solidFill>
                  <a:srgbClr val="FFFFFF"/>
                </a:solidFill>
                <a:latin typeface="Calibri"/>
                <a:cs typeface="Calibri"/>
              </a:rPr>
              <a:t>1], </a:t>
            </a:r>
            <a:r>
              <a:rPr sz="1800" spc="-10" dirty="0">
                <a:solidFill>
                  <a:srgbClr val="FFFFFF"/>
                </a:solidFill>
                <a:latin typeface="Calibri"/>
                <a:cs typeface="Calibri"/>
              </a:rPr>
              <a:t>my_list[i]</a:t>
            </a:r>
            <a:endParaRPr sz="1800">
              <a:latin typeface="Calibri"/>
              <a:cs typeface="Calibri"/>
            </a:endParaRPr>
          </a:p>
          <a:p>
            <a:pPr marL="92075">
              <a:lnSpc>
                <a:spcPct val="100000"/>
              </a:lnSpc>
            </a:pPr>
            <a:r>
              <a:rPr sz="1800" spc="-10" dirty="0">
                <a:solidFill>
                  <a:srgbClr val="FFFFFF"/>
                </a:solidFill>
                <a:latin typeface="Calibri"/>
                <a:cs typeface="Calibri"/>
              </a:rPr>
              <a:t>print(my_list)</a:t>
            </a:r>
            <a:endParaRPr sz="1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8739" y="202184"/>
            <a:ext cx="119888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solidFill>
                  <a:srgbClr val="4471C4"/>
                </a:solidFill>
                <a:latin typeface="Calibri"/>
                <a:cs typeface="Calibri"/>
              </a:rPr>
              <a:t>Sorting</a:t>
            </a:r>
            <a:r>
              <a:rPr sz="1800" b="1" spc="-35" dirty="0">
                <a:solidFill>
                  <a:srgbClr val="4471C4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4471C4"/>
                </a:solidFill>
                <a:latin typeface="Calibri"/>
                <a:cs typeface="Calibri"/>
              </a:rPr>
              <a:t>a</a:t>
            </a:r>
            <a:r>
              <a:rPr sz="1800" b="1" spc="5" dirty="0">
                <a:solidFill>
                  <a:srgbClr val="4471C4"/>
                </a:solidFill>
                <a:latin typeface="Calibri"/>
                <a:cs typeface="Calibri"/>
              </a:rPr>
              <a:t> </a:t>
            </a:r>
            <a:r>
              <a:rPr sz="1800" b="1" spc="-20" dirty="0">
                <a:solidFill>
                  <a:srgbClr val="4471C4"/>
                </a:solidFill>
                <a:latin typeface="Calibri"/>
                <a:cs typeface="Calibri"/>
              </a:rPr>
              <a:t>list</a:t>
            </a:r>
            <a:endParaRPr sz="1800" dirty="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0" y="754380"/>
            <a:ext cx="6096000" cy="4892040"/>
          </a:xfrm>
          <a:prstGeom prst="rect">
            <a:avLst/>
          </a:prstGeom>
          <a:solidFill>
            <a:srgbClr val="4471C4"/>
          </a:solidFill>
          <a:ln w="12700">
            <a:solidFill>
              <a:srgbClr val="2E528F"/>
            </a:solidFill>
          </a:ln>
        </p:spPr>
        <p:txBody>
          <a:bodyPr vert="horz" wrap="square" lIns="0" tIns="99060" rIns="0" bIns="0" rtlCol="0">
            <a:spAutoFit/>
          </a:bodyPr>
          <a:lstStyle/>
          <a:p>
            <a:pPr marL="91440" marR="4533265">
              <a:lnSpc>
                <a:spcPct val="100000"/>
              </a:lnSpc>
              <a:spcBef>
                <a:spcPts val="780"/>
              </a:spcBef>
            </a:pP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my_list</a:t>
            </a:r>
            <a:r>
              <a:rPr sz="1800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=</a:t>
            </a:r>
            <a:r>
              <a:rPr sz="18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-25" dirty="0">
                <a:solidFill>
                  <a:srgbClr val="FFFFFF"/>
                </a:solidFill>
                <a:latin typeface="Calibri"/>
                <a:cs typeface="Calibri"/>
              </a:rPr>
              <a:t>[]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swapped</a:t>
            </a:r>
            <a:r>
              <a:rPr sz="18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=</a:t>
            </a:r>
            <a:r>
              <a:rPr sz="1800" spc="-6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-25" dirty="0">
                <a:solidFill>
                  <a:srgbClr val="FFFFFF"/>
                </a:solidFill>
                <a:latin typeface="Calibri"/>
                <a:cs typeface="Calibri"/>
              </a:rPr>
              <a:t>True</a:t>
            </a:r>
            <a:endParaRPr sz="1800">
              <a:latin typeface="Calibri"/>
              <a:cs typeface="Calibri"/>
            </a:endParaRPr>
          </a:p>
          <a:p>
            <a:pPr marL="91440">
              <a:lnSpc>
                <a:spcPct val="100000"/>
              </a:lnSpc>
            </a:pP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num</a:t>
            </a:r>
            <a:r>
              <a:rPr sz="18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=</a:t>
            </a:r>
            <a:r>
              <a:rPr sz="1800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Calibri"/>
                <a:cs typeface="Calibri"/>
              </a:rPr>
              <a:t>int(input("How</a:t>
            </a:r>
            <a:r>
              <a:rPr sz="1800" spc="1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many</a:t>
            </a:r>
            <a:r>
              <a:rPr sz="18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elements</a:t>
            </a:r>
            <a:r>
              <a:rPr sz="18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do</a:t>
            </a:r>
            <a:r>
              <a:rPr sz="18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you</a:t>
            </a:r>
            <a:r>
              <a:rPr sz="18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want</a:t>
            </a:r>
            <a:r>
              <a:rPr sz="18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to</a:t>
            </a:r>
            <a:r>
              <a:rPr sz="18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sort:</a:t>
            </a:r>
            <a:r>
              <a:rPr sz="18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-25" dirty="0">
                <a:solidFill>
                  <a:srgbClr val="FFFFFF"/>
                </a:solidFill>
                <a:latin typeface="Calibri"/>
                <a:cs typeface="Calibri"/>
              </a:rPr>
              <a:t>"))</a:t>
            </a:r>
            <a:endParaRPr sz="1800">
              <a:latin typeface="Calibri"/>
              <a:cs typeface="Calibri"/>
            </a:endParaRPr>
          </a:p>
          <a:p>
            <a:pPr marL="91440">
              <a:lnSpc>
                <a:spcPct val="100000"/>
              </a:lnSpc>
              <a:spcBef>
                <a:spcPts val="2160"/>
              </a:spcBef>
            </a:pP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for</a:t>
            </a:r>
            <a:r>
              <a:rPr sz="18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i</a:t>
            </a:r>
            <a:r>
              <a:rPr sz="1800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in</a:t>
            </a:r>
            <a:r>
              <a:rPr sz="1800" spc="-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Calibri"/>
                <a:cs typeface="Calibri"/>
              </a:rPr>
              <a:t>range(num):</a:t>
            </a:r>
            <a:endParaRPr sz="1800">
              <a:latin typeface="Calibri"/>
              <a:cs typeface="Calibri"/>
            </a:endParaRPr>
          </a:p>
          <a:p>
            <a:pPr marL="299720" marR="2011680">
              <a:lnSpc>
                <a:spcPct val="100000"/>
              </a:lnSpc>
              <a:spcBef>
                <a:spcPts val="5"/>
              </a:spcBef>
            </a:pP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val</a:t>
            </a:r>
            <a:r>
              <a:rPr sz="18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=</a:t>
            </a:r>
            <a:r>
              <a:rPr sz="18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Calibri"/>
                <a:cs typeface="Calibri"/>
              </a:rPr>
              <a:t>float(input("Enter</a:t>
            </a:r>
            <a:r>
              <a:rPr sz="1800" spc="-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sz="1800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list</a:t>
            </a:r>
            <a:r>
              <a:rPr sz="18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element:</a:t>
            </a:r>
            <a:r>
              <a:rPr sz="1800" spc="-25" dirty="0">
                <a:solidFill>
                  <a:srgbClr val="FFFFFF"/>
                </a:solidFill>
                <a:latin typeface="Calibri"/>
                <a:cs typeface="Calibri"/>
              </a:rPr>
              <a:t> ")) </a:t>
            </a:r>
            <a:r>
              <a:rPr sz="1800" spc="-10" dirty="0">
                <a:solidFill>
                  <a:srgbClr val="FFFFFF"/>
                </a:solidFill>
                <a:latin typeface="Calibri"/>
                <a:cs typeface="Calibri"/>
              </a:rPr>
              <a:t>my_list.append(val)</a:t>
            </a:r>
            <a:endParaRPr sz="1800">
              <a:latin typeface="Calibri"/>
              <a:cs typeface="Calibri"/>
            </a:endParaRPr>
          </a:p>
          <a:p>
            <a:pPr marL="299720" marR="4269740" indent="-208915">
              <a:lnSpc>
                <a:spcPct val="100000"/>
              </a:lnSpc>
              <a:spcBef>
                <a:spcPts val="2160"/>
              </a:spcBef>
            </a:pP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while</a:t>
            </a:r>
            <a:r>
              <a:rPr sz="1800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Calibri"/>
                <a:cs typeface="Calibri"/>
              </a:rPr>
              <a:t>swapped: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swapped</a:t>
            </a:r>
            <a:r>
              <a:rPr sz="18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=</a:t>
            </a:r>
            <a:r>
              <a:rPr sz="18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Calibri"/>
                <a:cs typeface="Calibri"/>
              </a:rPr>
              <a:t>False</a:t>
            </a:r>
            <a:endParaRPr sz="1800">
              <a:latin typeface="Calibri"/>
              <a:cs typeface="Calibri"/>
            </a:endParaRPr>
          </a:p>
          <a:p>
            <a:pPr marL="299720">
              <a:lnSpc>
                <a:spcPct val="100000"/>
              </a:lnSpc>
            </a:pP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for</a:t>
            </a:r>
            <a:r>
              <a:rPr sz="1800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i</a:t>
            </a:r>
            <a:r>
              <a:rPr sz="1800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in</a:t>
            </a:r>
            <a:r>
              <a:rPr sz="1800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Calibri"/>
                <a:cs typeface="Calibri"/>
              </a:rPr>
              <a:t>range(len(my_list)</a:t>
            </a:r>
            <a:r>
              <a:rPr sz="1800" spc="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-</a:t>
            </a:r>
            <a:r>
              <a:rPr sz="1800" spc="-25" dirty="0">
                <a:solidFill>
                  <a:srgbClr val="FFFFFF"/>
                </a:solidFill>
                <a:latin typeface="Calibri"/>
                <a:cs typeface="Calibri"/>
              </a:rPr>
              <a:t> 1):</a:t>
            </a:r>
            <a:endParaRPr sz="1800">
              <a:latin typeface="Calibri"/>
              <a:cs typeface="Calibri"/>
            </a:endParaRPr>
          </a:p>
          <a:p>
            <a:pPr marL="718820" marR="3075940" indent="-208915">
              <a:lnSpc>
                <a:spcPct val="100000"/>
              </a:lnSpc>
            </a:pP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if</a:t>
            </a:r>
            <a:r>
              <a:rPr sz="1800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Calibri"/>
                <a:cs typeface="Calibri"/>
              </a:rPr>
              <a:t>my_list[i]</a:t>
            </a:r>
            <a:r>
              <a:rPr sz="1800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&gt;</a:t>
            </a:r>
            <a:r>
              <a:rPr sz="1800" spc="-1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my_list[i</a:t>
            </a:r>
            <a:r>
              <a:rPr sz="18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+</a:t>
            </a:r>
            <a:r>
              <a:rPr sz="1800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-25" dirty="0">
                <a:solidFill>
                  <a:srgbClr val="FFFFFF"/>
                </a:solidFill>
                <a:latin typeface="Calibri"/>
                <a:cs typeface="Calibri"/>
              </a:rPr>
              <a:t>1]: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swapped</a:t>
            </a:r>
            <a:r>
              <a:rPr sz="18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=</a:t>
            </a:r>
            <a:r>
              <a:rPr sz="18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-20" dirty="0">
                <a:solidFill>
                  <a:srgbClr val="FFFFFF"/>
                </a:solidFill>
                <a:latin typeface="Calibri"/>
                <a:cs typeface="Calibri"/>
              </a:rPr>
              <a:t>True</a:t>
            </a:r>
            <a:endParaRPr sz="1800">
              <a:latin typeface="Calibri"/>
              <a:cs typeface="Calibri"/>
            </a:endParaRPr>
          </a:p>
          <a:p>
            <a:pPr marL="718820">
              <a:lnSpc>
                <a:spcPct val="100000"/>
              </a:lnSpc>
            </a:pP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my_list[i],</a:t>
            </a:r>
            <a:r>
              <a:rPr sz="18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my_list[i</a:t>
            </a:r>
            <a:r>
              <a:rPr sz="18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+</a:t>
            </a:r>
            <a:r>
              <a:rPr sz="18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1]</a:t>
            </a:r>
            <a:r>
              <a:rPr sz="18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=</a:t>
            </a:r>
            <a:r>
              <a:rPr sz="18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my_list[i</a:t>
            </a:r>
            <a:r>
              <a:rPr sz="18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+</a:t>
            </a:r>
            <a:r>
              <a:rPr sz="18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1],</a:t>
            </a:r>
            <a:r>
              <a:rPr sz="18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Calibri"/>
                <a:cs typeface="Calibri"/>
              </a:rPr>
              <a:t>my_list[i]</a:t>
            </a:r>
            <a:endParaRPr sz="1800">
              <a:latin typeface="Calibri"/>
              <a:cs typeface="Calibri"/>
            </a:endParaRPr>
          </a:p>
          <a:p>
            <a:pPr marL="91440" marR="4347210">
              <a:lnSpc>
                <a:spcPct val="100000"/>
              </a:lnSpc>
              <a:spcBef>
                <a:spcPts val="2160"/>
              </a:spcBef>
            </a:pPr>
            <a:r>
              <a:rPr sz="1800" spc="-10" dirty="0">
                <a:solidFill>
                  <a:srgbClr val="FFFFFF"/>
                </a:solidFill>
                <a:latin typeface="Calibri"/>
                <a:cs typeface="Calibri"/>
              </a:rPr>
              <a:t>print("\nSorted:") print(my_list)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-6350" y="5704078"/>
            <a:ext cx="4857750" cy="1160780"/>
            <a:chOff x="-6350" y="5704078"/>
            <a:chExt cx="4857750" cy="1160780"/>
          </a:xfrm>
        </p:grpSpPr>
        <p:sp>
          <p:nvSpPr>
            <p:cNvPr id="5" name="object 5"/>
            <p:cNvSpPr/>
            <p:nvPr/>
          </p:nvSpPr>
          <p:spPr>
            <a:xfrm>
              <a:off x="0" y="5710428"/>
              <a:ext cx="4845050" cy="1148080"/>
            </a:xfrm>
            <a:custGeom>
              <a:avLst/>
              <a:gdLst/>
              <a:ahLst/>
              <a:cxnLst/>
              <a:rect l="l" t="t" r="r" b="b"/>
              <a:pathLst>
                <a:path w="4845050" h="1148079">
                  <a:moveTo>
                    <a:pt x="4844796" y="0"/>
                  </a:moveTo>
                  <a:lnTo>
                    <a:pt x="0" y="0"/>
                  </a:lnTo>
                  <a:lnTo>
                    <a:pt x="0" y="1147572"/>
                  </a:lnTo>
                  <a:lnTo>
                    <a:pt x="4844796" y="1147572"/>
                  </a:lnTo>
                  <a:lnTo>
                    <a:pt x="4844796" y="0"/>
                  </a:lnTo>
                  <a:close/>
                </a:path>
              </a:pathLst>
            </a:custGeom>
            <a:solidFill>
              <a:srgbClr val="EC7C3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0" y="5710428"/>
              <a:ext cx="4845050" cy="1148080"/>
            </a:xfrm>
            <a:custGeom>
              <a:avLst/>
              <a:gdLst/>
              <a:ahLst/>
              <a:cxnLst/>
              <a:rect l="l" t="t" r="r" b="b"/>
              <a:pathLst>
                <a:path w="4845050" h="1148079">
                  <a:moveTo>
                    <a:pt x="0" y="1147572"/>
                  </a:moveTo>
                  <a:lnTo>
                    <a:pt x="4844796" y="1147572"/>
                  </a:lnTo>
                  <a:lnTo>
                    <a:pt x="4844796" y="0"/>
                  </a:lnTo>
                  <a:lnTo>
                    <a:pt x="0" y="0"/>
                  </a:lnTo>
                  <a:lnTo>
                    <a:pt x="0" y="1147572"/>
                  </a:lnTo>
                  <a:close/>
                </a:path>
              </a:pathLst>
            </a:custGeom>
            <a:ln w="12700">
              <a:solidFill>
                <a:srgbClr val="AD5A2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78739" y="5846165"/>
            <a:ext cx="2179955" cy="84899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my_list</a:t>
            </a:r>
            <a:r>
              <a:rPr sz="18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=</a:t>
            </a:r>
            <a:r>
              <a:rPr sz="1800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[8,</a:t>
            </a:r>
            <a:r>
              <a:rPr sz="1800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10,</a:t>
            </a:r>
            <a:r>
              <a:rPr sz="1800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6,</a:t>
            </a:r>
            <a:r>
              <a:rPr sz="1800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2,</a:t>
            </a:r>
            <a:r>
              <a:rPr sz="18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-25" dirty="0">
                <a:solidFill>
                  <a:srgbClr val="FFFFFF"/>
                </a:solidFill>
                <a:latin typeface="Calibri"/>
                <a:cs typeface="Calibri"/>
              </a:rPr>
              <a:t>4] </a:t>
            </a:r>
            <a:r>
              <a:rPr sz="1800" spc="-10" dirty="0">
                <a:solidFill>
                  <a:srgbClr val="FFFFFF"/>
                </a:solidFill>
                <a:latin typeface="Calibri"/>
                <a:cs typeface="Calibri"/>
              </a:rPr>
              <a:t>my_list.sort() print(my_list)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xfrm>
            <a:off x="8128761" y="202184"/>
            <a:ext cx="1939289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>
                <a:solidFill>
                  <a:srgbClr val="4471C4"/>
                </a:solidFill>
              </a:rPr>
              <a:t>The</a:t>
            </a:r>
            <a:r>
              <a:rPr spc="-30" dirty="0">
                <a:solidFill>
                  <a:srgbClr val="4471C4"/>
                </a:solidFill>
              </a:rPr>
              <a:t> </a:t>
            </a:r>
            <a:r>
              <a:rPr dirty="0">
                <a:solidFill>
                  <a:srgbClr val="4471C4"/>
                </a:solidFill>
              </a:rPr>
              <a:t>inner</a:t>
            </a:r>
            <a:r>
              <a:rPr spc="-50" dirty="0">
                <a:solidFill>
                  <a:srgbClr val="4471C4"/>
                </a:solidFill>
              </a:rPr>
              <a:t> </a:t>
            </a:r>
            <a:r>
              <a:rPr dirty="0">
                <a:solidFill>
                  <a:srgbClr val="4471C4"/>
                </a:solidFill>
              </a:rPr>
              <a:t>life</a:t>
            </a:r>
            <a:r>
              <a:rPr spc="-30" dirty="0">
                <a:solidFill>
                  <a:srgbClr val="4471C4"/>
                </a:solidFill>
              </a:rPr>
              <a:t> </a:t>
            </a:r>
            <a:r>
              <a:rPr dirty="0">
                <a:solidFill>
                  <a:srgbClr val="4471C4"/>
                </a:solidFill>
              </a:rPr>
              <a:t>of</a:t>
            </a:r>
            <a:r>
              <a:rPr spc="-20" dirty="0">
                <a:solidFill>
                  <a:srgbClr val="4471C4"/>
                </a:solidFill>
              </a:rPr>
              <a:t> lists</a:t>
            </a:r>
          </a:p>
        </p:txBody>
      </p:sp>
      <p:graphicFrame>
        <p:nvGraphicFramePr>
          <p:cNvPr id="9" name="object 9"/>
          <p:cNvGraphicFramePr>
            <a:graphicFrameLocks noGrp="1"/>
          </p:cNvGraphicFramePr>
          <p:nvPr/>
        </p:nvGraphicFramePr>
        <p:xfrm>
          <a:off x="6716014" y="748030"/>
          <a:ext cx="5468620" cy="141097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9399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6603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626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410970">
                <a:tc>
                  <a:txBody>
                    <a:bodyPr/>
                    <a:lstStyle/>
                    <a:p>
                      <a:pPr marL="91440" marR="627380">
                        <a:lnSpc>
                          <a:spcPct val="100000"/>
                        </a:lnSpc>
                        <a:spcBef>
                          <a:spcPts val="1115"/>
                        </a:spcBef>
                      </a:pPr>
                      <a:r>
                        <a:rPr sz="180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list_1</a:t>
                      </a:r>
                      <a:r>
                        <a:rPr sz="1800" spc="-2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=</a:t>
                      </a:r>
                      <a:r>
                        <a:rPr sz="1800" spc="-3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2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[1] </a:t>
                      </a:r>
                      <a:r>
                        <a:rPr sz="180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list_2</a:t>
                      </a:r>
                      <a:r>
                        <a:rPr sz="1800" spc="-2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=</a:t>
                      </a:r>
                      <a:r>
                        <a:rPr sz="1800" spc="-2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list_1 </a:t>
                      </a:r>
                      <a:r>
                        <a:rPr sz="180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list_1[0]</a:t>
                      </a:r>
                      <a:r>
                        <a:rPr sz="1800" spc="-1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=</a:t>
                      </a:r>
                      <a:r>
                        <a:rPr sz="1800" spc="-2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5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2 </a:t>
                      </a:r>
                      <a:r>
                        <a:rPr sz="1800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print(list_2)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141605" marB="0">
                    <a:lnL w="12700">
                      <a:solidFill>
                        <a:srgbClr val="2E528F"/>
                      </a:solidFill>
                      <a:prstDash val="solid"/>
                    </a:lnL>
                    <a:lnR w="12700">
                      <a:solidFill>
                        <a:srgbClr val="507D31"/>
                      </a:solidFill>
                      <a:prstDash val="solid"/>
                    </a:lnR>
                    <a:lnT w="12700">
                      <a:solidFill>
                        <a:srgbClr val="2E528F"/>
                      </a:solidFill>
                      <a:prstDash val="solid"/>
                    </a:lnT>
                    <a:lnB w="12700">
                      <a:solidFill>
                        <a:srgbClr val="2E528F"/>
                      </a:solidFill>
                      <a:prstDash val="solid"/>
                    </a:lnB>
                    <a:solidFill>
                      <a:srgbClr val="4471C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marL="731520">
                        <a:lnSpc>
                          <a:spcPct val="100000"/>
                        </a:lnSpc>
                      </a:pPr>
                      <a:r>
                        <a:rPr sz="180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Output</a:t>
                      </a:r>
                      <a:r>
                        <a:rPr sz="1800" spc="-2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=</a:t>
                      </a:r>
                      <a:r>
                        <a:rPr sz="1800" spc="-3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2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2?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2700">
                      <a:solidFill>
                        <a:srgbClr val="507D31"/>
                      </a:solidFill>
                      <a:prstDash val="solid"/>
                    </a:lnL>
                    <a:lnR w="12700">
                      <a:solidFill>
                        <a:srgbClr val="507D31"/>
                      </a:solidFill>
                      <a:prstDash val="solid"/>
                    </a:lnR>
                    <a:lnT w="12700">
                      <a:solidFill>
                        <a:srgbClr val="507D31"/>
                      </a:solidFill>
                      <a:prstDash val="solid"/>
                    </a:lnT>
                    <a:lnB w="12700">
                      <a:solidFill>
                        <a:srgbClr val="507D31"/>
                      </a:solidFill>
                      <a:prstDash val="solid"/>
                    </a:lnB>
                    <a:solidFill>
                      <a:srgbClr val="6FAC4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507D31"/>
                      </a:solidFill>
                      <a:prstDash val="solid"/>
                    </a:lnL>
                    <a:lnT w="12700">
                      <a:solidFill>
                        <a:srgbClr val="2E528F"/>
                      </a:solidFill>
                      <a:prstDash val="solid"/>
                    </a:lnT>
                    <a:lnB w="12700">
                      <a:solidFill>
                        <a:srgbClr val="2E528F"/>
                      </a:solidFill>
                      <a:prstDash val="solid"/>
                    </a:lnB>
                    <a:solidFill>
                      <a:srgbClr val="4471C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0" name="object 10"/>
          <p:cNvSpPr txBox="1"/>
          <p:nvPr/>
        </p:nvSpPr>
        <p:spPr>
          <a:xfrm>
            <a:off x="8494014" y="2544266"/>
            <a:ext cx="53276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b="1" spc="-10" dirty="0">
                <a:solidFill>
                  <a:srgbClr val="4471C4"/>
                </a:solidFill>
                <a:latin typeface="Calibri"/>
                <a:cs typeface="Calibri"/>
              </a:rPr>
              <a:t>S</a:t>
            </a:r>
            <a:r>
              <a:rPr sz="1800" b="1" spc="-10" dirty="0">
                <a:solidFill>
                  <a:srgbClr val="4471C4"/>
                </a:solidFill>
                <a:latin typeface="Calibri"/>
                <a:cs typeface="Calibri"/>
              </a:rPr>
              <a:t>lices</a:t>
            </a:r>
            <a:endParaRPr sz="1800" dirty="0">
              <a:latin typeface="Calibri"/>
              <a:cs typeface="Calibri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6394450" y="3422649"/>
            <a:ext cx="5803900" cy="3441700"/>
            <a:chOff x="6394450" y="3422649"/>
            <a:chExt cx="5803900" cy="3441700"/>
          </a:xfrm>
        </p:grpSpPr>
        <p:sp>
          <p:nvSpPr>
            <p:cNvPr id="12" name="object 12"/>
            <p:cNvSpPr/>
            <p:nvPr/>
          </p:nvSpPr>
          <p:spPr>
            <a:xfrm>
              <a:off x="6400800" y="3428999"/>
              <a:ext cx="5791200" cy="3429000"/>
            </a:xfrm>
            <a:custGeom>
              <a:avLst/>
              <a:gdLst/>
              <a:ahLst/>
              <a:cxnLst/>
              <a:rect l="l" t="t" r="r" b="b"/>
              <a:pathLst>
                <a:path w="5791200" h="3429000">
                  <a:moveTo>
                    <a:pt x="5791200" y="0"/>
                  </a:moveTo>
                  <a:lnTo>
                    <a:pt x="0" y="0"/>
                  </a:lnTo>
                  <a:lnTo>
                    <a:pt x="0" y="3429000"/>
                  </a:lnTo>
                  <a:lnTo>
                    <a:pt x="5791200" y="3429000"/>
                  </a:lnTo>
                  <a:lnTo>
                    <a:pt x="5791200" y="0"/>
                  </a:lnTo>
                  <a:close/>
                </a:path>
              </a:pathLst>
            </a:custGeom>
            <a:solidFill>
              <a:srgbClr val="4471C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6400800" y="3428999"/>
              <a:ext cx="5791200" cy="3429000"/>
            </a:xfrm>
            <a:custGeom>
              <a:avLst/>
              <a:gdLst/>
              <a:ahLst/>
              <a:cxnLst/>
              <a:rect l="l" t="t" r="r" b="b"/>
              <a:pathLst>
                <a:path w="5791200" h="3429000">
                  <a:moveTo>
                    <a:pt x="0" y="3429000"/>
                  </a:moveTo>
                  <a:lnTo>
                    <a:pt x="5791200" y="3429000"/>
                  </a:lnTo>
                  <a:lnTo>
                    <a:pt x="5791200" y="0"/>
                  </a:lnTo>
                  <a:lnTo>
                    <a:pt x="0" y="0"/>
                  </a:lnTo>
                  <a:lnTo>
                    <a:pt x="0" y="3429000"/>
                  </a:lnTo>
                  <a:close/>
                </a:path>
              </a:pathLst>
            </a:custGeom>
            <a:ln w="12700">
              <a:solidFill>
                <a:srgbClr val="2E528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 txBox="1"/>
          <p:nvPr/>
        </p:nvSpPr>
        <p:spPr>
          <a:xfrm>
            <a:off x="6480428" y="3469970"/>
            <a:ext cx="228409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#</a:t>
            </a:r>
            <a:r>
              <a:rPr sz="18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Copying</a:t>
            </a:r>
            <a:r>
              <a:rPr sz="1800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the</a:t>
            </a:r>
            <a:r>
              <a:rPr sz="18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entire</a:t>
            </a:r>
            <a:r>
              <a:rPr sz="18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-20" dirty="0">
                <a:solidFill>
                  <a:srgbClr val="FFFFFF"/>
                </a:solidFill>
                <a:latin typeface="Calibri"/>
                <a:cs typeface="Calibri"/>
              </a:rPr>
              <a:t>list.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6480428" y="3744848"/>
            <a:ext cx="1440815" cy="11226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list_1</a:t>
            </a:r>
            <a:r>
              <a:rPr sz="1800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=</a:t>
            </a:r>
            <a:r>
              <a:rPr sz="18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-25" dirty="0">
                <a:solidFill>
                  <a:srgbClr val="FFFFFF"/>
                </a:solidFill>
                <a:latin typeface="Calibri"/>
                <a:cs typeface="Calibri"/>
              </a:rPr>
              <a:t>[1]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list_2</a:t>
            </a:r>
            <a:r>
              <a:rPr sz="1800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=</a:t>
            </a:r>
            <a:r>
              <a:rPr sz="18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Calibri"/>
                <a:cs typeface="Calibri"/>
              </a:rPr>
              <a:t>list_1[:]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list_1[0]</a:t>
            </a:r>
            <a:r>
              <a:rPr sz="1800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=</a:t>
            </a:r>
            <a:r>
              <a:rPr sz="1800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-50" dirty="0">
                <a:solidFill>
                  <a:srgbClr val="FFFFFF"/>
                </a:solidFill>
                <a:latin typeface="Calibri"/>
                <a:cs typeface="Calibri"/>
              </a:rPr>
              <a:t>2 </a:t>
            </a:r>
            <a:r>
              <a:rPr sz="1800" spc="-10" dirty="0">
                <a:solidFill>
                  <a:srgbClr val="FFFFFF"/>
                </a:solidFill>
                <a:latin typeface="Calibri"/>
                <a:cs typeface="Calibri"/>
              </a:rPr>
              <a:t>print(list_2)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6480428" y="5116144"/>
            <a:ext cx="2190115" cy="16719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14604" algn="just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my_list</a:t>
            </a:r>
            <a:r>
              <a:rPr sz="1800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=</a:t>
            </a:r>
            <a:r>
              <a:rPr sz="1800" spc="-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[10,</a:t>
            </a:r>
            <a:r>
              <a:rPr sz="1800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8,</a:t>
            </a:r>
            <a:r>
              <a:rPr sz="1800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6,</a:t>
            </a:r>
            <a:r>
              <a:rPr sz="1800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4,</a:t>
            </a:r>
            <a:r>
              <a:rPr sz="1800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-25" dirty="0">
                <a:solidFill>
                  <a:srgbClr val="FFFFFF"/>
                </a:solidFill>
                <a:latin typeface="Calibri"/>
                <a:cs typeface="Calibri"/>
              </a:rPr>
              <a:t>2]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new_list</a:t>
            </a:r>
            <a:r>
              <a:rPr sz="18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=</a:t>
            </a:r>
            <a:r>
              <a:rPr sz="18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Calibri"/>
                <a:cs typeface="Calibri"/>
              </a:rPr>
              <a:t>my_list[1:3] print(new_list)</a:t>
            </a:r>
            <a:endParaRPr sz="1800">
              <a:latin typeface="Calibri"/>
              <a:cs typeface="Calibri"/>
            </a:endParaRPr>
          </a:p>
          <a:p>
            <a:pPr marL="12700" marR="5080" algn="just">
              <a:lnSpc>
                <a:spcPct val="100000"/>
              </a:lnSpc>
              <a:spcBef>
                <a:spcPts val="5"/>
              </a:spcBef>
            </a:pP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my_list</a:t>
            </a:r>
            <a:r>
              <a:rPr sz="18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=</a:t>
            </a:r>
            <a:r>
              <a:rPr sz="1800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[10,</a:t>
            </a:r>
            <a:r>
              <a:rPr sz="1800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8,</a:t>
            </a:r>
            <a:r>
              <a:rPr sz="1800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6,</a:t>
            </a:r>
            <a:r>
              <a:rPr sz="1800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4,</a:t>
            </a:r>
            <a:r>
              <a:rPr sz="18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-25" dirty="0">
                <a:solidFill>
                  <a:srgbClr val="FFFFFF"/>
                </a:solidFill>
                <a:latin typeface="Calibri"/>
                <a:cs typeface="Calibri"/>
              </a:rPr>
              <a:t>2]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new_list</a:t>
            </a:r>
            <a:r>
              <a:rPr sz="1800" spc="1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=</a:t>
            </a:r>
            <a:r>
              <a:rPr sz="1800" spc="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-20" dirty="0">
                <a:solidFill>
                  <a:srgbClr val="FFFFFF"/>
                </a:solidFill>
                <a:latin typeface="Calibri"/>
                <a:cs typeface="Calibri"/>
              </a:rPr>
              <a:t>my_list[1:-</a:t>
            </a:r>
            <a:r>
              <a:rPr sz="1800" spc="-25" dirty="0">
                <a:solidFill>
                  <a:srgbClr val="FFFFFF"/>
                </a:solidFill>
                <a:latin typeface="Calibri"/>
                <a:cs typeface="Calibri"/>
              </a:rPr>
              <a:t>1] </a:t>
            </a:r>
            <a:r>
              <a:rPr sz="1800" spc="-10" dirty="0">
                <a:solidFill>
                  <a:srgbClr val="FFFFFF"/>
                </a:solidFill>
                <a:latin typeface="Calibri"/>
                <a:cs typeface="Calibri"/>
              </a:rPr>
              <a:t>print(new_list)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7138416" y="2895600"/>
            <a:ext cx="4700270" cy="533400"/>
          </a:xfrm>
          <a:prstGeom prst="rect">
            <a:avLst/>
          </a:prstGeom>
          <a:solidFill>
            <a:srgbClr val="EC7C30"/>
          </a:solidFill>
          <a:ln w="12700">
            <a:solidFill>
              <a:srgbClr val="AD5A20"/>
            </a:solidFill>
          </a:ln>
        </p:spPr>
        <p:txBody>
          <a:bodyPr vert="horz" wrap="square" lIns="0" tIns="114935" rIns="0" bIns="0" rtlCol="0">
            <a:spAutoFit/>
          </a:bodyPr>
          <a:lstStyle/>
          <a:p>
            <a:pPr marL="1270" algn="ctr">
              <a:lnSpc>
                <a:spcPct val="100000"/>
              </a:lnSpc>
              <a:spcBef>
                <a:spcPts val="905"/>
              </a:spcBef>
            </a:pPr>
            <a:r>
              <a:rPr sz="1800" spc="-10" dirty="0">
                <a:solidFill>
                  <a:srgbClr val="FFFFFF"/>
                </a:solidFill>
                <a:latin typeface="Calibri"/>
                <a:cs typeface="Calibri"/>
              </a:rPr>
              <a:t>my_list[start:end]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9416795" y="3625595"/>
            <a:ext cx="2775585" cy="3232785"/>
          </a:xfrm>
          <a:custGeom>
            <a:avLst/>
            <a:gdLst/>
            <a:ahLst/>
            <a:cxnLst/>
            <a:rect l="l" t="t" r="r" b="b"/>
            <a:pathLst>
              <a:path w="2775584" h="3232784">
                <a:moveTo>
                  <a:pt x="0" y="3232404"/>
                </a:moveTo>
                <a:lnTo>
                  <a:pt x="2775204" y="3232404"/>
                </a:lnTo>
                <a:lnTo>
                  <a:pt x="2775204" y="0"/>
                </a:lnTo>
                <a:lnTo>
                  <a:pt x="0" y="0"/>
                </a:lnTo>
                <a:lnTo>
                  <a:pt x="0" y="3232404"/>
                </a:lnTo>
                <a:close/>
              </a:path>
            </a:pathLst>
          </a:custGeom>
          <a:ln w="12700">
            <a:solidFill>
              <a:srgbClr val="2E528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 txBox="1"/>
          <p:nvPr/>
        </p:nvSpPr>
        <p:spPr>
          <a:xfrm>
            <a:off x="6455028" y="4842129"/>
            <a:ext cx="524700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#</a:t>
            </a:r>
            <a:r>
              <a:rPr sz="18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Copying</a:t>
            </a:r>
            <a:r>
              <a:rPr sz="1800" spc="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some</a:t>
            </a:r>
            <a:r>
              <a:rPr sz="18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part</a:t>
            </a:r>
            <a:r>
              <a:rPr sz="1800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of</a:t>
            </a:r>
            <a:r>
              <a:rPr sz="1800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the</a:t>
            </a:r>
            <a:r>
              <a:rPr sz="1800" spc="-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list.</a:t>
            </a:r>
            <a:r>
              <a:rPr sz="1800" spc="45" dirty="0">
                <a:solidFill>
                  <a:srgbClr val="FFFFFF"/>
                </a:solidFill>
                <a:latin typeface="Calibri"/>
                <a:cs typeface="Calibri"/>
              </a:rPr>
              <a:t>  </a:t>
            </a:r>
            <a:r>
              <a:rPr sz="2700" baseline="9259" dirty="0">
                <a:solidFill>
                  <a:srgbClr val="FFFFFF"/>
                </a:solidFill>
                <a:latin typeface="Calibri"/>
                <a:cs typeface="Calibri"/>
              </a:rPr>
              <a:t>my_list</a:t>
            </a:r>
            <a:r>
              <a:rPr sz="2700" spc="-30" baseline="9259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700" baseline="9259" dirty="0">
                <a:solidFill>
                  <a:srgbClr val="FFFFFF"/>
                </a:solidFill>
                <a:latin typeface="Calibri"/>
                <a:cs typeface="Calibri"/>
              </a:rPr>
              <a:t>=</a:t>
            </a:r>
            <a:r>
              <a:rPr sz="2700" spc="-15" baseline="9259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700" baseline="9259" dirty="0">
                <a:solidFill>
                  <a:srgbClr val="FFFFFF"/>
                </a:solidFill>
                <a:latin typeface="Calibri"/>
                <a:cs typeface="Calibri"/>
              </a:rPr>
              <a:t>[10,</a:t>
            </a:r>
            <a:r>
              <a:rPr sz="2700" spc="-30" baseline="9259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700" baseline="9259" dirty="0">
                <a:solidFill>
                  <a:srgbClr val="FFFFFF"/>
                </a:solidFill>
                <a:latin typeface="Calibri"/>
                <a:cs typeface="Calibri"/>
              </a:rPr>
              <a:t>8,</a:t>
            </a:r>
            <a:r>
              <a:rPr sz="2700" spc="-37" baseline="9259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700" baseline="9259" dirty="0">
                <a:solidFill>
                  <a:srgbClr val="FFFFFF"/>
                </a:solidFill>
                <a:latin typeface="Calibri"/>
                <a:cs typeface="Calibri"/>
              </a:rPr>
              <a:t>6,</a:t>
            </a:r>
            <a:r>
              <a:rPr sz="2700" spc="-30" baseline="9259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700" baseline="9259" dirty="0">
                <a:solidFill>
                  <a:srgbClr val="FFFFFF"/>
                </a:solidFill>
                <a:latin typeface="Calibri"/>
                <a:cs typeface="Calibri"/>
              </a:rPr>
              <a:t>4,</a:t>
            </a:r>
            <a:r>
              <a:rPr sz="2700" spc="-44" baseline="9259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700" spc="-37" baseline="9259" dirty="0">
                <a:solidFill>
                  <a:srgbClr val="FFFFFF"/>
                </a:solidFill>
                <a:latin typeface="Calibri"/>
                <a:cs typeface="Calibri"/>
              </a:rPr>
              <a:t>2]</a:t>
            </a:r>
            <a:endParaRPr sz="2700" baseline="9259">
              <a:latin typeface="Calibri"/>
              <a:cs typeface="Calibri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9496806" y="5077714"/>
            <a:ext cx="2190750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new_list =</a:t>
            </a:r>
            <a:r>
              <a:rPr sz="1800" spc="1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-20" dirty="0">
                <a:solidFill>
                  <a:srgbClr val="FFFFFF"/>
                </a:solidFill>
                <a:latin typeface="Calibri"/>
                <a:cs typeface="Calibri"/>
              </a:rPr>
              <a:t>my_list[-1:1] </a:t>
            </a:r>
            <a:r>
              <a:rPr sz="1800" spc="-10" dirty="0">
                <a:solidFill>
                  <a:srgbClr val="FFFFFF"/>
                </a:solidFill>
                <a:latin typeface="Calibri"/>
                <a:cs typeface="Calibri"/>
              </a:rPr>
              <a:t>print(new_list)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11228831" y="5710428"/>
            <a:ext cx="835660" cy="850900"/>
          </a:xfrm>
          <a:prstGeom prst="rect">
            <a:avLst/>
          </a:prstGeom>
          <a:solidFill>
            <a:srgbClr val="6FAC46"/>
          </a:solidFill>
          <a:ln w="12700">
            <a:solidFill>
              <a:srgbClr val="507D31"/>
            </a:solidFill>
          </a:ln>
        </p:spPr>
        <p:txBody>
          <a:bodyPr vert="horz" wrap="square" lIns="0" tIns="1143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0"/>
              </a:spcBef>
            </a:pPr>
            <a:endParaRPr sz="1800">
              <a:latin typeface="Times New Roman"/>
              <a:cs typeface="Times New Roman"/>
            </a:endParaRPr>
          </a:p>
          <a:p>
            <a:pPr marL="1270" algn="ctr">
              <a:lnSpc>
                <a:spcPct val="100000"/>
              </a:lnSpc>
            </a:pP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[ </a:t>
            </a:r>
            <a:r>
              <a:rPr sz="1800" spc="-50" dirty="0">
                <a:solidFill>
                  <a:srgbClr val="FFFFFF"/>
                </a:solidFill>
                <a:latin typeface="Calibri"/>
                <a:cs typeface="Calibri"/>
              </a:rPr>
              <a:t>]</a:t>
            </a:r>
            <a:endParaRPr sz="1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8739" y="16891"/>
            <a:ext cx="295148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>
                <a:solidFill>
                  <a:srgbClr val="4471C4"/>
                </a:solidFill>
              </a:rPr>
              <a:t>The</a:t>
            </a:r>
            <a:r>
              <a:rPr spc="-5" dirty="0">
                <a:solidFill>
                  <a:srgbClr val="4471C4"/>
                </a:solidFill>
              </a:rPr>
              <a:t> </a:t>
            </a:r>
            <a:r>
              <a:rPr spc="-10" dirty="0">
                <a:solidFill>
                  <a:srgbClr val="4471C4"/>
                </a:solidFill>
                <a:latin typeface="Courier New"/>
                <a:cs typeface="Courier New"/>
              </a:rPr>
              <a:t>in</a:t>
            </a:r>
            <a:r>
              <a:rPr spc="-685" dirty="0">
                <a:solidFill>
                  <a:srgbClr val="4471C4"/>
                </a:solidFill>
                <a:latin typeface="Courier New"/>
                <a:cs typeface="Courier New"/>
              </a:rPr>
              <a:t> </a:t>
            </a:r>
            <a:r>
              <a:rPr dirty="0">
                <a:solidFill>
                  <a:srgbClr val="4471C4"/>
                </a:solidFill>
              </a:rPr>
              <a:t>and </a:t>
            </a:r>
            <a:r>
              <a:rPr dirty="0">
                <a:solidFill>
                  <a:srgbClr val="4471C4"/>
                </a:solidFill>
                <a:latin typeface="Courier New"/>
                <a:cs typeface="Courier New"/>
              </a:rPr>
              <a:t>not</a:t>
            </a:r>
            <a:r>
              <a:rPr spc="-20" dirty="0">
                <a:solidFill>
                  <a:srgbClr val="4471C4"/>
                </a:solidFill>
                <a:latin typeface="Courier New"/>
                <a:cs typeface="Courier New"/>
              </a:rPr>
              <a:t> </a:t>
            </a:r>
            <a:r>
              <a:rPr spc="-10" dirty="0">
                <a:solidFill>
                  <a:srgbClr val="4471C4"/>
                </a:solidFill>
                <a:latin typeface="Courier New"/>
                <a:cs typeface="Courier New"/>
              </a:rPr>
              <a:t>in</a:t>
            </a:r>
            <a:r>
              <a:rPr spc="-670" dirty="0">
                <a:solidFill>
                  <a:srgbClr val="4471C4"/>
                </a:solidFill>
                <a:latin typeface="Courier New"/>
                <a:cs typeface="Courier New"/>
              </a:rPr>
              <a:t> </a:t>
            </a:r>
            <a:r>
              <a:rPr spc="-10" dirty="0">
                <a:solidFill>
                  <a:srgbClr val="4471C4"/>
                </a:solidFill>
              </a:rPr>
              <a:t>operators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0" y="496823"/>
            <a:ext cx="3529965" cy="2060179"/>
          </a:xfrm>
          <a:prstGeom prst="rect">
            <a:avLst/>
          </a:prstGeom>
          <a:solidFill>
            <a:srgbClr val="4471C4"/>
          </a:solidFill>
          <a:ln w="12700">
            <a:solidFill>
              <a:srgbClr val="2E528F"/>
            </a:solidFill>
          </a:ln>
        </p:spPr>
        <p:txBody>
          <a:bodyPr vert="horz" wrap="square" lIns="0" tIns="114935" rIns="0" bIns="0" rtlCol="0">
            <a:spAutoFit/>
          </a:bodyPr>
          <a:lstStyle/>
          <a:p>
            <a:pPr marL="91440">
              <a:lnSpc>
                <a:spcPct val="100000"/>
              </a:lnSpc>
              <a:spcBef>
                <a:spcPts val="905"/>
              </a:spcBef>
            </a:pP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elem</a:t>
            </a:r>
            <a:r>
              <a:rPr sz="1800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in</a:t>
            </a:r>
            <a:r>
              <a:rPr sz="18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Calibri"/>
                <a:cs typeface="Calibri"/>
              </a:rPr>
              <a:t>my_list</a:t>
            </a:r>
            <a:endParaRPr sz="1800" dirty="0">
              <a:latin typeface="Calibri"/>
              <a:cs typeface="Calibri"/>
            </a:endParaRPr>
          </a:p>
          <a:p>
            <a:pPr marL="91440" marR="1276350">
              <a:lnSpc>
                <a:spcPct val="100000"/>
              </a:lnSpc>
              <a:spcBef>
                <a:spcPts val="5"/>
              </a:spcBef>
            </a:pP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elem</a:t>
            </a:r>
            <a:r>
              <a:rPr sz="1800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not</a:t>
            </a:r>
            <a:r>
              <a:rPr sz="18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in</a:t>
            </a:r>
            <a:r>
              <a:rPr sz="1800" spc="-10" dirty="0">
                <a:solidFill>
                  <a:srgbClr val="FFFFFF"/>
                </a:solidFill>
                <a:latin typeface="Calibri"/>
                <a:cs typeface="Calibri"/>
              </a:rPr>
              <a:t> my_list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my_list</a:t>
            </a:r>
            <a:r>
              <a:rPr sz="18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=</a:t>
            </a:r>
            <a:r>
              <a:rPr sz="1800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[0,</a:t>
            </a:r>
            <a:r>
              <a:rPr sz="1800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3,</a:t>
            </a:r>
            <a:r>
              <a:rPr sz="1800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12,</a:t>
            </a:r>
            <a:r>
              <a:rPr sz="1800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8,</a:t>
            </a:r>
            <a:r>
              <a:rPr sz="18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-25" dirty="0">
                <a:solidFill>
                  <a:srgbClr val="FFFFFF"/>
                </a:solidFill>
                <a:latin typeface="Calibri"/>
                <a:cs typeface="Calibri"/>
              </a:rPr>
              <a:t>2]</a:t>
            </a:r>
            <a:endParaRPr sz="1800" dirty="0">
              <a:latin typeface="Calibri"/>
              <a:cs typeface="Calibri"/>
            </a:endParaRPr>
          </a:p>
          <a:p>
            <a:pPr marL="91440" marR="1417320">
              <a:lnSpc>
                <a:spcPct val="100000"/>
              </a:lnSpc>
              <a:spcBef>
                <a:spcPts val="2160"/>
              </a:spcBef>
            </a:pP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print(5</a:t>
            </a:r>
            <a:r>
              <a:rPr sz="18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0000"/>
                </a:solidFill>
                <a:latin typeface="Calibri"/>
                <a:cs typeface="Calibri"/>
              </a:rPr>
              <a:t>in</a:t>
            </a:r>
            <a:r>
              <a:rPr sz="18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Calibri"/>
                <a:cs typeface="Calibri"/>
              </a:rPr>
              <a:t>my_list)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print(5</a:t>
            </a:r>
            <a:r>
              <a:rPr sz="1800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0000"/>
                </a:solidFill>
                <a:latin typeface="Calibri"/>
                <a:cs typeface="Calibri"/>
              </a:rPr>
              <a:t>not</a:t>
            </a:r>
            <a:r>
              <a:rPr sz="18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in</a:t>
            </a:r>
            <a:r>
              <a:rPr sz="1800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Calibri"/>
                <a:cs typeface="Calibri"/>
              </a:rPr>
              <a:t>my_list)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print(12</a:t>
            </a:r>
            <a:r>
              <a:rPr sz="18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0000"/>
                </a:solidFill>
                <a:latin typeface="Calibri"/>
                <a:cs typeface="Calibri"/>
              </a:rPr>
              <a:t>in</a:t>
            </a:r>
            <a:r>
              <a:rPr sz="18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Calibri"/>
                <a:cs typeface="Calibri"/>
              </a:rPr>
              <a:t>my_list)</a:t>
            </a:r>
            <a:endParaRPr sz="1800" dirty="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8739" y="3090164"/>
            <a:ext cx="109029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solidFill>
                  <a:srgbClr val="4471C4"/>
                </a:solidFill>
                <a:latin typeface="Calibri"/>
                <a:cs typeface="Calibri"/>
              </a:rPr>
              <a:t>Lists</a:t>
            </a:r>
            <a:r>
              <a:rPr sz="1800" b="1" spc="-25" dirty="0">
                <a:solidFill>
                  <a:srgbClr val="4471C4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4471C4"/>
                </a:solidFill>
                <a:latin typeface="Calibri"/>
                <a:cs typeface="Calibri"/>
              </a:rPr>
              <a:t>in</a:t>
            </a:r>
            <a:r>
              <a:rPr sz="1800" b="1" spc="-25" dirty="0">
                <a:solidFill>
                  <a:srgbClr val="4471C4"/>
                </a:solidFill>
                <a:latin typeface="Calibri"/>
                <a:cs typeface="Calibri"/>
              </a:rPr>
              <a:t> </a:t>
            </a:r>
            <a:r>
              <a:rPr sz="1800" b="1" spc="-10" dirty="0">
                <a:solidFill>
                  <a:srgbClr val="4471C4"/>
                </a:solidFill>
                <a:latin typeface="Calibri"/>
                <a:cs typeface="Calibri"/>
              </a:rPr>
              <a:t>lists</a:t>
            </a:r>
            <a:endParaRPr sz="1800">
              <a:latin typeface="Calibri"/>
              <a:cs typeface="Calibri"/>
            </a:endParaRPr>
          </a:p>
        </p:txBody>
      </p:sp>
      <p:graphicFrame>
        <p:nvGraphicFramePr>
          <p:cNvPr id="5" name="object 5"/>
          <p:cNvGraphicFramePr>
            <a:graphicFrameLocks noGrp="1"/>
          </p:cNvGraphicFramePr>
          <p:nvPr/>
        </p:nvGraphicFramePr>
        <p:xfrm>
          <a:off x="0" y="3434841"/>
          <a:ext cx="6546214" cy="18846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438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893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1851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45465">
                <a:tc gridSpan="2">
                  <a:txBody>
                    <a:bodyPr/>
                    <a:lstStyle/>
                    <a:p>
                      <a:pPr marL="91440" marR="121920">
                        <a:lnSpc>
                          <a:spcPct val="100000"/>
                        </a:lnSpc>
                        <a:spcBef>
                          <a:spcPts val="1905"/>
                        </a:spcBef>
                      </a:pPr>
                      <a:r>
                        <a:rPr sz="180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row</a:t>
                      </a:r>
                      <a:r>
                        <a:rPr sz="1800" spc="-3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=</a:t>
                      </a:r>
                      <a:r>
                        <a:rPr sz="1800" spc="-4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2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[]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241935" marB="0">
                    <a:lnL w="12700">
                      <a:solidFill>
                        <a:srgbClr val="2E528F"/>
                      </a:solidFill>
                      <a:prstDash val="solid"/>
                    </a:lnL>
                    <a:lnR w="12700">
                      <a:solidFill>
                        <a:srgbClr val="2E528F"/>
                      </a:solidFill>
                      <a:prstDash val="solid"/>
                    </a:lnR>
                    <a:lnT w="12700">
                      <a:solidFill>
                        <a:srgbClr val="2E528F"/>
                      </a:solidFill>
                      <a:prstDash val="solid"/>
                    </a:lnT>
                    <a:solidFill>
                      <a:srgbClr val="4471C4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2E528F"/>
                      </a:solidFill>
                      <a:prstDash val="solid"/>
                    </a:lnL>
                    <a:lnB w="12700">
                      <a:solidFill>
                        <a:srgbClr val="2E528F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93750">
                <a:tc>
                  <a:txBody>
                    <a:bodyPr/>
                    <a:lstStyle/>
                    <a:p>
                      <a:pPr marL="91440">
                        <a:lnSpc>
                          <a:spcPts val="1930"/>
                        </a:lnSpc>
                      </a:pPr>
                      <a:r>
                        <a:rPr sz="180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for</a:t>
                      </a:r>
                      <a:r>
                        <a:rPr sz="1800" spc="-2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i</a:t>
                      </a:r>
                      <a:r>
                        <a:rPr sz="1800" spc="-1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in</a:t>
                      </a:r>
                      <a:r>
                        <a:rPr sz="1800" spc="-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range(8):</a:t>
                      </a:r>
                      <a:endParaRPr sz="1800">
                        <a:latin typeface="Calibri"/>
                        <a:cs typeface="Calibri"/>
                      </a:endParaRPr>
                    </a:p>
                    <a:p>
                      <a:pPr marL="299720">
                        <a:lnSpc>
                          <a:spcPct val="100000"/>
                        </a:lnSpc>
                        <a:tabLst>
                          <a:tab pos="2101850" algn="l"/>
                        </a:tabLst>
                      </a:pPr>
                      <a:r>
                        <a:rPr sz="1800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row.append(‘</a:t>
                      </a:r>
                      <a:r>
                        <a:rPr sz="1800" u="heavy" dirty="0">
                          <a:solidFill>
                            <a:srgbClr val="FFFFFF"/>
                          </a:solidFill>
                          <a:uFill>
                            <a:solidFill>
                              <a:srgbClr val="FEFEFE"/>
                            </a:solidFill>
                          </a:uFill>
                          <a:latin typeface="Times New Roman"/>
                          <a:cs typeface="Times New Roman"/>
                        </a:rPr>
                        <a:t>	</a:t>
                      </a:r>
                      <a:r>
                        <a:rPr sz="1800" spc="-2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’)</a:t>
                      </a:r>
                      <a:endParaRPr sz="1800">
                        <a:latin typeface="Calibri"/>
                        <a:cs typeface="Calibri"/>
                      </a:endParaRPr>
                    </a:p>
                    <a:p>
                      <a:pPr marL="91440">
                        <a:lnSpc>
                          <a:spcPts val="2060"/>
                        </a:lnSpc>
                      </a:pPr>
                      <a:r>
                        <a:rPr sz="180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print</a:t>
                      </a:r>
                      <a:r>
                        <a:rPr sz="1800" spc="-4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2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(row)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2700">
                      <a:solidFill>
                        <a:srgbClr val="2E528F"/>
                      </a:solidFill>
                      <a:prstDash val="solid"/>
                    </a:lnL>
                    <a:lnR w="12700">
                      <a:solidFill>
                        <a:srgbClr val="2E528F"/>
                      </a:solidFill>
                      <a:prstDash val="solid"/>
                    </a:lnR>
                    <a:solidFill>
                      <a:srgbClr val="4471C4"/>
                    </a:solidFill>
                  </a:tcPr>
                </a:tc>
                <a:tc>
                  <a:txBody>
                    <a:bodyPr/>
                    <a:lstStyle/>
                    <a:p>
                      <a:pPr marL="554355">
                        <a:lnSpc>
                          <a:spcPct val="100000"/>
                        </a:lnSpc>
                        <a:spcBef>
                          <a:spcPts val="1930"/>
                        </a:spcBef>
                      </a:pPr>
                      <a:r>
                        <a:rPr sz="180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row</a:t>
                      </a:r>
                      <a:r>
                        <a:rPr sz="1800" spc="-2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=</a:t>
                      </a:r>
                      <a:r>
                        <a:rPr sz="1800" spc="-2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["-------"</a:t>
                      </a:r>
                      <a:r>
                        <a:rPr sz="1800" spc="-2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for</a:t>
                      </a:r>
                      <a:r>
                        <a:rPr sz="1800" spc="-2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i</a:t>
                      </a:r>
                      <a:r>
                        <a:rPr sz="1800" spc="-2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in</a:t>
                      </a:r>
                      <a:r>
                        <a:rPr sz="1800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range(8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245110" marB="0">
                    <a:lnL w="12700">
                      <a:solidFill>
                        <a:srgbClr val="2E528F"/>
                      </a:solidFill>
                      <a:prstDash val="solid"/>
                    </a:lnL>
                    <a:lnR w="12700">
                      <a:solidFill>
                        <a:srgbClr val="2E528F"/>
                      </a:solidFill>
                      <a:prstDash val="solid"/>
                    </a:lnR>
                    <a:lnT w="12700">
                      <a:solidFill>
                        <a:srgbClr val="2E528F"/>
                      </a:solidFill>
                      <a:prstDash val="solid"/>
                    </a:lnT>
                    <a:lnB w="12700">
                      <a:solidFill>
                        <a:srgbClr val="2E528F"/>
                      </a:solidFill>
                      <a:prstDash val="solid"/>
                    </a:lnB>
                    <a:solidFill>
                      <a:srgbClr val="4471C4"/>
                    </a:solidFill>
                  </a:tcPr>
                </a:tc>
                <a:tc>
                  <a:txBody>
                    <a:bodyPr/>
                    <a:lstStyle/>
                    <a:p>
                      <a:pPr marL="123825">
                        <a:lnSpc>
                          <a:spcPct val="100000"/>
                        </a:lnSpc>
                        <a:spcBef>
                          <a:spcPts val="1930"/>
                        </a:spcBef>
                      </a:pPr>
                      <a:r>
                        <a:rPr sz="1800" spc="-2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)]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245110" marB="0">
                    <a:lnL w="12700">
                      <a:solidFill>
                        <a:srgbClr val="2E528F"/>
                      </a:solidFill>
                      <a:prstDash val="solid"/>
                    </a:lnL>
                    <a:lnR w="12700">
                      <a:solidFill>
                        <a:srgbClr val="2E528F"/>
                      </a:solidFill>
                      <a:prstDash val="solid"/>
                    </a:lnR>
                    <a:lnT w="12700">
                      <a:solidFill>
                        <a:srgbClr val="2E528F"/>
                      </a:solidFill>
                      <a:prstDash val="solid"/>
                    </a:lnT>
                    <a:lnB w="12700">
                      <a:solidFill>
                        <a:srgbClr val="2E528F"/>
                      </a:solidFill>
                      <a:prstDash val="solid"/>
                    </a:lnB>
                    <a:solidFill>
                      <a:srgbClr val="4471C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5465">
                <a:tc gridSpan="2">
                  <a:txBody>
                    <a:bodyPr/>
                    <a:lstStyle/>
                    <a:p>
                      <a:pPr marR="121920"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2E528F"/>
                      </a:solidFill>
                      <a:prstDash val="solid"/>
                    </a:lnL>
                    <a:lnR w="12700">
                      <a:solidFill>
                        <a:srgbClr val="2E528F"/>
                      </a:solidFill>
                      <a:prstDash val="solid"/>
                    </a:lnR>
                    <a:lnB w="12700">
                      <a:solidFill>
                        <a:srgbClr val="2E528F"/>
                      </a:solidFill>
                      <a:prstDash val="solid"/>
                    </a:lnB>
                    <a:solidFill>
                      <a:srgbClr val="4471C4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2E528F"/>
                      </a:solidFill>
                      <a:prstDash val="solid"/>
                    </a:lnL>
                    <a:lnT w="12700">
                      <a:solidFill>
                        <a:srgbClr val="2E528F"/>
                      </a:solidFill>
                      <a:prstDash val="soli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6" name="object 6"/>
          <p:cNvSpPr txBox="1"/>
          <p:nvPr/>
        </p:nvSpPr>
        <p:spPr>
          <a:xfrm>
            <a:off x="106476" y="5521249"/>
            <a:ext cx="181102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4471C4"/>
                </a:solidFill>
                <a:latin typeface="Calibri"/>
                <a:cs typeface="Calibri"/>
              </a:rPr>
              <a:t>List</a:t>
            </a:r>
            <a:r>
              <a:rPr sz="1800" spc="-35" dirty="0">
                <a:solidFill>
                  <a:srgbClr val="4471C4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4471C4"/>
                </a:solidFill>
                <a:latin typeface="Calibri"/>
                <a:cs typeface="Calibri"/>
              </a:rPr>
              <a:t>comprehensive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0" y="5871971"/>
            <a:ext cx="4523740" cy="850900"/>
          </a:xfrm>
          <a:prstGeom prst="rect">
            <a:avLst/>
          </a:prstGeom>
          <a:solidFill>
            <a:srgbClr val="4471C4"/>
          </a:solidFill>
          <a:ln w="12700">
            <a:solidFill>
              <a:srgbClr val="2E528F"/>
            </a:solidFill>
          </a:ln>
        </p:spPr>
        <p:txBody>
          <a:bodyPr vert="horz" wrap="square" lIns="0" tIns="1016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80"/>
              </a:spcBef>
            </a:pPr>
            <a:endParaRPr sz="1800">
              <a:latin typeface="Times New Roman"/>
              <a:cs typeface="Times New Roman"/>
            </a:endParaRPr>
          </a:p>
          <a:p>
            <a:pPr marL="91440">
              <a:lnSpc>
                <a:spcPct val="100000"/>
              </a:lnSpc>
            </a:pP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squares</a:t>
            </a:r>
            <a:r>
              <a:rPr sz="18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=</a:t>
            </a:r>
            <a:r>
              <a:rPr sz="1800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[x</a:t>
            </a:r>
            <a:r>
              <a:rPr sz="18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**</a:t>
            </a:r>
            <a:r>
              <a:rPr sz="1800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2</a:t>
            </a:r>
            <a:r>
              <a:rPr sz="1800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for</a:t>
            </a:r>
            <a:r>
              <a:rPr sz="1800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x</a:t>
            </a:r>
            <a:r>
              <a:rPr sz="18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in</a:t>
            </a:r>
            <a:r>
              <a:rPr sz="1800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Calibri"/>
                <a:cs typeface="Calibri"/>
              </a:rPr>
              <a:t>range(10)]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641592" y="193547"/>
            <a:ext cx="5550535" cy="1082040"/>
          </a:xfrm>
          <a:prstGeom prst="rect">
            <a:avLst/>
          </a:prstGeom>
          <a:solidFill>
            <a:srgbClr val="4471C4"/>
          </a:solidFill>
          <a:ln w="12700">
            <a:solidFill>
              <a:srgbClr val="2E528F"/>
            </a:solidFill>
          </a:ln>
        </p:spPr>
        <p:txBody>
          <a:bodyPr vert="horz" wrap="square" lIns="0" tIns="12509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85"/>
              </a:spcBef>
            </a:pPr>
            <a:endParaRPr sz="1800">
              <a:latin typeface="Times New Roman"/>
              <a:cs typeface="Times New Roman"/>
            </a:endParaRPr>
          </a:p>
          <a:p>
            <a:pPr marL="448309">
              <a:lnSpc>
                <a:spcPct val="100000"/>
              </a:lnSpc>
            </a:pP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board</a:t>
            </a:r>
            <a:r>
              <a:rPr sz="1800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=</a:t>
            </a:r>
            <a:r>
              <a:rPr sz="18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[[EMPTY</a:t>
            </a:r>
            <a:r>
              <a:rPr sz="1800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for</a:t>
            </a:r>
            <a:r>
              <a:rPr sz="18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i</a:t>
            </a:r>
            <a:r>
              <a:rPr sz="18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in</a:t>
            </a:r>
            <a:r>
              <a:rPr sz="18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range(8)]</a:t>
            </a:r>
            <a:r>
              <a:rPr sz="1800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for</a:t>
            </a:r>
            <a:r>
              <a:rPr sz="18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j</a:t>
            </a:r>
            <a:r>
              <a:rPr sz="18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in</a:t>
            </a:r>
            <a:r>
              <a:rPr sz="1800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Calibri"/>
                <a:cs typeface="Calibri"/>
              </a:rPr>
              <a:t>range(8)]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6635242" y="1414017"/>
            <a:ext cx="5049520" cy="4976495"/>
            <a:chOff x="6635242" y="1414017"/>
            <a:chExt cx="5049520" cy="4976495"/>
          </a:xfrm>
        </p:grpSpPr>
        <p:sp>
          <p:nvSpPr>
            <p:cNvPr id="10" name="object 10"/>
            <p:cNvSpPr/>
            <p:nvPr/>
          </p:nvSpPr>
          <p:spPr>
            <a:xfrm>
              <a:off x="6641592" y="1420367"/>
              <a:ext cx="5036820" cy="4963795"/>
            </a:xfrm>
            <a:custGeom>
              <a:avLst/>
              <a:gdLst/>
              <a:ahLst/>
              <a:cxnLst/>
              <a:rect l="l" t="t" r="r" b="b"/>
              <a:pathLst>
                <a:path w="5036820" h="4963795">
                  <a:moveTo>
                    <a:pt x="5036820" y="0"/>
                  </a:moveTo>
                  <a:lnTo>
                    <a:pt x="0" y="0"/>
                  </a:lnTo>
                  <a:lnTo>
                    <a:pt x="0" y="4963668"/>
                  </a:lnTo>
                  <a:lnTo>
                    <a:pt x="5036820" y="4963668"/>
                  </a:lnTo>
                  <a:lnTo>
                    <a:pt x="5036820" y="0"/>
                  </a:lnTo>
                  <a:close/>
                </a:path>
              </a:pathLst>
            </a:custGeom>
            <a:solidFill>
              <a:srgbClr val="4471C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6641592" y="1420367"/>
              <a:ext cx="5036820" cy="4963795"/>
            </a:xfrm>
            <a:custGeom>
              <a:avLst/>
              <a:gdLst/>
              <a:ahLst/>
              <a:cxnLst/>
              <a:rect l="l" t="t" r="r" b="b"/>
              <a:pathLst>
                <a:path w="5036820" h="4963795">
                  <a:moveTo>
                    <a:pt x="0" y="4963668"/>
                  </a:moveTo>
                  <a:lnTo>
                    <a:pt x="5036820" y="4963668"/>
                  </a:lnTo>
                  <a:lnTo>
                    <a:pt x="5036820" y="0"/>
                  </a:lnTo>
                  <a:lnTo>
                    <a:pt x="0" y="0"/>
                  </a:lnTo>
                  <a:lnTo>
                    <a:pt x="0" y="4963668"/>
                  </a:lnTo>
                  <a:close/>
                </a:path>
              </a:pathLst>
            </a:custGeom>
            <a:ln w="12700">
              <a:solidFill>
                <a:srgbClr val="2E528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6720967" y="1954529"/>
            <a:ext cx="3077845" cy="30435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1569720" algn="just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EMPTY</a:t>
            </a:r>
            <a:r>
              <a:rPr sz="1800" spc="-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=</a:t>
            </a:r>
            <a:r>
              <a:rPr sz="1800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Calibri"/>
                <a:cs typeface="Calibri"/>
              </a:rPr>
              <a:t>"-</a:t>
            </a:r>
            <a:r>
              <a:rPr sz="1800" spc="-50" dirty="0">
                <a:solidFill>
                  <a:srgbClr val="FFFFFF"/>
                </a:solidFill>
                <a:latin typeface="Calibri"/>
                <a:cs typeface="Calibri"/>
              </a:rPr>
              <a:t>"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ROOK</a:t>
            </a:r>
            <a:r>
              <a:rPr sz="18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=</a:t>
            </a:r>
            <a:r>
              <a:rPr sz="1800" spc="-10" dirty="0">
                <a:solidFill>
                  <a:srgbClr val="FFFFFF"/>
                </a:solidFill>
                <a:latin typeface="Calibri"/>
                <a:cs typeface="Calibri"/>
              </a:rPr>
              <a:t> "ROOK"</a:t>
            </a:r>
            <a:endParaRPr sz="1800">
              <a:latin typeface="Calibri"/>
              <a:cs typeface="Calibri"/>
            </a:endParaRPr>
          </a:p>
          <a:p>
            <a:pPr marL="12700" algn="just">
              <a:lnSpc>
                <a:spcPct val="100000"/>
              </a:lnSpc>
            </a:pP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board</a:t>
            </a:r>
            <a:r>
              <a:rPr sz="18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=</a:t>
            </a:r>
            <a:r>
              <a:rPr sz="18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-25" dirty="0">
                <a:solidFill>
                  <a:srgbClr val="FFFFFF"/>
                </a:solidFill>
                <a:latin typeface="Calibri"/>
                <a:cs typeface="Calibri"/>
              </a:rPr>
              <a:t>[]</a:t>
            </a:r>
            <a:endParaRPr sz="1800">
              <a:latin typeface="Calibri"/>
              <a:cs typeface="Calibri"/>
            </a:endParaRPr>
          </a:p>
          <a:p>
            <a:pPr marL="12700" algn="just">
              <a:lnSpc>
                <a:spcPct val="100000"/>
              </a:lnSpc>
            </a:pP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for</a:t>
            </a:r>
            <a:r>
              <a:rPr sz="1800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i</a:t>
            </a:r>
            <a:r>
              <a:rPr sz="1800" spc="-1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in</a:t>
            </a:r>
            <a:r>
              <a:rPr sz="1800" spc="-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Calibri"/>
                <a:cs typeface="Calibri"/>
              </a:rPr>
              <a:t>range(8):</a:t>
            </a:r>
            <a:endParaRPr sz="1800">
              <a:latin typeface="Calibri"/>
              <a:cs typeface="Calibri"/>
            </a:endParaRPr>
          </a:p>
          <a:p>
            <a:pPr marL="220979" marR="5080" algn="just">
              <a:lnSpc>
                <a:spcPct val="100000"/>
              </a:lnSpc>
            </a:pP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row</a:t>
            </a:r>
            <a:r>
              <a:rPr sz="1800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=</a:t>
            </a:r>
            <a:r>
              <a:rPr sz="1800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[EMPTY</a:t>
            </a:r>
            <a:r>
              <a:rPr sz="18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for</a:t>
            </a:r>
            <a:r>
              <a:rPr sz="1800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i</a:t>
            </a:r>
            <a:r>
              <a:rPr sz="18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in</a:t>
            </a:r>
            <a:r>
              <a:rPr sz="1800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Calibri"/>
                <a:cs typeface="Calibri"/>
              </a:rPr>
              <a:t>range(8)] board.append(row)</a:t>
            </a:r>
            <a:endParaRPr sz="1800">
              <a:latin typeface="Calibri"/>
              <a:cs typeface="Calibri"/>
            </a:endParaRPr>
          </a:p>
          <a:p>
            <a:pPr marL="12700" marR="1235710" algn="just">
              <a:lnSpc>
                <a:spcPct val="100000"/>
              </a:lnSpc>
            </a:pP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board[0][0]</a:t>
            </a:r>
            <a:r>
              <a:rPr sz="18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=</a:t>
            </a:r>
            <a:r>
              <a:rPr sz="1800" spc="-20" dirty="0">
                <a:solidFill>
                  <a:srgbClr val="FFFFFF"/>
                </a:solidFill>
                <a:latin typeface="Calibri"/>
                <a:cs typeface="Calibri"/>
              </a:rPr>
              <a:t> ROOK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board[0][7]</a:t>
            </a:r>
            <a:r>
              <a:rPr sz="18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=</a:t>
            </a:r>
            <a:r>
              <a:rPr sz="1800" spc="-20" dirty="0">
                <a:solidFill>
                  <a:srgbClr val="FFFFFF"/>
                </a:solidFill>
                <a:latin typeface="Calibri"/>
                <a:cs typeface="Calibri"/>
              </a:rPr>
              <a:t> ROOK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board[7][0]</a:t>
            </a:r>
            <a:r>
              <a:rPr sz="1800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=</a:t>
            </a:r>
            <a:r>
              <a:rPr sz="1800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-20" dirty="0">
                <a:solidFill>
                  <a:srgbClr val="FFFFFF"/>
                </a:solidFill>
                <a:latin typeface="Calibri"/>
                <a:cs typeface="Calibri"/>
              </a:rPr>
              <a:t>ROOK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board[7][7]</a:t>
            </a:r>
            <a:r>
              <a:rPr sz="18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=</a:t>
            </a:r>
            <a:r>
              <a:rPr sz="1800" spc="-20" dirty="0">
                <a:solidFill>
                  <a:srgbClr val="FFFFFF"/>
                </a:solidFill>
                <a:latin typeface="Calibri"/>
                <a:cs typeface="Calibri"/>
              </a:rPr>
              <a:t> ROOK </a:t>
            </a:r>
            <a:r>
              <a:rPr sz="1800" spc="-10" dirty="0">
                <a:solidFill>
                  <a:srgbClr val="FFFFFF"/>
                </a:solidFill>
                <a:latin typeface="Calibri"/>
                <a:cs typeface="Calibri"/>
              </a:rPr>
              <a:t>print(board)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6720967" y="5246878"/>
            <a:ext cx="1282065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20979" marR="5080" indent="-208915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for</a:t>
            </a:r>
            <a:r>
              <a:rPr sz="1800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i</a:t>
            </a:r>
            <a:r>
              <a:rPr sz="1800" spc="-1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in</a:t>
            </a:r>
            <a:r>
              <a:rPr sz="1800" spc="-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-20" dirty="0">
                <a:solidFill>
                  <a:srgbClr val="FFFFFF"/>
                </a:solidFill>
                <a:latin typeface="Calibri"/>
                <a:cs typeface="Calibri"/>
              </a:rPr>
              <a:t>board: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print</a:t>
            </a:r>
            <a:r>
              <a:rPr sz="18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-25" dirty="0">
                <a:solidFill>
                  <a:srgbClr val="FFFFFF"/>
                </a:solidFill>
                <a:latin typeface="Calibri"/>
                <a:cs typeface="Calibri"/>
              </a:rPr>
              <a:t>(i)</a:t>
            </a:r>
            <a:endParaRPr sz="1800">
              <a:latin typeface="Calibri"/>
              <a:cs typeface="Calibri"/>
            </a:endParaRPr>
          </a:p>
        </p:txBody>
      </p:sp>
      <p:pic>
        <p:nvPicPr>
          <p:cNvPr id="14" name="object 1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160764" y="3337559"/>
            <a:ext cx="2825496" cy="2520696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36319" y="1629155"/>
            <a:ext cx="2708148" cy="2397252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191211" y="42555"/>
            <a:ext cx="11734800" cy="1905635"/>
          </a:xfrm>
          <a:prstGeom prst="rect">
            <a:avLst/>
          </a:prstGeom>
        </p:spPr>
        <p:txBody>
          <a:bodyPr vert="horz" wrap="square" lIns="0" tIns="1079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850"/>
              </a:spcBef>
            </a:pPr>
            <a:r>
              <a:rPr sz="1800" b="1" dirty="0">
                <a:solidFill>
                  <a:srgbClr val="4471C4"/>
                </a:solidFill>
                <a:latin typeface="Calibri"/>
                <a:cs typeface="Calibri"/>
              </a:rPr>
              <a:t>Functions:</a:t>
            </a:r>
            <a:r>
              <a:rPr sz="1800" b="1" spc="-45" dirty="0">
                <a:solidFill>
                  <a:srgbClr val="4471C4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4471C4"/>
                </a:solidFill>
                <a:latin typeface="Calibri"/>
                <a:cs typeface="Calibri"/>
              </a:rPr>
              <a:t>Why</a:t>
            </a:r>
            <a:r>
              <a:rPr sz="1800" b="1" spc="-20" dirty="0">
                <a:solidFill>
                  <a:srgbClr val="4471C4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4471C4"/>
                </a:solidFill>
                <a:latin typeface="Calibri"/>
                <a:cs typeface="Calibri"/>
              </a:rPr>
              <a:t>do</a:t>
            </a:r>
            <a:r>
              <a:rPr sz="1800" b="1" spc="-20" dirty="0">
                <a:solidFill>
                  <a:srgbClr val="4471C4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4471C4"/>
                </a:solidFill>
                <a:latin typeface="Calibri"/>
                <a:cs typeface="Calibri"/>
              </a:rPr>
              <a:t>we</a:t>
            </a:r>
            <a:r>
              <a:rPr sz="1800" b="1" spc="-25" dirty="0">
                <a:solidFill>
                  <a:srgbClr val="4471C4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4471C4"/>
                </a:solidFill>
                <a:latin typeface="Calibri"/>
                <a:cs typeface="Calibri"/>
              </a:rPr>
              <a:t>need</a:t>
            </a:r>
            <a:r>
              <a:rPr sz="1800" b="1" spc="-50" dirty="0">
                <a:solidFill>
                  <a:srgbClr val="4471C4"/>
                </a:solidFill>
                <a:latin typeface="Calibri"/>
                <a:cs typeface="Calibri"/>
              </a:rPr>
              <a:t> </a:t>
            </a:r>
            <a:r>
              <a:rPr sz="1800" b="1" spc="-10" dirty="0">
                <a:solidFill>
                  <a:srgbClr val="4471C4"/>
                </a:solidFill>
                <a:latin typeface="Calibri"/>
                <a:cs typeface="Calibri"/>
              </a:rPr>
              <a:t>functions?</a:t>
            </a:r>
            <a:endParaRPr sz="1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745"/>
              </a:spcBef>
            </a:pPr>
            <a:r>
              <a:rPr sz="1800" dirty="0">
                <a:solidFill>
                  <a:srgbClr val="FF0000"/>
                </a:solidFill>
                <a:latin typeface="Calibri"/>
                <a:cs typeface="Calibri"/>
              </a:rPr>
              <a:t>It</a:t>
            </a:r>
            <a:r>
              <a:rPr sz="1800" spc="-4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0000"/>
                </a:solidFill>
                <a:latin typeface="Calibri"/>
                <a:cs typeface="Calibri"/>
              </a:rPr>
              <a:t>often</a:t>
            </a:r>
            <a:r>
              <a:rPr sz="1800" spc="-2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0000"/>
                </a:solidFill>
                <a:latin typeface="Calibri"/>
                <a:cs typeface="Calibri"/>
              </a:rPr>
              <a:t>happens</a:t>
            </a:r>
            <a:r>
              <a:rPr sz="1800" spc="-3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0000"/>
                </a:solidFill>
                <a:latin typeface="Calibri"/>
                <a:cs typeface="Calibri"/>
              </a:rPr>
              <a:t>that</a:t>
            </a:r>
            <a:r>
              <a:rPr sz="1800" spc="-4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0000"/>
                </a:solidFill>
                <a:latin typeface="Calibri"/>
                <a:cs typeface="Calibri"/>
              </a:rPr>
              <a:t>a</a:t>
            </a:r>
            <a:r>
              <a:rPr sz="1800" spc="-4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0000"/>
                </a:solidFill>
                <a:latin typeface="Calibri"/>
                <a:cs typeface="Calibri"/>
              </a:rPr>
              <a:t>particular</a:t>
            </a:r>
            <a:r>
              <a:rPr sz="1800" spc="-2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0000"/>
                </a:solidFill>
                <a:latin typeface="Calibri"/>
                <a:cs typeface="Calibri"/>
              </a:rPr>
              <a:t>piece</a:t>
            </a:r>
            <a:r>
              <a:rPr sz="1800" spc="-2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0000"/>
                </a:solidFill>
                <a:latin typeface="Calibri"/>
                <a:cs typeface="Calibri"/>
              </a:rPr>
              <a:t>of</a:t>
            </a:r>
            <a:r>
              <a:rPr sz="1800" spc="-4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0000"/>
                </a:solidFill>
                <a:latin typeface="Calibri"/>
                <a:cs typeface="Calibri"/>
              </a:rPr>
              <a:t>code</a:t>
            </a:r>
            <a:r>
              <a:rPr sz="1800" spc="-2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0000"/>
                </a:solidFill>
                <a:latin typeface="Calibri"/>
                <a:cs typeface="Calibri"/>
              </a:rPr>
              <a:t>is</a:t>
            </a:r>
            <a:r>
              <a:rPr sz="1800" spc="-4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FF0000"/>
                </a:solidFill>
                <a:latin typeface="Calibri"/>
                <a:cs typeface="Calibri"/>
              </a:rPr>
              <a:t>repeated</a:t>
            </a:r>
            <a:r>
              <a:rPr sz="1800" spc="-2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0000"/>
                </a:solidFill>
                <a:latin typeface="Calibri"/>
                <a:cs typeface="Calibri"/>
              </a:rPr>
              <a:t>many</a:t>
            </a:r>
            <a:r>
              <a:rPr sz="1800" spc="-3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0000"/>
                </a:solidFill>
                <a:latin typeface="Calibri"/>
                <a:cs typeface="Calibri"/>
              </a:rPr>
              <a:t>times</a:t>
            </a:r>
            <a:r>
              <a:rPr sz="1800" spc="-3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0000"/>
                </a:solidFill>
                <a:latin typeface="Calibri"/>
                <a:cs typeface="Calibri"/>
              </a:rPr>
              <a:t>in</a:t>
            </a:r>
            <a:r>
              <a:rPr sz="1800" spc="-3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0000"/>
                </a:solidFill>
                <a:latin typeface="Calibri"/>
                <a:cs typeface="Calibri"/>
              </a:rPr>
              <a:t>your</a:t>
            </a:r>
            <a:r>
              <a:rPr sz="1800" spc="-3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FF0000"/>
                </a:solidFill>
                <a:latin typeface="Calibri"/>
                <a:cs typeface="Calibri"/>
              </a:rPr>
              <a:t>program.</a:t>
            </a:r>
            <a:endParaRPr sz="1800">
              <a:latin typeface="Calibri"/>
              <a:cs typeface="Calibri"/>
            </a:endParaRPr>
          </a:p>
          <a:p>
            <a:pPr marL="12700" marR="5080" indent="51435">
              <a:lnSpc>
                <a:spcPct val="100000"/>
              </a:lnSpc>
              <a:spcBef>
                <a:spcPts val="750"/>
              </a:spcBef>
            </a:pPr>
            <a:r>
              <a:rPr sz="1800" dirty="0">
                <a:latin typeface="Calibri"/>
                <a:cs typeface="Calibri"/>
              </a:rPr>
              <a:t>if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particular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fragment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of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the</a:t>
            </a:r>
            <a:r>
              <a:rPr sz="1800" spc="-1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code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begins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to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appear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in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more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than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one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place,</a:t>
            </a:r>
            <a:r>
              <a:rPr sz="1800" spc="-1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consider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the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possibility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of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isolating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it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in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the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spc="-20" dirty="0">
                <a:latin typeface="Calibri"/>
                <a:cs typeface="Calibri"/>
              </a:rPr>
              <a:t>form </a:t>
            </a:r>
            <a:r>
              <a:rPr sz="1800" dirty="0">
                <a:latin typeface="Calibri"/>
                <a:cs typeface="Calibri"/>
              </a:rPr>
              <a:t>of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</a:t>
            </a:r>
            <a:r>
              <a:rPr sz="1800" spc="-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function</a:t>
            </a:r>
            <a:endParaRPr sz="1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755"/>
              </a:spcBef>
            </a:pPr>
            <a:r>
              <a:rPr sz="1800" spc="-10" dirty="0">
                <a:solidFill>
                  <a:srgbClr val="FF0000"/>
                </a:solidFill>
                <a:latin typeface="Calibri"/>
                <a:cs typeface="Calibri"/>
              </a:rPr>
              <a:t>Decomposition</a:t>
            </a:r>
            <a:endParaRPr sz="180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6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4308347" y="1999488"/>
            <a:ext cx="7170419" cy="4494276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173037" y="4647814"/>
            <a:ext cx="1726564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25" dirty="0">
                <a:solidFill>
                  <a:srgbClr val="4471C4"/>
                </a:solidFill>
                <a:latin typeface="Calibri"/>
                <a:cs typeface="Calibri"/>
              </a:rPr>
              <a:t>Your</a:t>
            </a:r>
            <a:r>
              <a:rPr sz="1800" b="1" spc="-80" dirty="0">
                <a:solidFill>
                  <a:srgbClr val="4471C4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4471C4"/>
                </a:solidFill>
                <a:latin typeface="Calibri"/>
                <a:cs typeface="Calibri"/>
              </a:rPr>
              <a:t>first</a:t>
            </a:r>
            <a:r>
              <a:rPr sz="1800" b="1" spc="-60" dirty="0">
                <a:solidFill>
                  <a:srgbClr val="4471C4"/>
                </a:solidFill>
                <a:latin typeface="Calibri"/>
                <a:cs typeface="Calibri"/>
              </a:rPr>
              <a:t> </a:t>
            </a:r>
            <a:r>
              <a:rPr sz="1800" b="1" spc="-10" dirty="0">
                <a:solidFill>
                  <a:srgbClr val="4471C4"/>
                </a:solidFill>
                <a:latin typeface="Calibri"/>
                <a:cs typeface="Calibri"/>
              </a:rPr>
              <a:t>function</a:t>
            </a:r>
            <a:endParaRPr sz="1800" dirty="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12776" y="5053584"/>
            <a:ext cx="3272154" cy="1524000"/>
          </a:xfrm>
          <a:prstGeom prst="rect">
            <a:avLst/>
          </a:prstGeom>
          <a:solidFill>
            <a:srgbClr val="4471C4"/>
          </a:solidFill>
          <a:ln w="12700">
            <a:solidFill>
              <a:srgbClr val="2E528F"/>
            </a:solidFill>
          </a:ln>
        </p:spPr>
        <p:txBody>
          <a:bodyPr vert="horz" wrap="square" lIns="0" tIns="61594" rIns="0" bIns="0" rtlCol="0">
            <a:spAutoFit/>
          </a:bodyPr>
          <a:lstStyle/>
          <a:p>
            <a:pPr marL="299720" marR="1202690" indent="-208915">
              <a:lnSpc>
                <a:spcPct val="100000"/>
              </a:lnSpc>
              <a:spcBef>
                <a:spcPts val="484"/>
              </a:spcBef>
            </a:pP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def</a:t>
            </a:r>
            <a:r>
              <a:rPr sz="18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Calibri"/>
                <a:cs typeface="Calibri"/>
              </a:rPr>
              <a:t>function_name(): function_body</a:t>
            </a:r>
            <a:endParaRPr sz="1800" dirty="0">
              <a:latin typeface="Calibri"/>
              <a:cs typeface="Calibri"/>
            </a:endParaRPr>
          </a:p>
          <a:p>
            <a:pPr marL="90805">
              <a:lnSpc>
                <a:spcPct val="100000"/>
              </a:lnSpc>
              <a:spcBef>
                <a:spcPts val="2160"/>
              </a:spcBef>
            </a:pP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def</a:t>
            </a:r>
            <a:r>
              <a:rPr sz="18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Calibri"/>
                <a:cs typeface="Calibri"/>
              </a:rPr>
              <a:t>message():</a:t>
            </a:r>
            <a:endParaRPr sz="1800" dirty="0">
              <a:latin typeface="Calibri"/>
              <a:cs typeface="Calibri"/>
            </a:endParaRPr>
          </a:p>
          <a:p>
            <a:pPr marL="299720">
              <a:lnSpc>
                <a:spcPct val="100000"/>
              </a:lnSpc>
            </a:pPr>
            <a:r>
              <a:rPr sz="1800" spc="-10" dirty="0">
                <a:solidFill>
                  <a:srgbClr val="FFFFFF"/>
                </a:solidFill>
                <a:latin typeface="Calibri"/>
                <a:cs typeface="Calibri"/>
              </a:rPr>
              <a:t>print("Enter</a:t>
            </a:r>
            <a:r>
              <a:rPr sz="1800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sz="18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value:</a:t>
            </a:r>
            <a:r>
              <a:rPr sz="18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-25" dirty="0">
                <a:solidFill>
                  <a:srgbClr val="FFFFFF"/>
                </a:solidFill>
                <a:latin typeface="Calibri"/>
                <a:cs typeface="Calibri"/>
              </a:rPr>
              <a:t>")</a:t>
            </a:r>
            <a:endParaRPr sz="18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65988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>
                <a:solidFill>
                  <a:srgbClr val="4471C4"/>
                </a:solidFill>
              </a:rPr>
              <a:t>How</a:t>
            </a:r>
            <a:r>
              <a:rPr spc="-10" dirty="0">
                <a:solidFill>
                  <a:srgbClr val="4471C4"/>
                </a:solidFill>
              </a:rPr>
              <a:t> </a:t>
            </a:r>
            <a:r>
              <a:rPr dirty="0">
                <a:solidFill>
                  <a:srgbClr val="4471C4"/>
                </a:solidFill>
              </a:rPr>
              <a:t>functions</a:t>
            </a:r>
            <a:r>
              <a:rPr spc="-35" dirty="0">
                <a:solidFill>
                  <a:srgbClr val="4471C4"/>
                </a:solidFill>
              </a:rPr>
              <a:t> </a:t>
            </a:r>
            <a:r>
              <a:rPr spc="-20" dirty="0">
                <a:solidFill>
                  <a:srgbClr val="4471C4"/>
                </a:solidFill>
              </a:rPr>
              <a:t>work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41981" y="724657"/>
            <a:ext cx="5725624" cy="3037729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6624828" y="152400"/>
            <a:ext cx="5567680" cy="4163695"/>
          </a:xfrm>
          <a:prstGeom prst="rect">
            <a:avLst/>
          </a:prstGeom>
          <a:solidFill>
            <a:srgbClr val="4471C4"/>
          </a:solidFill>
          <a:ln w="12700">
            <a:solidFill>
              <a:srgbClr val="2E528F"/>
            </a:solidFill>
          </a:ln>
        </p:spPr>
        <p:txBody>
          <a:bodyPr vert="horz" wrap="square" lIns="0" tIns="14605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150"/>
              </a:spcBef>
            </a:pP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Donot</a:t>
            </a:r>
            <a:r>
              <a:rPr sz="1800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do</a:t>
            </a:r>
            <a:r>
              <a:rPr sz="18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Calibri"/>
                <a:cs typeface="Calibri"/>
              </a:rPr>
              <a:t>these:</a:t>
            </a:r>
            <a:endParaRPr sz="1800">
              <a:latin typeface="Calibri"/>
              <a:cs typeface="Calibri"/>
            </a:endParaRPr>
          </a:p>
          <a:p>
            <a:pPr marL="92710" marR="3375660">
              <a:lnSpc>
                <a:spcPct val="100000"/>
              </a:lnSpc>
              <a:spcBef>
                <a:spcPts val="2160"/>
              </a:spcBef>
            </a:pPr>
            <a:r>
              <a:rPr sz="1800" spc="-10" dirty="0">
                <a:solidFill>
                  <a:srgbClr val="FF0000"/>
                </a:solidFill>
                <a:latin typeface="Calibri"/>
                <a:cs typeface="Calibri"/>
              </a:rPr>
              <a:t>print("We</a:t>
            </a:r>
            <a:r>
              <a:rPr sz="1800" spc="-5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0000"/>
                </a:solidFill>
                <a:latin typeface="Calibri"/>
                <a:cs typeface="Calibri"/>
              </a:rPr>
              <a:t>start</a:t>
            </a:r>
            <a:r>
              <a:rPr sz="1800" spc="-7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FF0000"/>
                </a:solidFill>
                <a:latin typeface="Calibri"/>
                <a:cs typeface="Calibri"/>
              </a:rPr>
              <a:t>here.") message()</a:t>
            </a:r>
            <a:endParaRPr sz="1800">
              <a:latin typeface="Calibri"/>
              <a:cs typeface="Calibri"/>
            </a:endParaRPr>
          </a:p>
          <a:p>
            <a:pPr marL="92710">
              <a:lnSpc>
                <a:spcPct val="100000"/>
              </a:lnSpc>
            </a:pPr>
            <a:r>
              <a:rPr sz="1800" spc="-10" dirty="0">
                <a:solidFill>
                  <a:srgbClr val="FF0000"/>
                </a:solidFill>
                <a:latin typeface="Calibri"/>
                <a:cs typeface="Calibri"/>
              </a:rPr>
              <a:t>print("We</a:t>
            </a:r>
            <a:r>
              <a:rPr sz="1800" spc="-4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0000"/>
                </a:solidFill>
                <a:latin typeface="Calibri"/>
                <a:cs typeface="Calibri"/>
              </a:rPr>
              <a:t>end</a:t>
            </a:r>
            <a:r>
              <a:rPr sz="1800" spc="-5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FF0000"/>
                </a:solidFill>
                <a:latin typeface="Calibri"/>
                <a:cs typeface="Calibri"/>
              </a:rPr>
              <a:t>here.")</a:t>
            </a:r>
            <a:endParaRPr sz="18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2120"/>
              </a:spcBef>
            </a:pPr>
            <a:endParaRPr sz="1800">
              <a:latin typeface="Calibri"/>
              <a:cs typeface="Calibri"/>
            </a:endParaRPr>
          </a:p>
          <a:p>
            <a:pPr marL="92710">
              <a:lnSpc>
                <a:spcPct val="100000"/>
              </a:lnSpc>
              <a:spcBef>
                <a:spcPts val="5"/>
              </a:spcBef>
            </a:pPr>
            <a:r>
              <a:rPr sz="1800" dirty="0">
                <a:solidFill>
                  <a:srgbClr val="FF0000"/>
                </a:solidFill>
                <a:latin typeface="Calibri"/>
                <a:cs typeface="Calibri"/>
              </a:rPr>
              <a:t>def</a:t>
            </a:r>
            <a:r>
              <a:rPr sz="1800" spc="-3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FF0000"/>
                </a:solidFill>
                <a:latin typeface="Calibri"/>
                <a:cs typeface="Calibri"/>
              </a:rPr>
              <a:t>message():</a:t>
            </a:r>
            <a:endParaRPr sz="1800">
              <a:latin typeface="Calibri"/>
              <a:cs typeface="Calibri"/>
            </a:endParaRPr>
          </a:p>
          <a:p>
            <a:pPr marL="301625">
              <a:lnSpc>
                <a:spcPct val="100000"/>
              </a:lnSpc>
            </a:pPr>
            <a:r>
              <a:rPr sz="1800" dirty="0">
                <a:solidFill>
                  <a:srgbClr val="FF0000"/>
                </a:solidFill>
                <a:latin typeface="Calibri"/>
                <a:cs typeface="Calibri"/>
              </a:rPr>
              <a:t>print("Enter</a:t>
            </a:r>
            <a:r>
              <a:rPr sz="1800" spc="-3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0000"/>
                </a:solidFill>
                <a:latin typeface="Calibri"/>
                <a:cs typeface="Calibri"/>
              </a:rPr>
              <a:t>a</a:t>
            </a:r>
            <a:r>
              <a:rPr sz="1800" spc="-5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0000"/>
                </a:solidFill>
                <a:latin typeface="Calibri"/>
                <a:cs typeface="Calibri"/>
              </a:rPr>
              <a:t>value:</a:t>
            </a:r>
            <a:r>
              <a:rPr sz="1800" spc="-5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800" spc="-25" dirty="0">
                <a:solidFill>
                  <a:srgbClr val="FF0000"/>
                </a:solidFill>
                <a:latin typeface="Calibri"/>
                <a:cs typeface="Calibri"/>
              </a:rPr>
              <a:t>")</a:t>
            </a:r>
            <a:endParaRPr sz="1800">
              <a:latin typeface="Calibri"/>
              <a:cs typeface="Calibri"/>
            </a:endParaRPr>
          </a:p>
          <a:p>
            <a:pPr marL="301625" marR="3164205" indent="-208915">
              <a:lnSpc>
                <a:spcPct val="100000"/>
              </a:lnSpc>
              <a:spcBef>
                <a:spcPts val="2160"/>
              </a:spcBef>
            </a:pPr>
            <a:r>
              <a:rPr sz="1800" dirty="0">
                <a:solidFill>
                  <a:srgbClr val="FF0000"/>
                </a:solidFill>
                <a:latin typeface="Calibri"/>
                <a:cs typeface="Calibri"/>
              </a:rPr>
              <a:t>def</a:t>
            </a:r>
            <a:r>
              <a:rPr sz="1800" spc="-3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FF0000"/>
                </a:solidFill>
                <a:latin typeface="Calibri"/>
                <a:cs typeface="Calibri"/>
              </a:rPr>
              <a:t>message(): print("Enter</a:t>
            </a:r>
            <a:r>
              <a:rPr sz="1800" spc="-1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0000"/>
                </a:solidFill>
                <a:latin typeface="Calibri"/>
                <a:cs typeface="Calibri"/>
              </a:rPr>
              <a:t>a</a:t>
            </a:r>
            <a:r>
              <a:rPr sz="1800" spc="-4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0000"/>
                </a:solidFill>
                <a:latin typeface="Calibri"/>
                <a:cs typeface="Calibri"/>
              </a:rPr>
              <a:t>value:</a:t>
            </a:r>
            <a:r>
              <a:rPr sz="1800" spc="-3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800" spc="-25" dirty="0">
                <a:solidFill>
                  <a:srgbClr val="FF0000"/>
                </a:solidFill>
                <a:latin typeface="Calibri"/>
                <a:cs typeface="Calibri"/>
              </a:rPr>
              <a:t>")</a:t>
            </a:r>
            <a:endParaRPr sz="1800">
              <a:latin typeface="Calibri"/>
              <a:cs typeface="Calibri"/>
            </a:endParaRPr>
          </a:p>
          <a:p>
            <a:pPr marL="92710">
              <a:lnSpc>
                <a:spcPct val="100000"/>
              </a:lnSpc>
              <a:spcBef>
                <a:spcPts val="2160"/>
              </a:spcBef>
            </a:pPr>
            <a:r>
              <a:rPr sz="1800" dirty="0">
                <a:solidFill>
                  <a:srgbClr val="FF0000"/>
                </a:solidFill>
                <a:latin typeface="Calibri"/>
                <a:cs typeface="Calibri"/>
              </a:rPr>
              <a:t>message</a:t>
            </a:r>
            <a:r>
              <a:rPr sz="1800" spc="-4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0000"/>
                </a:solidFill>
                <a:latin typeface="Calibri"/>
                <a:cs typeface="Calibri"/>
              </a:rPr>
              <a:t>=</a:t>
            </a:r>
            <a:r>
              <a:rPr sz="1800" spc="-1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800" spc="-50" dirty="0">
                <a:solidFill>
                  <a:srgbClr val="FF0000"/>
                </a:solidFill>
                <a:latin typeface="Calibri"/>
                <a:cs typeface="Calibri"/>
              </a:rPr>
              <a:t>1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8739" y="4334002"/>
            <a:ext cx="233362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10" dirty="0">
                <a:solidFill>
                  <a:srgbClr val="4471C4"/>
                </a:solidFill>
                <a:latin typeface="Calibri"/>
                <a:cs typeface="Calibri"/>
              </a:rPr>
              <a:t>Parameterized</a:t>
            </a:r>
            <a:r>
              <a:rPr sz="1800" b="1" spc="-85" dirty="0">
                <a:solidFill>
                  <a:srgbClr val="4471C4"/>
                </a:solidFill>
                <a:latin typeface="Calibri"/>
                <a:cs typeface="Calibri"/>
              </a:rPr>
              <a:t> </a:t>
            </a:r>
            <a:r>
              <a:rPr sz="1800" b="1" spc="-10" dirty="0">
                <a:solidFill>
                  <a:srgbClr val="4471C4"/>
                </a:solidFill>
                <a:latin typeface="Calibri"/>
                <a:cs typeface="Calibri"/>
              </a:rPr>
              <a:t>functions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168910" y="4678426"/>
            <a:ext cx="5965825" cy="1760855"/>
            <a:chOff x="168910" y="4678426"/>
            <a:chExt cx="5965825" cy="1760855"/>
          </a:xfrm>
        </p:grpSpPr>
        <p:sp>
          <p:nvSpPr>
            <p:cNvPr id="7" name="object 7"/>
            <p:cNvSpPr/>
            <p:nvPr/>
          </p:nvSpPr>
          <p:spPr>
            <a:xfrm>
              <a:off x="175260" y="4684776"/>
              <a:ext cx="5953125" cy="1748155"/>
            </a:xfrm>
            <a:custGeom>
              <a:avLst/>
              <a:gdLst/>
              <a:ahLst/>
              <a:cxnLst/>
              <a:rect l="l" t="t" r="r" b="b"/>
              <a:pathLst>
                <a:path w="5953125" h="1748154">
                  <a:moveTo>
                    <a:pt x="5952744" y="0"/>
                  </a:moveTo>
                  <a:lnTo>
                    <a:pt x="0" y="0"/>
                  </a:lnTo>
                  <a:lnTo>
                    <a:pt x="0" y="1748028"/>
                  </a:lnTo>
                  <a:lnTo>
                    <a:pt x="5952744" y="1748028"/>
                  </a:lnTo>
                  <a:lnTo>
                    <a:pt x="5952744" y="0"/>
                  </a:lnTo>
                  <a:close/>
                </a:path>
              </a:pathLst>
            </a:custGeom>
            <a:solidFill>
              <a:srgbClr val="4471C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175260" y="4684776"/>
              <a:ext cx="5953125" cy="1748155"/>
            </a:xfrm>
            <a:custGeom>
              <a:avLst/>
              <a:gdLst/>
              <a:ahLst/>
              <a:cxnLst/>
              <a:rect l="l" t="t" r="r" b="b"/>
              <a:pathLst>
                <a:path w="5953125" h="1748154">
                  <a:moveTo>
                    <a:pt x="0" y="1748028"/>
                  </a:moveTo>
                  <a:lnTo>
                    <a:pt x="5952744" y="1748028"/>
                  </a:lnTo>
                  <a:lnTo>
                    <a:pt x="5952744" y="0"/>
                  </a:lnTo>
                  <a:lnTo>
                    <a:pt x="0" y="0"/>
                  </a:lnTo>
                  <a:lnTo>
                    <a:pt x="0" y="1748028"/>
                  </a:lnTo>
                  <a:close/>
                </a:path>
              </a:pathLst>
            </a:custGeom>
            <a:ln w="12700">
              <a:solidFill>
                <a:srgbClr val="2E528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253695" y="4846066"/>
            <a:ext cx="233172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20979" marR="5080" indent="-208915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def</a:t>
            </a:r>
            <a:r>
              <a:rPr sz="18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Calibri"/>
                <a:cs typeface="Calibri"/>
              </a:rPr>
              <a:t>function(parameter): </a:t>
            </a:r>
            <a:r>
              <a:rPr sz="1800" spc="-25" dirty="0">
                <a:solidFill>
                  <a:srgbClr val="FFFFFF"/>
                </a:solidFill>
                <a:latin typeface="Calibri"/>
                <a:cs typeface="Calibri"/>
              </a:rPr>
              <a:t>###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53695" y="5669076"/>
            <a:ext cx="3364229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def</a:t>
            </a:r>
            <a:r>
              <a:rPr sz="18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Calibri"/>
                <a:cs typeface="Calibri"/>
              </a:rPr>
              <a:t>message(number):</a:t>
            </a:r>
            <a:endParaRPr sz="1800">
              <a:latin typeface="Calibri"/>
              <a:cs typeface="Calibri"/>
            </a:endParaRPr>
          </a:p>
          <a:p>
            <a:pPr marL="220979">
              <a:lnSpc>
                <a:spcPct val="100000"/>
              </a:lnSpc>
            </a:pP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print("Enter</a:t>
            </a:r>
            <a:r>
              <a:rPr sz="18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sz="1800" spc="-7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number:",</a:t>
            </a:r>
            <a:r>
              <a:rPr sz="1800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Calibri"/>
                <a:cs typeface="Calibri"/>
              </a:rPr>
              <a:t>number)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4212082" y="4782058"/>
            <a:ext cx="5967095" cy="1553845"/>
            <a:chOff x="4212082" y="4782058"/>
            <a:chExt cx="5967095" cy="1553845"/>
          </a:xfrm>
        </p:grpSpPr>
        <p:sp>
          <p:nvSpPr>
            <p:cNvPr id="12" name="object 12"/>
            <p:cNvSpPr/>
            <p:nvPr/>
          </p:nvSpPr>
          <p:spPr>
            <a:xfrm>
              <a:off x="4218432" y="4788408"/>
              <a:ext cx="5954395" cy="1541145"/>
            </a:xfrm>
            <a:custGeom>
              <a:avLst/>
              <a:gdLst/>
              <a:ahLst/>
              <a:cxnLst/>
              <a:rect l="l" t="t" r="r" b="b"/>
              <a:pathLst>
                <a:path w="5954395" h="1541145">
                  <a:moveTo>
                    <a:pt x="5954268" y="0"/>
                  </a:moveTo>
                  <a:lnTo>
                    <a:pt x="0" y="0"/>
                  </a:lnTo>
                  <a:lnTo>
                    <a:pt x="0" y="1540763"/>
                  </a:lnTo>
                  <a:lnTo>
                    <a:pt x="5954268" y="1540763"/>
                  </a:lnTo>
                  <a:lnTo>
                    <a:pt x="5954268" y="0"/>
                  </a:lnTo>
                  <a:close/>
                </a:path>
              </a:pathLst>
            </a:custGeom>
            <a:solidFill>
              <a:srgbClr val="4471C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4218432" y="4788408"/>
              <a:ext cx="5954395" cy="1541145"/>
            </a:xfrm>
            <a:custGeom>
              <a:avLst/>
              <a:gdLst/>
              <a:ahLst/>
              <a:cxnLst/>
              <a:rect l="l" t="t" r="r" b="b"/>
              <a:pathLst>
                <a:path w="5954395" h="1541145">
                  <a:moveTo>
                    <a:pt x="0" y="1540763"/>
                  </a:moveTo>
                  <a:lnTo>
                    <a:pt x="5954268" y="1540763"/>
                  </a:lnTo>
                  <a:lnTo>
                    <a:pt x="5954268" y="0"/>
                  </a:lnTo>
                  <a:lnTo>
                    <a:pt x="0" y="0"/>
                  </a:lnTo>
                  <a:lnTo>
                    <a:pt x="0" y="1540763"/>
                  </a:lnTo>
                  <a:close/>
                </a:path>
              </a:pathLst>
            </a:custGeom>
            <a:ln w="12700">
              <a:solidFill>
                <a:srgbClr val="2E528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 txBox="1"/>
          <p:nvPr/>
        </p:nvSpPr>
        <p:spPr>
          <a:xfrm>
            <a:off x="4298441" y="4983226"/>
            <a:ext cx="336296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FF0000"/>
                </a:solidFill>
                <a:latin typeface="Calibri"/>
                <a:cs typeface="Calibri"/>
              </a:rPr>
              <a:t>def</a:t>
            </a:r>
            <a:r>
              <a:rPr sz="1800" spc="-3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FF0000"/>
                </a:solidFill>
                <a:latin typeface="Calibri"/>
                <a:cs typeface="Calibri"/>
              </a:rPr>
              <a:t>message(number):</a:t>
            </a:r>
            <a:endParaRPr sz="1800">
              <a:latin typeface="Calibri"/>
              <a:cs typeface="Calibri"/>
            </a:endParaRPr>
          </a:p>
          <a:p>
            <a:pPr marL="220979">
              <a:lnSpc>
                <a:spcPct val="100000"/>
              </a:lnSpc>
            </a:pPr>
            <a:r>
              <a:rPr sz="1800" spc="-10" dirty="0">
                <a:solidFill>
                  <a:srgbClr val="FF0000"/>
                </a:solidFill>
                <a:latin typeface="Calibri"/>
                <a:cs typeface="Calibri"/>
              </a:rPr>
              <a:t>print("Enter</a:t>
            </a:r>
            <a:r>
              <a:rPr sz="1800" spc="-2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0000"/>
                </a:solidFill>
                <a:latin typeface="Calibri"/>
                <a:cs typeface="Calibri"/>
              </a:rPr>
              <a:t>a</a:t>
            </a:r>
            <a:r>
              <a:rPr sz="1800" spc="-4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0000"/>
                </a:solidFill>
                <a:latin typeface="Calibri"/>
                <a:cs typeface="Calibri"/>
              </a:rPr>
              <a:t>number:",</a:t>
            </a:r>
            <a:r>
              <a:rPr sz="1800" spc="-3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FF0000"/>
                </a:solidFill>
                <a:latin typeface="Calibri"/>
                <a:cs typeface="Calibri"/>
              </a:rPr>
              <a:t>number)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4298441" y="5806236"/>
            <a:ext cx="97091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solidFill>
                  <a:srgbClr val="FF0000"/>
                </a:solidFill>
                <a:latin typeface="Calibri"/>
                <a:cs typeface="Calibri"/>
              </a:rPr>
              <a:t>message()</a:t>
            </a:r>
            <a:endParaRPr sz="1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81863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>
                <a:solidFill>
                  <a:srgbClr val="4471C4"/>
                </a:solidFill>
              </a:rPr>
              <a:t>Parametrized</a:t>
            </a:r>
            <a:r>
              <a:rPr spc="-55" dirty="0">
                <a:solidFill>
                  <a:srgbClr val="4471C4"/>
                </a:solidFill>
              </a:rPr>
              <a:t> </a:t>
            </a:r>
            <a:r>
              <a:rPr spc="-10" dirty="0">
                <a:solidFill>
                  <a:srgbClr val="4471C4"/>
                </a:solidFill>
              </a:rPr>
              <a:t>functions: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97051" y="804659"/>
            <a:ext cx="3281920" cy="2590838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152400" y="3576828"/>
            <a:ext cx="4724400" cy="2150745"/>
          </a:xfrm>
          <a:prstGeom prst="rect">
            <a:avLst/>
          </a:prstGeom>
          <a:solidFill>
            <a:srgbClr val="4471C4"/>
          </a:solidFill>
          <a:ln w="12700">
            <a:solidFill>
              <a:srgbClr val="2E528F"/>
            </a:solidFill>
          </a:ln>
        </p:spPr>
        <p:txBody>
          <a:bodyPr vert="horz" wrap="square" lIns="0" tIns="238125" rIns="0" bIns="0" rtlCol="0">
            <a:spAutoFit/>
          </a:bodyPr>
          <a:lstStyle/>
          <a:p>
            <a:pPr marL="299085" marR="691515" indent="-208915">
              <a:lnSpc>
                <a:spcPct val="100000"/>
              </a:lnSpc>
              <a:spcBef>
                <a:spcPts val="1875"/>
              </a:spcBef>
            </a:pP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def</a:t>
            </a:r>
            <a:r>
              <a:rPr sz="1800" spc="-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Calibri"/>
                <a:cs typeface="Calibri"/>
              </a:rPr>
              <a:t>message(what,</a:t>
            </a:r>
            <a:r>
              <a:rPr sz="1800" spc="-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Calibri"/>
                <a:cs typeface="Calibri"/>
              </a:rPr>
              <a:t>number):</a:t>
            </a:r>
            <a:r>
              <a:rPr sz="1800" spc="50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Calibri"/>
                <a:cs typeface="Calibri"/>
              </a:rPr>
              <a:t>print("Enter",</a:t>
            </a:r>
            <a:r>
              <a:rPr sz="18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what,</a:t>
            </a:r>
            <a:r>
              <a:rPr sz="1800" spc="-6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"number",</a:t>
            </a:r>
            <a:r>
              <a:rPr sz="18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Calibri"/>
                <a:cs typeface="Calibri"/>
              </a:rPr>
              <a:t>number)</a:t>
            </a:r>
            <a:endParaRPr sz="1800">
              <a:latin typeface="Calibri"/>
              <a:cs typeface="Calibri"/>
            </a:endParaRPr>
          </a:p>
          <a:p>
            <a:pPr marL="90805">
              <a:lnSpc>
                <a:spcPct val="100000"/>
              </a:lnSpc>
              <a:spcBef>
                <a:spcPts val="2155"/>
              </a:spcBef>
            </a:pPr>
            <a:r>
              <a:rPr sz="1800" spc="-10" dirty="0">
                <a:solidFill>
                  <a:srgbClr val="FFFFFF"/>
                </a:solidFill>
                <a:latin typeface="Calibri"/>
                <a:cs typeface="Calibri"/>
              </a:rPr>
              <a:t>message("telephone",</a:t>
            </a:r>
            <a:r>
              <a:rPr sz="1800" spc="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-25" dirty="0">
                <a:solidFill>
                  <a:srgbClr val="FFFFFF"/>
                </a:solidFill>
                <a:latin typeface="Calibri"/>
                <a:cs typeface="Calibri"/>
              </a:rPr>
              <a:t>11)</a:t>
            </a:r>
            <a:endParaRPr sz="1800">
              <a:latin typeface="Calibri"/>
              <a:cs typeface="Calibri"/>
            </a:endParaRPr>
          </a:p>
          <a:p>
            <a:pPr marL="90805">
              <a:lnSpc>
                <a:spcPct val="100000"/>
              </a:lnSpc>
            </a:pPr>
            <a:r>
              <a:rPr sz="1800" spc="-10" dirty="0">
                <a:solidFill>
                  <a:srgbClr val="FFFFFF"/>
                </a:solidFill>
                <a:latin typeface="Calibri"/>
                <a:cs typeface="Calibri"/>
              </a:rPr>
              <a:t>message("price",</a:t>
            </a:r>
            <a:r>
              <a:rPr sz="1800" spc="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-25" dirty="0">
                <a:solidFill>
                  <a:srgbClr val="FFFFFF"/>
                </a:solidFill>
                <a:latin typeface="Calibri"/>
                <a:cs typeface="Calibri"/>
              </a:rPr>
              <a:t>5)</a:t>
            </a:r>
            <a:endParaRPr sz="1800">
              <a:latin typeface="Calibri"/>
              <a:cs typeface="Calibri"/>
            </a:endParaRPr>
          </a:p>
          <a:p>
            <a:pPr marL="90805">
              <a:lnSpc>
                <a:spcPct val="100000"/>
              </a:lnSpc>
              <a:spcBef>
                <a:spcPts val="5"/>
              </a:spcBef>
            </a:pPr>
            <a:r>
              <a:rPr sz="1800" spc="-10" dirty="0">
                <a:solidFill>
                  <a:srgbClr val="FFFFFF"/>
                </a:solidFill>
                <a:latin typeface="Calibri"/>
                <a:cs typeface="Calibri"/>
              </a:rPr>
              <a:t>message("number",</a:t>
            </a:r>
            <a:r>
              <a:rPr sz="1800" spc="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Calibri"/>
                <a:cs typeface="Calibri"/>
              </a:rPr>
              <a:t>"number")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112511" y="186054"/>
            <a:ext cx="276415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solidFill>
                  <a:srgbClr val="4471C4"/>
                </a:solidFill>
                <a:latin typeface="Calibri"/>
                <a:cs typeface="Calibri"/>
              </a:rPr>
              <a:t>Positional</a:t>
            </a:r>
            <a:r>
              <a:rPr sz="1800" b="1" spc="-55" dirty="0">
                <a:solidFill>
                  <a:srgbClr val="4471C4"/>
                </a:solidFill>
                <a:latin typeface="Calibri"/>
                <a:cs typeface="Calibri"/>
              </a:rPr>
              <a:t> </a:t>
            </a:r>
            <a:r>
              <a:rPr sz="1800" b="1" spc="-10" dirty="0">
                <a:solidFill>
                  <a:srgbClr val="4471C4"/>
                </a:solidFill>
                <a:latin typeface="Calibri"/>
                <a:cs typeface="Calibri"/>
              </a:rPr>
              <a:t>parameter</a:t>
            </a:r>
            <a:r>
              <a:rPr sz="1800" b="1" spc="-75" dirty="0">
                <a:solidFill>
                  <a:srgbClr val="4471C4"/>
                </a:solidFill>
                <a:latin typeface="Calibri"/>
                <a:cs typeface="Calibri"/>
              </a:rPr>
              <a:t> </a:t>
            </a:r>
            <a:r>
              <a:rPr sz="1800" b="1" spc="-10" dirty="0">
                <a:solidFill>
                  <a:srgbClr val="4471C4"/>
                </a:solidFill>
                <a:latin typeface="Calibri"/>
                <a:cs typeface="Calibri"/>
              </a:rPr>
              <a:t>passing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198364" y="537972"/>
            <a:ext cx="6841490" cy="1274445"/>
          </a:xfrm>
          <a:prstGeom prst="rect">
            <a:avLst/>
          </a:prstGeom>
          <a:solidFill>
            <a:srgbClr val="4471C4"/>
          </a:solidFill>
          <a:ln w="12700">
            <a:solidFill>
              <a:srgbClr val="2E528F"/>
            </a:solidFill>
          </a:ln>
        </p:spPr>
        <p:txBody>
          <a:bodyPr vert="horz" wrap="square" lIns="0" tIns="73025" rIns="0" bIns="0" rtlCol="0">
            <a:spAutoFit/>
          </a:bodyPr>
          <a:lstStyle/>
          <a:p>
            <a:pPr marL="299720" marR="4466590" indent="-208915">
              <a:lnSpc>
                <a:spcPct val="100000"/>
              </a:lnSpc>
              <a:spcBef>
                <a:spcPts val="575"/>
              </a:spcBef>
            </a:pP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def</a:t>
            </a:r>
            <a:r>
              <a:rPr sz="1800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Calibri"/>
                <a:cs typeface="Calibri"/>
              </a:rPr>
              <a:t>my_function(a,</a:t>
            </a:r>
            <a:r>
              <a:rPr sz="1800" spc="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b,</a:t>
            </a:r>
            <a:r>
              <a:rPr sz="1800" spc="-1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-25" dirty="0">
                <a:solidFill>
                  <a:srgbClr val="FFFFFF"/>
                </a:solidFill>
                <a:latin typeface="Calibri"/>
                <a:cs typeface="Calibri"/>
              </a:rPr>
              <a:t>c):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print(a,</a:t>
            </a:r>
            <a:r>
              <a:rPr sz="18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b,</a:t>
            </a:r>
            <a:r>
              <a:rPr sz="18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-25" dirty="0">
                <a:solidFill>
                  <a:srgbClr val="FFFFFF"/>
                </a:solidFill>
                <a:latin typeface="Calibri"/>
                <a:cs typeface="Calibri"/>
              </a:rPr>
              <a:t>c)</a:t>
            </a:r>
            <a:endParaRPr sz="1800">
              <a:latin typeface="Calibri"/>
              <a:cs typeface="Calibri"/>
            </a:endParaRPr>
          </a:p>
          <a:p>
            <a:pPr marL="90805">
              <a:lnSpc>
                <a:spcPct val="100000"/>
              </a:lnSpc>
              <a:spcBef>
                <a:spcPts val="2165"/>
              </a:spcBef>
            </a:pPr>
            <a:r>
              <a:rPr sz="1800" spc="-10" dirty="0">
                <a:solidFill>
                  <a:srgbClr val="FFFFFF"/>
                </a:solidFill>
                <a:latin typeface="Calibri"/>
                <a:cs typeface="Calibri"/>
              </a:rPr>
              <a:t>my_function(1,</a:t>
            </a:r>
            <a:r>
              <a:rPr sz="1800" spc="1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2,</a:t>
            </a:r>
            <a:r>
              <a:rPr sz="1800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-25" dirty="0">
                <a:solidFill>
                  <a:srgbClr val="FFFFFF"/>
                </a:solidFill>
                <a:latin typeface="Calibri"/>
                <a:cs typeface="Calibri"/>
              </a:rPr>
              <a:t>3)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5198364" y="2182367"/>
            <a:ext cx="6841490" cy="2390140"/>
          </a:xfrm>
          <a:prstGeom prst="rect">
            <a:avLst/>
          </a:prstGeom>
          <a:solidFill>
            <a:srgbClr val="4471C4"/>
          </a:solidFill>
          <a:ln w="12700">
            <a:solidFill>
              <a:srgbClr val="2E528F"/>
            </a:solidFill>
          </a:ln>
        </p:spPr>
        <p:txBody>
          <a:bodyPr vert="horz" wrap="square" lIns="0" tIns="9398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740"/>
              </a:spcBef>
            </a:pPr>
            <a:endParaRPr sz="1800">
              <a:latin typeface="Times New Roman"/>
              <a:cs typeface="Times New Roman"/>
            </a:endParaRPr>
          </a:p>
          <a:p>
            <a:pPr marL="299720" marR="1932305" indent="-208915">
              <a:lnSpc>
                <a:spcPct val="100000"/>
              </a:lnSpc>
            </a:pP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def</a:t>
            </a:r>
            <a:r>
              <a:rPr sz="18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Calibri"/>
                <a:cs typeface="Calibri"/>
              </a:rPr>
              <a:t>introduction(first_name,</a:t>
            </a:r>
            <a:r>
              <a:rPr sz="1800" spc="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Calibri"/>
                <a:cs typeface="Calibri"/>
              </a:rPr>
              <a:t>last_name): print("Hello,</a:t>
            </a:r>
            <a:r>
              <a:rPr sz="1800" spc="1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my</a:t>
            </a:r>
            <a:r>
              <a:rPr sz="18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name</a:t>
            </a:r>
            <a:r>
              <a:rPr sz="18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is",</a:t>
            </a:r>
            <a:r>
              <a:rPr sz="1800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Calibri"/>
                <a:cs typeface="Calibri"/>
              </a:rPr>
              <a:t>first_name,</a:t>
            </a:r>
            <a:r>
              <a:rPr sz="18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Calibri"/>
                <a:cs typeface="Calibri"/>
              </a:rPr>
              <a:t>last_name)</a:t>
            </a:r>
            <a:endParaRPr sz="1800">
              <a:latin typeface="Calibri"/>
              <a:cs typeface="Calibri"/>
            </a:endParaRPr>
          </a:p>
          <a:p>
            <a:pPr marL="90805" marR="3619500">
              <a:lnSpc>
                <a:spcPct val="100000"/>
              </a:lnSpc>
              <a:spcBef>
                <a:spcPts val="2160"/>
              </a:spcBef>
            </a:pPr>
            <a:r>
              <a:rPr sz="1800" spc="-10" dirty="0">
                <a:solidFill>
                  <a:srgbClr val="FFFFFF"/>
                </a:solidFill>
                <a:latin typeface="Calibri"/>
                <a:cs typeface="Calibri"/>
              </a:rPr>
              <a:t>introduction("Luke",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Calibri"/>
                <a:cs typeface="Calibri"/>
              </a:rPr>
              <a:t>"Skywalker") introduction("Jesse",</a:t>
            </a:r>
            <a:r>
              <a:rPr sz="1800" spc="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Calibri"/>
                <a:cs typeface="Calibri"/>
              </a:rPr>
              <a:t>"Quick") introduction("Clark",</a:t>
            </a:r>
            <a:r>
              <a:rPr sz="1800" spc="6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Calibri"/>
                <a:cs typeface="Calibri"/>
              </a:rPr>
              <a:t>"Kent")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5212841" y="4670805"/>
            <a:ext cx="258889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10" dirty="0">
                <a:solidFill>
                  <a:srgbClr val="4471C4"/>
                </a:solidFill>
                <a:latin typeface="Calibri"/>
                <a:cs typeface="Calibri"/>
              </a:rPr>
              <a:t>Keyword</a:t>
            </a:r>
            <a:r>
              <a:rPr sz="1800" b="1" spc="-80" dirty="0">
                <a:solidFill>
                  <a:srgbClr val="4471C4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4471C4"/>
                </a:solidFill>
                <a:latin typeface="Calibri"/>
                <a:cs typeface="Calibri"/>
              </a:rPr>
              <a:t>argument</a:t>
            </a:r>
            <a:r>
              <a:rPr sz="1800" b="1" spc="-70" dirty="0">
                <a:solidFill>
                  <a:srgbClr val="4471C4"/>
                </a:solidFill>
                <a:latin typeface="Calibri"/>
                <a:cs typeface="Calibri"/>
              </a:rPr>
              <a:t> </a:t>
            </a:r>
            <a:r>
              <a:rPr sz="1800" b="1" spc="-10" dirty="0">
                <a:solidFill>
                  <a:srgbClr val="4471C4"/>
                </a:solidFill>
                <a:latin typeface="Calibri"/>
                <a:cs typeface="Calibri"/>
              </a:rPr>
              <a:t>passing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5192014" y="5039613"/>
            <a:ext cx="6854190" cy="1824989"/>
            <a:chOff x="5192014" y="5039613"/>
            <a:chExt cx="6854190" cy="1824989"/>
          </a:xfrm>
        </p:grpSpPr>
        <p:sp>
          <p:nvSpPr>
            <p:cNvPr id="10" name="object 10"/>
            <p:cNvSpPr/>
            <p:nvPr/>
          </p:nvSpPr>
          <p:spPr>
            <a:xfrm>
              <a:off x="5198364" y="5045963"/>
              <a:ext cx="6841490" cy="1812289"/>
            </a:xfrm>
            <a:custGeom>
              <a:avLst/>
              <a:gdLst/>
              <a:ahLst/>
              <a:cxnLst/>
              <a:rect l="l" t="t" r="r" b="b"/>
              <a:pathLst>
                <a:path w="6841490" h="1812290">
                  <a:moveTo>
                    <a:pt x="6841236" y="0"/>
                  </a:moveTo>
                  <a:lnTo>
                    <a:pt x="0" y="0"/>
                  </a:lnTo>
                  <a:lnTo>
                    <a:pt x="0" y="1812036"/>
                  </a:lnTo>
                  <a:lnTo>
                    <a:pt x="6841236" y="1812036"/>
                  </a:lnTo>
                  <a:lnTo>
                    <a:pt x="6841236" y="0"/>
                  </a:lnTo>
                  <a:close/>
                </a:path>
              </a:pathLst>
            </a:custGeom>
            <a:solidFill>
              <a:srgbClr val="4471C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5198364" y="5045963"/>
              <a:ext cx="6841490" cy="1812289"/>
            </a:xfrm>
            <a:custGeom>
              <a:avLst/>
              <a:gdLst/>
              <a:ahLst/>
              <a:cxnLst/>
              <a:rect l="l" t="t" r="r" b="b"/>
              <a:pathLst>
                <a:path w="6841490" h="1812290">
                  <a:moveTo>
                    <a:pt x="0" y="1812036"/>
                  </a:moveTo>
                  <a:lnTo>
                    <a:pt x="6841236" y="1812036"/>
                  </a:lnTo>
                  <a:lnTo>
                    <a:pt x="6841236" y="0"/>
                  </a:lnTo>
                  <a:lnTo>
                    <a:pt x="0" y="0"/>
                  </a:lnTo>
                  <a:lnTo>
                    <a:pt x="0" y="1812036"/>
                  </a:lnTo>
                  <a:close/>
                </a:path>
              </a:pathLst>
            </a:custGeom>
            <a:ln w="12700">
              <a:solidFill>
                <a:srgbClr val="2E528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5204714" y="5239003"/>
            <a:ext cx="6828790" cy="13976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3370" marR="1925955" indent="-208915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def</a:t>
            </a:r>
            <a:r>
              <a:rPr sz="18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Calibri"/>
                <a:cs typeface="Calibri"/>
              </a:rPr>
              <a:t>introduction(first_name,</a:t>
            </a:r>
            <a:r>
              <a:rPr sz="1800" spc="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Calibri"/>
                <a:cs typeface="Calibri"/>
              </a:rPr>
              <a:t>last_name): print("Hello,</a:t>
            </a:r>
            <a:r>
              <a:rPr sz="1800" spc="1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my</a:t>
            </a:r>
            <a:r>
              <a:rPr sz="18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name</a:t>
            </a:r>
            <a:r>
              <a:rPr sz="18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is",</a:t>
            </a:r>
            <a:r>
              <a:rPr sz="1800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Calibri"/>
                <a:cs typeface="Calibri"/>
              </a:rPr>
              <a:t>first_name,</a:t>
            </a:r>
            <a:r>
              <a:rPr sz="18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Calibri"/>
                <a:cs typeface="Calibri"/>
              </a:rPr>
              <a:t>last_name)</a:t>
            </a:r>
            <a:endParaRPr sz="1800">
              <a:latin typeface="Calibri"/>
              <a:cs typeface="Calibri"/>
            </a:endParaRPr>
          </a:p>
          <a:p>
            <a:pPr marL="84455">
              <a:lnSpc>
                <a:spcPct val="100000"/>
              </a:lnSpc>
              <a:spcBef>
                <a:spcPts val="2160"/>
              </a:spcBef>
            </a:pPr>
            <a:r>
              <a:rPr sz="1800" spc="-10" dirty="0">
                <a:solidFill>
                  <a:srgbClr val="FFFFFF"/>
                </a:solidFill>
                <a:latin typeface="Calibri"/>
                <a:cs typeface="Calibri"/>
              </a:rPr>
              <a:t>introduction(first_name</a:t>
            </a:r>
            <a:r>
              <a:rPr sz="1800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=</a:t>
            </a:r>
            <a:r>
              <a:rPr sz="18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"James",</a:t>
            </a:r>
            <a:r>
              <a:rPr sz="18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last_name</a:t>
            </a:r>
            <a:r>
              <a:rPr sz="18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=</a:t>
            </a:r>
            <a:r>
              <a:rPr sz="18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Calibri"/>
                <a:cs typeface="Calibri"/>
              </a:rPr>
              <a:t>"Bond")</a:t>
            </a:r>
            <a:endParaRPr sz="1800">
              <a:latin typeface="Calibri"/>
              <a:cs typeface="Calibri"/>
            </a:endParaRPr>
          </a:p>
          <a:p>
            <a:pPr marL="84455">
              <a:lnSpc>
                <a:spcPct val="100000"/>
              </a:lnSpc>
            </a:pPr>
            <a:r>
              <a:rPr sz="1800" spc="-10" dirty="0">
                <a:solidFill>
                  <a:srgbClr val="FFFFFF"/>
                </a:solidFill>
                <a:latin typeface="Calibri"/>
                <a:cs typeface="Calibri"/>
              </a:rPr>
              <a:t>introduction(last_name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 =</a:t>
            </a:r>
            <a:r>
              <a:rPr sz="18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Calibri"/>
                <a:cs typeface="Calibri"/>
              </a:rPr>
              <a:t>"Skywalker",</a:t>
            </a:r>
            <a:r>
              <a:rPr sz="18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first_name</a:t>
            </a:r>
            <a:r>
              <a:rPr sz="1800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=</a:t>
            </a:r>
            <a:r>
              <a:rPr sz="18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Calibri"/>
                <a:cs typeface="Calibri"/>
              </a:rPr>
              <a:t>"Luke")</a:t>
            </a:r>
            <a:endParaRPr sz="1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81863" rIns="0" bIns="0" rtlCol="0">
            <a:spAutoFit/>
          </a:bodyPr>
          <a:lstStyle/>
          <a:p>
            <a:pPr marL="125095">
              <a:lnSpc>
                <a:spcPct val="100000"/>
              </a:lnSpc>
              <a:spcBef>
                <a:spcPts val="100"/>
              </a:spcBef>
            </a:pPr>
            <a:r>
              <a:rPr dirty="0"/>
              <a:t>Mixing</a:t>
            </a:r>
            <a:r>
              <a:rPr spc="-35" dirty="0"/>
              <a:t> </a:t>
            </a:r>
            <a:r>
              <a:rPr dirty="0"/>
              <a:t>positional</a:t>
            </a:r>
            <a:r>
              <a:rPr spc="-55" dirty="0"/>
              <a:t> </a:t>
            </a:r>
            <a:r>
              <a:rPr dirty="0"/>
              <a:t>and</a:t>
            </a:r>
            <a:r>
              <a:rPr spc="-15" dirty="0"/>
              <a:t> </a:t>
            </a:r>
            <a:r>
              <a:rPr spc="-10" dirty="0"/>
              <a:t>keyword</a:t>
            </a:r>
            <a:r>
              <a:rPr spc="-15" dirty="0"/>
              <a:t> </a:t>
            </a:r>
            <a:r>
              <a:rPr spc="-10" dirty="0"/>
              <a:t>arguments</a:t>
            </a:r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106426" y="699262"/>
          <a:ext cx="12080240" cy="232473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2827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802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744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827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38023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98882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1572260">
                <a:tc gridSpan="3">
                  <a:txBody>
                    <a:bodyPr/>
                    <a:lstStyle/>
                    <a:p>
                      <a:pPr marL="90805" marR="1496695" indent="1370965">
                        <a:lnSpc>
                          <a:spcPct val="122800"/>
                        </a:lnSpc>
                        <a:spcBef>
                          <a:spcPts val="1575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positional</a:t>
                      </a:r>
                      <a:r>
                        <a:rPr sz="1800" spc="-7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argument</a:t>
                      </a:r>
                      <a:r>
                        <a:rPr sz="1800" spc="-9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passing </a:t>
                      </a:r>
                      <a:r>
                        <a:rPr sz="180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def</a:t>
                      </a:r>
                      <a:r>
                        <a:rPr sz="1800" spc="-4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adding(a,</a:t>
                      </a:r>
                      <a:r>
                        <a:rPr sz="1800" spc="-2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b,</a:t>
                      </a:r>
                      <a:r>
                        <a:rPr sz="1800" spc="-3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2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c):</a:t>
                      </a:r>
                      <a:endParaRPr sz="1800">
                        <a:latin typeface="Calibri"/>
                        <a:cs typeface="Calibri"/>
                      </a:endParaRPr>
                    </a:p>
                    <a:p>
                      <a:pPr marL="90805" marR="2043430" indent="208279">
                        <a:lnSpc>
                          <a:spcPct val="100000"/>
                        </a:lnSpc>
                      </a:pPr>
                      <a:r>
                        <a:rPr sz="180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print(a,</a:t>
                      </a:r>
                      <a:r>
                        <a:rPr sz="1800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"+",</a:t>
                      </a:r>
                      <a:r>
                        <a:rPr sz="1800" spc="-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b,</a:t>
                      </a:r>
                      <a:r>
                        <a:rPr sz="1800" spc="-2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"+",</a:t>
                      </a:r>
                      <a:r>
                        <a:rPr sz="1800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c,</a:t>
                      </a:r>
                      <a:r>
                        <a:rPr sz="1800" spc="-2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"=",</a:t>
                      </a:r>
                      <a:r>
                        <a:rPr sz="1800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a</a:t>
                      </a:r>
                      <a:r>
                        <a:rPr sz="1800" spc="-3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+</a:t>
                      </a:r>
                      <a:r>
                        <a:rPr sz="1800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b</a:t>
                      </a:r>
                      <a:r>
                        <a:rPr sz="1800" spc="-3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+</a:t>
                      </a:r>
                      <a:r>
                        <a:rPr sz="1800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2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c) </a:t>
                      </a:r>
                      <a:r>
                        <a:rPr sz="180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adding(1,</a:t>
                      </a:r>
                      <a:r>
                        <a:rPr sz="1800" spc="-4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2,</a:t>
                      </a:r>
                      <a:r>
                        <a:rPr sz="1800" spc="-4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2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3)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200025" marB="0">
                    <a:lnL w="12700">
                      <a:solidFill>
                        <a:srgbClr val="2E528F"/>
                      </a:solidFill>
                      <a:prstDash val="solid"/>
                    </a:lnL>
                    <a:lnR w="12700">
                      <a:solidFill>
                        <a:srgbClr val="2E528F"/>
                      </a:solidFill>
                      <a:prstDash val="solid"/>
                    </a:lnR>
                    <a:lnT w="12700">
                      <a:solidFill>
                        <a:srgbClr val="2E528F"/>
                      </a:solidFill>
                      <a:prstDash val="solid"/>
                    </a:lnT>
                    <a:solidFill>
                      <a:srgbClr val="4471C4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3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marL="1796414">
                        <a:lnSpc>
                          <a:spcPct val="100000"/>
                        </a:lnSpc>
                      </a:pPr>
                      <a:r>
                        <a:rPr sz="1800" spc="-10" dirty="0">
                          <a:latin typeface="Calibri"/>
                          <a:cs typeface="Calibri"/>
                        </a:rPr>
                        <a:t>keyword</a:t>
                      </a:r>
                      <a:r>
                        <a:rPr sz="1800" spc="-8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arguments</a:t>
                      </a:r>
                      <a:endParaRPr sz="1800">
                        <a:latin typeface="Calibri"/>
                        <a:cs typeface="Calibri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660"/>
                        </a:spcBef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marL="92075">
                        <a:lnSpc>
                          <a:spcPct val="100000"/>
                        </a:lnSpc>
                      </a:pPr>
                      <a:r>
                        <a:rPr sz="180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adding(c</a:t>
                      </a:r>
                      <a:r>
                        <a:rPr sz="1800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=</a:t>
                      </a:r>
                      <a:r>
                        <a:rPr sz="1800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1,</a:t>
                      </a:r>
                      <a:r>
                        <a:rPr sz="1800" spc="-1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a</a:t>
                      </a:r>
                      <a:r>
                        <a:rPr sz="1800" spc="-2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=</a:t>
                      </a:r>
                      <a:r>
                        <a:rPr sz="1800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2,</a:t>
                      </a:r>
                      <a:r>
                        <a:rPr sz="1800" spc="-1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b</a:t>
                      </a:r>
                      <a:r>
                        <a:rPr sz="1800" spc="-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=</a:t>
                      </a:r>
                      <a:r>
                        <a:rPr sz="1800" spc="-2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3)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2700">
                      <a:solidFill>
                        <a:srgbClr val="2E528F"/>
                      </a:solidFill>
                      <a:prstDash val="solid"/>
                    </a:lnL>
                    <a:lnR w="12700">
                      <a:solidFill>
                        <a:srgbClr val="2E528F"/>
                      </a:solidFill>
                      <a:prstDash val="solid"/>
                    </a:lnR>
                    <a:lnT w="12700">
                      <a:solidFill>
                        <a:srgbClr val="2E528F"/>
                      </a:solidFill>
                      <a:prstDash val="solid"/>
                    </a:lnT>
                    <a:solidFill>
                      <a:srgbClr val="4471C4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5247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2E528F"/>
                      </a:solidFill>
                      <a:prstDash val="solid"/>
                    </a:lnL>
                    <a:lnR w="12700">
                      <a:solidFill>
                        <a:srgbClr val="507D31"/>
                      </a:solidFill>
                      <a:prstDash val="solid"/>
                    </a:lnR>
                    <a:lnB w="12700">
                      <a:solidFill>
                        <a:srgbClr val="2E528F"/>
                      </a:solidFill>
                      <a:prstDash val="solid"/>
                    </a:lnB>
                    <a:solidFill>
                      <a:srgbClr val="4471C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764"/>
                        </a:spcBef>
                      </a:pPr>
                      <a:r>
                        <a:rPr sz="180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1</a:t>
                      </a:r>
                      <a:r>
                        <a:rPr sz="1800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+</a:t>
                      </a:r>
                      <a:r>
                        <a:rPr sz="1800" spc="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2</a:t>
                      </a:r>
                      <a:r>
                        <a:rPr sz="1800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+</a:t>
                      </a:r>
                      <a:r>
                        <a:rPr sz="1800" spc="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3</a:t>
                      </a:r>
                      <a:r>
                        <a:rPr sz="1800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=</a:t>
                      </a:r>
                      <a:r>
                        <a:rPr sz="1800" spc="-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5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6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224154" marB="0">
                    <a:lnL w="12700">
                      <a:solidFill>
                        <a:srgbClr val="507D31"/>
                      </a:solidFill>
                      <a:prstDash val="solid"/>
                    </a:lnL>
                    <a:lnR w="12700">
                      <a:solidFill>
                        <a:srgbClr val="507D31"/>
                      </a:solidFill>
                      <a:prstDash val="solid"/>
                    </a:lnR>
                    <a:lnT w="12700">
                      <a:solidFill>
                        <a:srgbClr val="507D31"/>
                      </a:solidFill>
                      <a:prstDash val="solid"/>
                    </a:lnT>
                    <a:lnB w="12700">
                      <a:solidFill>
                        <a:srgbClr val="507D31"/>
                      </a:solidFill>
                      <a:prstDash val="solid"/>
                    </a:lnB>
                    <a:solidFill>
                      <a:srgbClr val="6FAC4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507D31"/>
                      </a:solidFill>
                      <a:prstDash val="solid"/>
                    </a:lnL>
                    <a:lnR w="12700">
                      <a:solidFill>
                        <a:srgbClr val="2E528F"/>
                      </a:solidFill>
                      <a:prstDash val="solid"/>
                    </a:lnR>
                    <a:lnB w="12700">
                      <a:solidFill>
                        <a:srgbClr val="2E528F"/>
                      </a:solidFill>
                      <a:prstDash val="solid"/>
                    </a:lnB>
                    <a:solidFill>
                      <a:srgbClr val="4471C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2E528F"/>
                      </a:solidFill>
                      <a:prstDash val="solid"/>
                    </a:lnL>
                    <a:lnR w="12700">
                      <a:solidFill>
                        <a:srgbClr val="507D31"/>
                      </a:solidFill>
                      <a:prstDash val="solid"/>
                    </a:lnR>
                    <a:lnB w="12700">
                      <a:solidFill>
                        <a:srgbClr val="2E528F"/>
                      </a:solidFill>
                      <a:prstDash val="solid"/>
                    </a:lnB>
                    <a:solidFill>
                      <a:srgbClr val="4471C4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1764"/>
                        </a:spcBef>
                      </a:pPr>
                      <a:r>
                        <a:rPr sz="180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2</a:t>
                      </a:r>
                      <a:r>
                        <a:rPr sz="1800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+</a:t>
                      </a:r>
                      <a:r>
                        <a:rPr sz="1800" spc="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3</a:t>
                      </a:r>
                      <a:r>
                        <a:rPr sz="1800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+</a:t>
                      </a:r>
                      <a:r>
                        <a:rPr sz="1800" spc="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1</a:t>
                      </a:r>
                      <a:r>
                        <a:rPr sz="1800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=</a:t>
                      </a:r>
                      <a:r>
                        <a:rPr sz="1800" spc="-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5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6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224154" marB="0">
                    <a:lnL w="12700">
                      <a:solidFill>
                        <a:srgbClr val="507D31"/>
                      </a:solidFill>
                      <a:prstDash val="solid"/>
                    </a:lnL>
                    <a:lnR w="12700">
                      <a:solidFill>
                        <a:srgbClr val="507D31"/>
                      </a:solidFill>
                      <a:prstDash val="solid"/>
                    </a:lnR>
                    <a:lnT w="12700">
                      <a:solidFill>
                        <a:srgbClr val="507D31"/>
                      </a:solidFill>
                      <a:prstDash val="solid"/>
                    </a:lnT>
                    <a:lnB w="12700">
                      <a:solidFill>
                        <a:srgbClr val="507D31"/>
                      </a:solidFill>
                      <a:prstDash val="solid"/>
                    </a:lnB>
                    <a:solidFill>
                      <a:srgbClr val="6FAC4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507D31"/>
                      </a:solidFill>
                      <a:prstDash val="solid"/>
                    </a:lnL>
                    <a:lnR w="12700">
                      <a:solidFill>
                        <a:srgbClr val="2E528F"/>
                      </a:solidFill>
                      <a:prstDash val="solid"/>
                    </a:lnR>
                    <a:lnB w="12700">
                      <a:solidFill>
                        <a:srgbClr val="2E528F"/>
                      </a:solidFill>
                      <a:prstDash val="solid"/>
                    </a:lnB>
                    <a:solidFill>
                      <a:srgbClr val="4471C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2424429" y="3101085"/>
          <a:ext cx="7931783" cy="257937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397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3601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39851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12700">
                      <a:solidFill>
                        <a:srgbClr val="507D31"/>
                      </a:solidFill>
                      <a:prstDash val="solid"/>
                    </a:lnR>
                    <a:lnB w="12700">
                      <a:solidFill>
                        <a:srgbClr val="2E528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49225">
                        <a:lnSpc>
                          <a:spcPct val="100000"/>
                        </a:lnSpc>
                      </a:pPr>
                      <a:endParaRPr sz="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507D31"/>
                      </a:solidFill>
                      <a:prstDash val="solid"/>
                    </a:lnL>
                    <a:lnT w="12700">
                      <a:solidFill>
                        <a:srgbClr val="507D31"/>
                      </a:solidFill>
                      <a:prstDash val="solid"/>
                    </a:lnT>
                    <a:lnB w="12700">
                      <a:solidFill>
                        <a:srgbClr val="2E528F"/>
                      </a:solidFill>
                      <a:prstDash val="solid"/>
                    </a:lnB>
                    <a:solidFill>
                      <a:srgbClr val="6FAC46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644525">
                        <a:lnSpc>
                          <a:spcPct val="100000"/>
                        </a:lnSpc>
                        <a:spcBef>
                          <a:spcPts val="1780"/>
                        </a:spcBef>
                      </a:pPr>
                      <a:r>
                        <a:rPr sz="180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3</a:t>
                      </a:r>
                      <a:r>
                        <a:rPr sz="1800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+</a:t>
                      </a:r>
                      <a:r>
                        <a:rPr sz="1800" spc="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2</a:t>
                      </a:r>
                      <a:r>
                        <a:rPr sz="1800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+</a:t>
                      </a:r>
                      <a:r>
                        <a:rPr sz="1800" spc="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1</a:t>
                      </a:r>
                      <a:r>
                        <a:rPr sz="1800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=</a:t>
                      </a:r>
                      <a:r>
                        <a:rPr sz="1800" spc="-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5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6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226060" marB="0">
                    <a:lnR w="12700">
                      <a:solidFill>
                        <a:srgbClr val="507D31"/>
                      </a:solidFill>
                      <a:prstDash val="solid"/>
                    </a:lnR>
                    <a:lnT w="12700">
                      <a:solidFill>
                        <a:srgbClr val="507D31"/>
                      </a:solidFill>
                      <a:prstDash val="solid"/>
                    </a:lnT>
                    <a:lnB w="12700">
                      <a:solidFill>
                        <a:srgbClr val="507D31"/>
                      </a:solidFill>
                      <a:prstDash val="solid"/>
                    </a:lnB>
                    <a:solidFill>
                      <a:srgbClr val="6FAC4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61035">
                <a:tc>
                  <a:txBody>
                    <a:bodyPr/>
                    <a:lstStyle/>
                    <a:p>
                      <a:pPr marL="981075" algn="ctr">
                        <a:lnSpc>
                          <a:spcPct val="100000"/>
                        </a:lnSpc>
                        <a:spcBef>
                          <a:spcPts val="880"/>
                        </a:spcBef>
                      </a:pPr>
                      <a:r>
                        <a:rPr sz="180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adding(3,</a:t>
                      </a:r>
                      <a:r>
                        <a:rPr sz="1800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c</a:t>
                      </a:r>
                      <a:r>
                        <a:rPr sz="1800" spc="-1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=</a:t>
                      </a:r>
                      <a:r>
                        <a:rPr sz="1800" spc="-1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1,</a:t>
                      </a:r>
                      <a:r>
                        <a:rPr sz="1800" spc="-2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b</a:t>
                      </a:r>
                      <a:r>
                        <a:rPr sz="1800" spc="-3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=</a:t>
                      </a:r>
                      <a:r>
                        <a:rPr sz="1800" spc="-1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2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2)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111760" marB="0">
                    <a:lnL w="12700">
                      <a:solidFill>
                        <a:srgbClr val="2E528F"/>
                      </a:solidFill>
                      <a:prstDash val="solid"/>
                    </a:lnL>
                    <a:lnR w="12700">
                      <a:solidFill>
                        <a:srgbClr val="507D31"/>
                      </a:solidFill>
                      <a:prstDash val="solid"/>
                    </a:lnR>
                    <a:lnT w="12700">
                      <a:solidFill>
                        <a:srgbClr val="2E528F"/>
                      </a:solidFill>
                      <a:prstDash val="solid"/>
                    </a:lnT>
                    <a:solidFill>
                      <a:srgbClr val="4471C4"/>
                    </a:solidFill>
                  </a:tcPr>
                </a:tc>
                <a:tc>
                  <a:txBody>
                    <a:bodyPr/>
                    <a:lstStyle/>
                    <a:p>
                      <a:pPr marR="149225"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507D31"/>
                      </a:solidFill>
                      <a:prstDash val="solid"/>
                    </a:lnL>
                    <a:lnR w="12700">
                      <a:solidFill>
                        <a:srgbClr val="2E528F"/>
                      </a:solidFill>
                      <a:prstDash val="solid"/>
                    </a:lnR>
                    <a:lnT w="12700">
                      <a:solidFill>
                        <a:srgbClr val="2E528F"/>
                      </a:solidFill>
                      <a:prstDash val="solid"/>
                    </a:lnT>
                    <a:lnB w="12700">
                      <a:solidFill>
                        <a:srgbClr val="507D31"/>
                      </a:solidFill>
                      <a:prstDash val="solid"/>
                    </a:lnB>
                    <a:solidFill>
                      <a:srgbClr val="6FAC46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226060" marB="0">
                    <a:lnL w="12700">
                      <a:solidFill>
                        <a:srgbClr val="2E528F"/>
                      </a:solidFill>
                      <a:prstDash val="solid"/>
                    </a:lnL>
                    <a:lnR w="12700">
                      <a:solidFill>
                        <a:srgbClr val="507D31"/>
                      </a:solidFill>
                      <a:prstDash val="solid"/>
                    </a:lnR>
                    <a:lnT w="12700">
                      <a:solidFill>
                        <a:srgbClr val="507D31"/>
                      </a:solidFill>
                      <a:prstDash val="solid"/>
                    </a:lnT>
                    <a:lnB w="12700">
                      <a:solidFill>
                        <a:srgbClr val="507D31"/>
                      </a:solidFill>
                      <a:prstDash val="solid"/>
                    </a:lnB>
                    <a:solidFill>
                      <a:srgbClr val="6FAC4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5565">
                <a:tc gridSpan="2">
                  <a:txBody>
                    <a:bodyPr/>
                    <a:lstStyle/>
                    <a:p>
                      <a:pPr marR="149225">
                        <a:lnSpc>
                          <a:spcPct val="100000"/>
                        </a:lnSpc>
                      </a:pPr>
                      <a:endParaRPr sz="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2E528F"/>
                      </a:solidFill>
                      <a:prstDash val="solid"/>
                    </a:lnL>
                    <a:lnR w="12700">
                      <a:solidFill>
                        <a:srgbClr val="2E528F"/>
                      </a:solidFill>
                      <a:prstDash val="solid"/>
                    </a:lnR>
                    <a:solidFill>
                      <a:srgbClr val="4471C4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2E528F"/>
                      </a:solidFill>
                      <a:prstDash val="solid"/>
                    </a:lnL>
                    <a:lnT w="12700">
                      <a:solidFill>
                        <a:srgbClr val="507D31"/>
                      </a:solidFill>
                      <a:prstDash val="solid"/>
                    </a:lnT>
                    <a:lnB w="12700">
                      <a:solidFill>
                        <a:srgbClr val="507D31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54380">
                <a:tc>
                  <a:txBody>
                    <a:bodyPr/>
                    <a:lstStyle/>
                    <a:p>
                      <a:pPr marL="979805" algn="ctr">
                        <a:lnSpc>
                          <a:spcPct val="100000"/>
                        </a:lnSpc>
                        <a:spcBef>
                          <a:spcPts val="1555"/>
                        </a:spcBef>
                      </a:pPr>
                      <a:r>
                        <a:rPr sz="180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adding(3,</a:t>
                      </a:r>
                      <a:r>
                        <a:rPr sz="1800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a</a:t>
                      </a:r>
                      <a:r>
                        <a:rPr sz="1800" spc="-1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=</a:t>
                      </a:r>
                      <a:r>
                        <a:rPr sz="1800" spc="-2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1,</a:t>
                      </a:r>
                      <a:r>
                        <a:rPr sz="1800" spc="-1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b</a:t>
                      </a:r>
                      <a:r>
                        <a:rPr sz="1800" spc="-3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=</a:t>
                      </a:r>
                      <a:r>
                        <a:rPr sz="1800" spc="-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2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2)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197485" marB="0">
                    <a:lnL w="12700">
                      <a:solidFill>
                        <a:srgbClr val="2E528F"/>
                      </a:solidFill>
                      <a:prstDash val="solid"/>
                    </a:lnL>
                    <a:lnR w="12700">
                      <a:solidFill>
                        <a:srgbClr val="507D31"/>
                      </a:solidFill>
                      <a:prstDash val="solid"/>
                    </a:lnR>
                    <a:solidFill>
                      <a:srgbClr val="4471C4"/>
                    </a:solidFill>
                  </a:tcPr>
                </a:tc>
                <a:tc>
                  <a:txBody>
                    <a:bodyPr/>
                    <a:lstStyle/>
                    <a:p>
                      <a:pPr marR="149225"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507D31"/>
                      </a:solidFill>
                      <a:prstDash val="solid"/>
                    </a:lnL>
                    <a:lnR w="12700">
                      <a:solidFill>
                        <a:srgbClr val="2E528F"/>
                      </a:solidFill>
                      <a:prstDash val="solid"/>
                    </a:lnR>
                    <a:lnT w="12700">
                      <a:solidFill>
                        <a:srgbClr val="507D31"/>
                      </a:solidFill>
                      <a:prstDash val="solid"/>
                    </a:lnT>
                    <a:lnB w="12700">
                      <a:solidFill>
                        <a:srgbClr val="507D31"/>
                      </a:solidFill>
                      <a:prstDash val="solid"/>
                    </a:lnB>
                    <a:solidFill>
                      <a:srgbClr val="6FAC46"/>
                    </a:solidFill>
                  </a:tcPr>
                </a:tc>
                <a:tc>
                  <a:txBody>
                    <a:bodyPr/>
                    <a:lstStyle/>
                    <a:p>
                      <a:pPr marL="652145">
                        <a:lnSpc>
                          <a:spcPct val="100000"/>
                        </a:lnSpc>
                        <a:spcBef>
                          <a:spcPts val="1775"/>
                        </a:spcBef>
                      </a:pPr>
                      <a:r>
                        <a:rPr sz="180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3</a:t>
                      </a:r>
                      <a:r>
                        <a:rPr sz="1800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+</a:t>
                      </a:r>
                      <a:r>
                        <a:rPr sz="1800" spc="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2</a:t>
                      </a:r>
                      <a:r>
                        <a:rPr sz="1800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+</a:t>
                      </a:r>
                      <a:r>
                        <a:rPr sz="1800" spc="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1</a:t>
                      </a:r>
                      <a:r>
                        <a:rPr sz="1800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=</a:t>
                      </a:r>
                      <a:r>
                        <a:rPr sz="1800" spc="-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5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6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225425" marB="0">
                    <a:lnL w="12700">
                      <a:solidFill>
                        <a:srgbClr val="2E528F"/>
                      </a:solidFill>
                      <a:prstDash val="solid"/>
                    </a:lnL>
                    <a:lnR w="12700">
                      <a:solidFill>
                        <a:srgbClr val="507D31"/>
                      </a:solidFill>
                      <a:prstDash val="solid"/>
                    </a:lnR>
                    <a:lnT w="12700">
                      <a:solidFill>
                        <a:srgbClr val="507D31"/>
                      </a:solidFill>
                      <a:prstDash val="solid"/>
                    </a:lnT>
                    <a:lnB w="12700">
                      <a:solidFill>
                        <a:srgbClr val="507D31"/>
                      </a:solidFill>
                      <a:prstDash val="solid"/>
                    </a:lnB>
                    <a:solidFill>
                      <a:srgbClr val="6FAC4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6200">
                <a:tc gridSpan="2">
                  <a:txBody>
                    <a:bodyPr/>
                    <a:lstStyle/>
                    <a:p>
                      <a:pPr marR="149225">
                        <a:lnSpc>
                          <a:spcPct val="100000"/>
                        </a:lnSpc>
                      </a:pPr>
                      <a:endParaRPr sz="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2E528F"/>
                      </a:solidFill>
                      <a:prstDash val="solid"/>
                    </a:lnL>
                    <a:lnR w="12700">
                      <a:solidFill>
                        <a:srgbClr val="2E528F"/>
                      </a:solidFill>
                      <a:prstDash val="solid"/>
                    </a:lnR>
                    <a:solidFill>
                      <a:srgbClr val="4471C4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2E528F"/>
                      </a:solidFill>
                      <a:prstDash val="solid"/>
                    </a:lnL>
                    <a:lnT w="12700">
                      <a:solidFill>
                        <a:srgbClr val="507D31"/>
                      </a:solidFill>
                      <a:prstDash val="solid"/>
                    </a:lnT>
                    <a:lnB w="12700">
                      <a:solidFill>
                        <a:srgbClr val="507D31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04520">
                <a:tc>
                  <a:txBody>
                    <a:bodyPr/>
                    <a:lstStyle/>
                    <a:p>
                      <a:pPr marL="981075" algn="ctr">
                        <a:lnSpc>
                          <a:spcPct val="100000"/>
                        </a:lnSpc>
                        <a:spcBef>
                          <a:spcPts val="1495"/>
                        </a:spcBef>
                      </a:pPr>
                      <a:r>
                        <a:rPr sz="180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adding(4,</a:t>
                      </a:r>
                      <a:r>
                        <a:rPr sz="1800" spc="-1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3,</a:t>
                      </a:r>
                      <a:r>
                        <a:rPr sz="1800" spc="-3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c</a:t>
                      </a:r>
                      <a:r>
                        <a:rPr sz="1800" spc="-2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=</a:t>
                      </a:r>
                      <a:r>
                        <a:rPr sz="1800" spc="-1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2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2)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189865" marB="0">
                    <a:lnL w="12700">
                      <a:solidFill>
                        <a:srgbClr val="2E528F"/>
                      </a:solidFill>
                      <a:prstDash val="solid"/>
                    </a:lnL>
                    <a:lnR w="12700">
                      <a:solidFill>
                        <a:srgbClr val="507D31"/>
                      </a:solidFill>
                      <a:prstDash val="solid"/>
                    </a:lnR>
                    <a:lnB w="12700">
                      <a:solidFill>
                        <a:srgbClr val="2E528F"/>
                      </a:solidFill>
                      <a:prstDash val="solid"/>
                    </a:lnB>
                    <a:solidFill>
                      <a:srgbClr val="4471C4"/>
                    </a:solidFill>
                  </a:tcPr>
                </a:tc>
                <a:tc>
                  <a:txBody>
                    <a:bodyPr/>
                    <a:lstStyle/>
                    <a:p>
                      <a:pPr marL="229235">
                        <a:lnSpc>
                          <a:spcPct val="100000"/>
                        </a:lnSpc>
                        <a:spcBef>
                          <a:spcPts val="695"/>
                        </a:spcBef>
                      </a:pPr>
                      <a:r>
                        <a:rPr sz="1800" spc="-2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TypeError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88265" marB="0">
                    <a:lnL w="12700">
                      <a:solidFill>
                        <a:srgbClr val="507D31"/>
                      </a:solidFill>
                      <a:prstDash val="solid"/>
                    </a:lnL>
                    <a:lnR w="12700">
                      <a:solidFill>
                        <a:srgbClr val="2E528F"/>
                      </a:solidFill>
                      <a:prstDash val="solid"/>
                    </a:lnR>
                    <a:lnT w="12700">
                      <a:solidFill>
                        <a:srgbClr val="507D31"/>
                      </a:solidFill>
                      <a:prstDash val="solid"/>
                    </a:lnT>
                    <a:lnB w="12700">
                      <a:solidFill>
                        <a:srgbClr val="2E528F"/>
                      </a:solidFill>
                      <a:prstDash val="solid"/>
                    </a:lnB>
                    <a:solidFill>
                      <a:srgbClr val="6FAC46"/>
                    </a:solidFill>
                  </a:tcPr>
                </a:tc>
                <a:tc>
                  <a:txBody>
                    <a:bodyPr/>
                    <a:lstStyle/>
                    <a:p>
                      <a:pPr marL="628015" marR="216535" indent="-474345">
                        <a:lnSpc>
                          <a:spcPct val="100000"/>
                        </a:lnSpc>
                        <a:spcBef>
                          <a:spcPts val="495"/>
                        </a:spcBef>
                      </a:pPr>
                      <a:r>
                        <a:rPr sz="180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:</a:t>
                      </a:r>
                      <a:r>
                        <a:rPr sz="1800" spc="-5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adding()</a:t>
                      </a:r>
                      <a:r>
                        <a:rPr sz="1800" spc="-3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got</a:t>
                      </a:r>
                      <a:r>
                        <a:rPr sz="1800" spc="-5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multiple</a:t>
                      </a:r>
                      <a:r>
                        <a:rPr sz="1800" spc="-3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values</a:t>
                      </a:r>
                      <a:r>
                        <a:rPr sz="1800" spc="-5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2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for </a:t>
                      </a:r>
                      <a:r>
                        <a:rPr sz="180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argument</a:t>
                      </a:r>
                      <a:r>
                        <a:rPr sz="1800" spc="-10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2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'a'</a:t>
                      </a:r>
                      <a:endParaRPr sz="1800" dirty="0">
                        <a:latin typeface="Calibri"/>
                        <a:cs typeface="Calibri"/>
                      </a:endParaRPr>
                    </a:p>
                  </a:txBody>
                  <a:tcPr marL="0" marR="0" marT="62865" marB="0">
                    <a:lnL w="12700">
                      <a:solidFill>
                        <a:srgbClr val="2E528F"/>
                      </a:solidFill>
                      <a:prstDash val="solid"/>
                    </a:lnL>
                    <a:lnR w="12700">
                      <a:solidFill>
                        <a:srgbClr val="507D31"/>
                      </a:solidFill>
                      <a:prstDash val="solid"/>
                    </a:lnR>
                    <a:lnT w="12700">
                      <a:solidFill>
                        <a:srgbClr val="507D31"/>
                      </a:solidFill>
                      <a:prstDash val="solid"/>
                    </a:lnT>
                    <a:solidFill>
                      <a:srgbClr val="6FAC4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4922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12700">
                      <a:solidFill>
                        <a:srgbClr val="507D31"/>
                      </a:solidFill>
                      <a:prstDash val="solid"/>
                    </a:lnR>
                    <a:lnT w="12700">
                      <a:solidFill>
                        <a:srgbClr val="2E528F"/>
                      </a:solidFill>
                      <a:prstDash val="solid"/>
                    </a:lnT>
                  </a:tcPr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507D31"/>
                      </a:solidFill>
                      <a:prstDash val="solid"/>
                    </a:lnL>
                    <a:lnR w="12700">
                      <a:solidFill>
                        <a:srgbClr val="507D31"/>
                      </a:solidFill>
                      <a:prstDash val="solid"/>
                    </a:lnR>
                    <a:lnT w="12700" cap="flat" cmpd="sng" algn="ctr">
                      <a:solidFill>
                        <a:srgbClr val="2E52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507D31"/>
                      </a:solidFill>
                      <a:prstDash val="solid"/>
                    </a:lnB>
                    <a:solidFill>
                      <a:srgbClr val="6FAC46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grpSp>
        <p:nvGrpSpPr>
          <p:cNvPr id="5" name="object 5"/>
          <p:cNvGrpSpPr/>
          <p:nvPr/>
        </p:nvGrpSpPr>
        <p:grpSpPr>
          <a:xfrm>
            <a:off x="234441" y="5443473"/>
            <a:ext cx="5177790" cy="1421130"/>
            <a:chOff x="234441" y="5443473"/>
            <a:chExt cx="5177790" cy="1421130"/>
          </a:xfrm>
        </p:grpSpPr>
        <p:sp>
          <p:nvSpPr>
            <p:cNvPr id="6" name="object 6"/>
            <p:cNvSpPr/>
            <p:nvPr/>
          </p:nvSpPr>
          <p:spPr>
            <a:xfrm>
              <a:off x="240791" y="5449823"/>
              <a:ext cx="5165090" cy="1408430"/>
            </a:xfrm>
            <a:custGeom>
              <a:avLst/>
              <a:gdLst/>
              <a:ahLst/>
              <a:cxnLst/>
              <a:rect l="l" t="t" r="r" b="b"/>
              <a:pathLst>
                <a:path w="5165090" h="1408429">
                  <a:moveTo>
                    <a:pt x="5164836" y="0"/>
                  </a:moveTo>
                  <a:lnTo>
                    <a:pt x="0" y="0"/>
                  </a:lnTo>
                  <a:lnTo>
                    <a:pt x="0" y="1408175"/>
                  </a:lnTo>
                  <a:lnTo>
                    <a:pt x="5164836" y="1408175"/>
                  </a:lnTo>
                  <a:lnTo>
                    <a:pt x="5164836" y="0"/>
                  </a:lnTo>
                  <a:close/>
                </a:path>
              </a:pathLst>
            </a:custGeom>
            <a:solidFill>
              <a:srgbClr val="4471C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240791" y="5449823"/>
              <a:ext cx="5165090" cy="1408430"/>
            </a:xfrm>
            <a:custGeom>
              <a:avLst/>
              <a:gdLst/>
              <a:ahLst/>
              <a:cxnLst/>
              <a:rect l="l" t="t" r="r" b="b"/>
              <a:pathLst>
                <a:path w="5165090" h="1408429">
                  <a:moveTo>
                    <a:pt x="0" y="1408175"/>
                  </a:moveTo>
                  <a:lnTo>
                    <a:pt x="5164836" y="1408175"/>
                  </a:lnTo>
                  <a:lnTo>
                    <a:pt x="5164836" y="0"/>
                  </a:lnTo>
                  <a:lnTo>
                    <a:pt x="0" y="0"/>
                  </a:lnTo>
                  <a:lnTo>
                    <a:pt x="0" y="1408175"/>
                  </a:lnTo>
                  <a:close/>
                </a:path>
              </a:pathLst>
            </a:custGeom>
            <a:ln w="12700">
              <a:solidFill>
                <a:srgbClr val="2E528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501497" y="5852566"/>
            <a:ext cx="4739005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def</a:t>
            </a:r>
            <a:r>
              <a:rPr sz="18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Calibri"/>
                <a:cs typeface="Calibri"/>
              </a:rPr>
              <a:t>introduction(first_name, last_name="Smith"):</a:t>
            </a:r>
            <a:endParaRPr sz="1800">
              <a:latin typeface="Calibri"/>
              <a:cs typeface="Calibri"/>
            </a:endParaRPr>
          </a:p>
          <a:p>
            <a:pPr marL="127000">
              <a:lnSpc>
                <a:spcPct val="100000"/>
              </a:lnSpc>
              <a:spcBef>
                <a:spcPts val="5"/>
              </a:spcBef>
            </a:pPr>
            <a:r>
              <a:rPr sz="1800" spc="-10" dirty="0">
                <a:solidFill>
                  <a:srgbClr val="FFFFFF"/>
                </a:solidFill>
                <a:latin typeface="Calibri"/>
                <a:cs typeface="Calibri"/>
              </a:rPr>
              <a:t>print("Hello,</a:t>
            </a:r>
            <a:r>
              <a:rPr sz="1800" spc="1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my</a:t>
            </a:r>
            <a:r>
              <a:rPr sz="18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name</a:t>
            </a:r>
            <a:r>
              <a:rPr sz="18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is",</a:t>
            </a:r>
            <a:r>
              <a:rPr sz="1800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Calibri"/>
                <a:cs typeface="Calibri"/>
              </a:rPr>
              <a:t>first_name,</a:t>
            </a:r>
            <a:r>
              <a:rPr sz="18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Calibri"/>
                <a:cs typeface="Calibri"/>
              </a:rPr>
              <a:t>last_name)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5320029" y="5605017"/>
            <a:ext cx="3204210" cy="617855"/>
            <a:chOff x="5320029" y="5605017"/>
            <a:chExt cx="3204210" cy="617855"/>
          </a:xfrm>
        </p:grpSpPr>
        <p:sp>
          <p:nvSpPr>
            <p:cNvPr id="10" name="object 10"/>
            <p:cNvSpPr/>
            <p:nvPr/>
          </p:nvSpPr>
          <p:spPr>
            <a:xfrm>
              <a:off x="5326379" y="5611367"/>
              <a:ext cx="3191510" cy="605155"/>
            </a:xfrm>
            <a:custGeom>
              <a:avLst/>
              <a:gdLst/>
              <a:ahLst/>
              <a:cxnLst/>
              <a:rect l="l" t="t" r="r" b="b"/>
              <a:pathLst>
                <a:path w="3191509" h="605154">
                  <a:moveTo>
                    <a:pt x="3191255" y="0"/>
                  </a:moveTo>
                  <a:lnTo>
                    <a:pt x="0" y="0"/>
                  </a:lnTo>
                  <a:lnTo>
                    <a:pt x="0" y="605027"/>
                  </a:lnTo>
                  <a:lnTo>
                    <a:pt x="3191255" y="605027"/>
                  </a:lnTo>
                  <a:lnTo>
                    <a:pt x="3191255" y="0"/>
                  </a:lnTo>
                  <a:close/>
                </a:path>
              </a:pathLst>
            </a:custGeom>
            <a:solidFill>
              <a:srgbClr val="6FAC4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5326379" y="5611367"/>
              <a:ext cx="3191510" cy="605155"/>
            </a:xfrm>
            <a:custGeom>
              <a:avLst/>
              <a:gdLst/>
              <a:ahLst/>
              <a:cxnLst/>
              <a:rect l="l" t="t" r="r" b="b"/>
              <a:pathLst>
                <a:path w="3191509" h="605154">
                  <a:moveTo>
                    <a:pt x="0" y="605027"/>
                  </a:moveTo>
                  <a:lnTo>
                    <a:pt x="3191255" y="605027"/>
                  </a:lnTo>
                  <a:lnTo>
                    <a:pt x="3191255" y="0"/>
                  </a:lnTo>
                  <a:lnTo>
                    <a:pt x="0" y="0"/>
                  </a:lnTo>
                  <a:lnTo>
                    <a:pt x="0" y="605027"/>
                  </a:lnTo>
                  <a:close/>
                </a:path>
              </a:pathLst>
            </a:custGeom>
            <a:ln w="12700">
              <a:solidFill>
                <a:srgbClr val="507D3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5411978" y="5617717"/>
            <a:ext cx="3099435" cy="618490"/>
          </a:xfrm>
          <a:prstGeom prst="rect">
            <a:avLst/>
          </a:prstGeom>
          <a:solidFill>
            <a:srgbClr val="6FAC46"/>
          </a:solidFill>
        </p:spPr>
        <p:txBody>
          <a:bodyPr vert="horz" wrap="square" lIns="0" tIns="144145" rIns="0" bIns="0" rtlCol="0">
            <a:spAutoFit/>
          </a:bodyPr>
          <a:lstStyle/>
          <a:p>
            <a:pPr marL="155575">
              <a:lnSpc>
                <a:spcPct val="100000"/>
              </a:lnSpc>
              <a:spcBef>
                <a:spcPts val="1135"/>
              </a:spcBef>
            </a:pPr>
            <a:r>
              <a:rPr sz="1800" spc="-10" dirty="0">
                <a:solidFill>
                  <a:srgbClr val="FFFFFF"/>
                </a:solidFill>
                <a:latin typeface="Calibri"/>
                <a:cs typeface="Calibri"/>
              </a:rPr>
              <a:t>introduction("James",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Calibri"/>
                <a:cs typeface="Calibri"/>
              </a:rPr>
              <a:t>"Doe")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5320029" y="6261861"/>
            <a:ext cx="3204210" cy="551180"/>
            <a:chOff x="5320029" y="6261861"/>
            <a:chExt cx="3204210" cy="551180"/>
          </a:xfrm>
        </p:grpSpPr>
        <p:sp>
          <p:nvSpPr>
            <p:cNvPr id="14" name="object 14"/>
            <p:cNvSpPr/>
            <p:nvPr/>
          </p:nvSpPr>
          <p:spPr>
            <a:xfrm>
              <a:off x="5326379" y="6268211"/>
              <a:ext cx="3191510" cy="538480"/>
            </a:xfrm>
            <a:custGeom>
              <a:avLst/>
              <a:gdLst/>
              <a:ahLst/>
              <a:cxnLst/>
              <a:rect l="l" t="t" r="r" b="b"/>
              <a:pathLst>
                <a:path w="3191509" h="538479">
                  <a:moveTo>
                    <a:pt x="3191255" y="0"/>
                  </a:moveTo>
                  <a:lnTo>
                    <a:pt x="0" y="0"/>
                  </a:lnTo>
                  <a:lnTo>
                    <a:pt x="0" y="537972"/>
                  </a:lnTo>
                  <a:lnTo>
                    <a:pt x="3191255" y="537972"/>
                  </a:lnTo>
                  <a:lnTo>
                    <a:pt x="3191255" y="0"/>
                  </a:lnTo>
                  <a:close/>
                </a:path>
              </a:pathLst>
            </a:custGeom>
            <a:solidFill>
              <a:srgbClr val="6FAC4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5326379" y="6268211"/>
              <a:ext cx="3191510" cy="538480"/>
            </a:xfrm>
            <a:custGeom>
              <a:avLst/>
              <a:gdLst/>
              <a:ahLst/>
              <a:cxnLst/>
              <a:rect l="l" t="t" r="r" b="b"/>
              <a:pathLst>
                <a:path w="3191509" h="538479">
                  <a:moveTo>
                    <a:pt x="0" y="537972"/>
                  </a:moveTo>
                  <a:lnTo>
                    <a:pt x="3191255" y="537972"/>
                  </a:lnTo>
                  <a:lnTo>
                    <a:pt x="3191255" y="0"/>
                  </a:lnTo>
                  <a:lnTo>
                    <a:pt x="0" y="0"/>
                  </a:lnTo>
                  <a:lnTo>
                    <a:pt x="0" y="537972"/>
                  </a:lnTo>
                  <a:close/>
                </a:path>
              </a:pathLst>
            </a:custGeom>
            <a:ln w="12700">
              <a:solidFill>
                <a:srgbClr val="507D3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6" name="object 16"/>
          <p:cNvSpPr txBox="1"/>
          <p:nvPr/>
        </p:nvSpPr>
        <p:spPr>
          <a:xfrm>
            <a:off x="5411978" y="6248653"/>
            <a:ext cx="3099435" cy="551180"/>
          </a:xfrm>
          <a:prstGeom prst="rect">
            <a:avLst/>
          </a:prstGeom>
          <a:solidFill>
            <a:srgbClr val="6FAC46"/>
          </a:solidFill>
        </p:spPr>
        <p:txBody>
          <a:bodyPr vert="horz" wrap="square" lIns="0" tIns="137160" rIns="0" bIns="0" rtlCol="0">
            <a:spAutoFit/>
          </a:bodyPr>
          <a:lstStyle/>
          <a:p>
            <a:pPr marL="492759">
              <a:lnSpc>
                <a:spcPct val="100000"/>
              </a:lnSpc>
              <a:spcBef>
                <a:spcPts val="1080"/>
              </a:spcBef>
            </a:pPr>
            <a:r>
              <a:rPr sz="1800" spc="-10" dirty="0">
                <a:solidFill>
                  <a:srgbClr val="FFFFFF"/>
                </a:solidFill>
                <a:latin typeface="Calibri"/>
                <a:cs typeface="Calibri"/>
              </a:rPr>
              <a:t>introduction("Henry“)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8517635" y="5838444"/>
            <a:ext cx="3578860" cy="538480"/>
          </a:xfrm>
          <a:prstGeom prst="rect">
            <a:avLst/>
          </a:prstGeom>
          <a:solidFill>
            <a:srgbClr val="6FAC46"/>
          </a:solidFill>
          <a:ln w="12700">
            <a:solidFill>
              <a:srgbClr val="507D31"/>
            </a:solidFill>
          </a:ln>
        </p:spPr>
        <p:txBody>
          <a:bodyPr vert="horz" wrap="square" lIns="0" tIns="118110" rIns="0" bIns="0" rtlCol="0">
            <a:spAutoFit/>
          </a:bodyPr>
          <a:lstStyle/>
          <a:p>
            <a:pPr marL="145415">
              <a:lnSpc>
                <a:spcPct val="100000"/>
              </a:lnSpc>
              <a:spcBef>
                <a:spcPts val="930"/>
              </a:spcBef>
            </a:pPr>
            <a:r>
              <a:rPr sz="1800" spc="-10" dirty="0">
                <a:solidFill>
                  <a:srgbClr val="FFFFFF"/>
                </a:solidFill>
                <a:latin typeface="Calibri"/>
                <a:cs typeface="Calibri"/>
              </a:rPr>
              <a:t>introduction(first_name="William")</a:t>
            </a:r>
            <a:endParaRPr sz="1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126994" y="-6857"/>
            <a:ext cx="4129404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>
                <a:solidFill>
                  <a:srgbClr val="4471C4"/>
                </a:solidFill>
              </a:rPr>
              <a:t>Effects</a:t>
            </a:r>
            <a:r>
              <a:rPr spc="-20" dirty="0">
                <a:solidFill>
                  <a:srgbClr val="4471C4"/>
                </a:solidFill>
              </a:rPr>
              <a:t> </a:t>
            </a:r>
            <a:r>
              <a:rPr dirty="0">
                <a:solidFill>
                  <a:srgbClr val="4471C4"/>
                </a:solidFill>
              </a:rPr>
              <a:t>and</a:t>
            </a:r>
            <a:r>
              <a:rPr spc="-15" dirty="0">
                <a:solidFill>
                  <a:srgbClr val="4471C4"/>
                </a:solidFill>
              </a:rPr>
              <a:t> </a:t>
            </a:r>
            <a:r>
              <a:rPr dirty="0">
                <a:solidFill>
                  <a:srgbClr val="4471C4"/>
                </a:solidFill>
              </a:rPr>
              <a:t>results:</a:t>
            </a:r>
            <a:r>
              <a:rPr spc="-40" dirty="0">
                <a:solidFill>
                  <a:srgbClr val="4471C4"/>
                </a:solidFill>
              </a:rPr>
              <a:t> </a:t>
            </a:r>
            <a:r>
              <a:rPr dirty="0">
                <a:solidFill>
                  <a:srgbClr val="4471C4"/>
                </a:solidFill>
              </a:rPr>
              <a:t>the </a:t>
            </a:r>
            <a:r>
              <a:rPr spc="-10" dirty="0">
                <a:solidFill>
                  <a:srgbClr val="4471C4"/>
                </a:solidFill>
                <a:latin typeface="Courier New"/>
                <a:cs typeface="Courier New"/>
              </a:rPr>
              <a:t>return</a:t>
            </a:r>
            <a:r>
              <a:rPr spc="-695" dirty="0">
                <a:solidFill>
                  <a:srgbClr val="4471C4"/>
                </a:solidFill>
                <a:latin typeface="Courier New"/>
                <a:cs typeface="Courier New"/>
              </a:rPr>
              <a:t> </a:t>
            </a:r>
            <a:r>
              <a:rPr spc="-10" dirty="0">
                <a:solidFill>
                  <a:srgbClr val="4471C4"/>
                </a:solidFill>
              </a:rPr>
              <a:t>instruction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3229229" y="365633"/>
            <a:ext cx="7274559" cy="3030220"/>
            <a:chOff x="3229229" y="365633"/>
            <a:chExt cx="7274559" cy="303022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846022" y="1110227"/>
              <a:ext cx="4657426" cy="2285268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3232404" y="368808"/>
              <a:ext cx="3930650" cy="707390"/>
            </a:xfrm>
            <a:custGeom>
              <a:avLst/>
              <a:gdLst/>
              <a:ahLst/>
              <a:cxnLst/>
              <a:rect l="l" t="t" r="r" b="b"/>
              <a:pathLst>
                <a:path w="3930650" h="707390">
                  <a:moveTo>
                    <a:pt x="0" y="707136"/>
                  </a:moveTo>
                  <a:lnTo>
                    <a:pt x="1198" y="635863"/>
                  </a:lnTo>
                  <a:lnTo>
                    <a:pt x="4635" y="569487"/>
                  </a:lnTo>
                  <a:lnTo>
                    <a:pt x="10072" y="509428"/>
                  </a:lnTo>
                  <a:lnTo>
                    <a:pt x="17272" y="457104"/>
                  </a:lnTo>
                  <a:lnTo>
                    <a:pt x="25995" y="413937"/>
                  </a:lnTo>
                  <a:lnTo>
                    <a:pt x="47061" y="360748"/>
                  </a:lnTo>
                  <a:lnTo>
                    <a:pt x="58928" y="353567"/>
                  </a:lnTo>
                  <a:lnTo>
                    <a:pt x="1906270" y="353567"/>
                  </a:lnTo>
                  <a:lnTo>
                    <a:pt x="1918136" y="346387"/>
                  </a:lnTo>
                  <a:lnTo>
                    <a:pt x="1939202" y="293198"/>
                  </a:lnTo>
                  <a:lnTo>
                    <a:pt x="1947925" y="250031"/>
                  </a:lnTo>
                  <a:lnTo>
                    <a:pt x="1955125" y="197707"/>
                  </a:lnTo>
                  <a:lnTo>
                    <a:pt x="1960562" y="137648"/>
                  </a:lnTo>
                  <a:lnTo>
                    <a:pt x="1963999" y="71272"/>
                  </a:lnTo>
                  <a:lnTo>
                    <a:pt x="1965197" y="0"/>
                  </a:lnTo>
                  <a:lnTo>
                    <a:pt x="1966396" y="71272"/>
                  </a:lnTo>
                  <a:lnTo>
                    <a:pt x="1969833" y="137648"/>
                  </a:lnTo>
                  <a:lnTo>
                    <a:pt x="1975270" y="197707"/>
                  </a:lnTo>
                  <a:lnTo>
                    <a:pt x="1982470" y="250031"/>
                  </a:lnTo>
                  <a:lnTo>
                    <a:pt x="1991193" y="293198"/>
                  </a:lnTo>
                  <a:lnTo>
                    <a:pt x="2012259" y="346387"/>
                  </a:lnTo>
                  <a:lnTo>
                    <a:pt x="2024125" y="353567"/>
                  </a:lnTo>
                  <a:lnTo>
                    <a:pt x="3871468" y="353567"/>
                  </a:lnTo>
                  <a:lnTo>
                    <a:pt x="3883334" y="360748"/>
                  </a:lnTo>
                  <a:lnTo>
                    <a:pt x="3904400" y="413937"/>
                  </a:lnTo>
                  <a:lnTo>
                    <a:pt x="3913124" y="457104"/>
                  </a:lnTo>
                  <a:lnTo>
                    <a:pt x="3920323" y="509428"/>
                  </a:lnTo>
                  <a:lnTo>
                    <a:pt x="3925760" y="569487"/>
                  </a:lnTo>
                  <a:lnTo>
                    <a:pt x="3929197" y="635863"/>
                  </a:lnTo>
                  <a:lnTo>
                    <a:pt x="3930396" y="707136"/>
                  </a:lnTo>
                </a:path>
              </a:pathLst>
            </a:custGeom>
            <a:ln w="6349">
              <a:solidFill>
                <a:srgbClr val="4471C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620369" y="1300098"/>
            <a:ext cx="300355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10" dirty="0">
                <a:latin typeface="Courier New"/>
                <a:cs typeface="Courier New"/>
              </a:rPr>
              <a:t>return</a:t>
            </a:r>
            <a:r>
              <a:rPr sz="1800" b="1" spc="-690" dirty="0">
                <a:latin typeface="Courier New"/>
                <a:cs typeface="Courier New"/>
              </a:rPr>
              <a:t> </a:t>
            </a:r>
            <a:r>
              <a:rPr sz="1800" b="1" dirty="0">
                <a:latin typeface="Calibri"/>
                <a:cs typeface="Calibri"/>
              </a:rPr>
              <a:t>without</a:t>
            </a:r>
            <a:r>
              <a:rPr sz="1800" b="1" spc="-15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an</a:t>
            </a:r>
            <a:r>
              <a:rPr sz="1800" b="1" spc="15" dirty="0">
                <a:latin typeface="Calibri"/>
                <a:cs typeface="Calibri"/>
              </a:rPr>
              <a:t> </a:t>
            </a:r>
            <a:r>
              <a:rPr sz="1800" b="1" spc="-10" dirty="0">
                <a:latin typeface="Calibri"/>
                <a:cs typeface="Calibri"/>
              </a:rPr>
              <a:t>expression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53568" y="1661160"/>
            <a:ext cx="3994785" cy="3400425"/>
          </a:xfrm>
          <a:prstGeom prst="rect">
            <a:avLst/>
          </a:prstGeom>
          <a:solidFill>
            <a:srgbClr val="4471C4"/>
          </a:solidFill>
          <a:ln w="12700">
            <a:solidFill>
              <a:srgbClr val="2E528F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1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490"/>
              </a:spcBef>
            </a:pPr>
            <a:endParaRPr sz="1800">
              <a:latin typeface="Times New Roman"/>
              <a:cs typeface="Times New Roman"/>
            </a:endParaRPr>
          </a:p>
          <a:p>
            <a:pPr marL="299085" marR="478155" indent="-208915">
              <a:lnSpc>
                <a:spcPct val="100000"/>
              </a:lnSpc>
            </a:pP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def</a:t>
            </a:r>
            <a:r>
              <a:rPr sz="18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Calibri"/>
                <a:cs typeface="Calibri"/>
              </a:rPr>
              <a:t>happy_new_year(wishes</a:t>
            </a:r>
            <a:r>
              <a:rPr sz="1800" spc="-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=</a:t>
            </a:r>
            <a:r>
              <a:rPr sz="18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Calibri"/>
                <a:cs typeface="Calibri"/>
              </a:rPr>
              <a:t>True): print("Three...")</a:t>
            </a:r>
            <a:endParaRPr sz="1800">
              <a:latin typeface="Calibri"/>
              <a:cs typeface="Calibri"/>
            </a:endParaRPr>
          </a:p>
          <a:p>
            <a:pPr marL="299085">
              <a:lnSpc>
                <a:spcPct val="100000"/>
              </a:lnSpc>
            </a:pPr>
            <a:r>
              <a:rPr sz="1800" spc="-10" dirty="0">
                <a:solidFill>
                  <a:srgbClr val="FFFFFF"/>
                </a:solidFill>
                <a:latin typeface="Calibri"/>
                <a:cs typeface="Calibri"/>
              </a:rPr>
              <a:t>print("Two...")</a:t>
            </a:r>
            <a:endParaRPr sz="1800">
              <a:latin typeface="Calibri"/>
              <a:cs typeface="Calibri"/>
            </a:endParaRPr>
          </a:p>
          <a:p>
            <a:pPr marL="299085" marR="2360930">
              <a:lnSpc>
                <a:spcPct val="100000"/>
              </a:lnSpc>
            </a:pPr>
            <a:r>
              <a:rPr sz="1800" spc="-10" dirty="0">
                <a:solidFill>
                  <a:srgbClr val="FFFFFF"/>
                </a:solidFill>
                <a:latin typeface="Calibri"/>
                <a:cs typeface="Calibri"/>
              </a:rPr>
              <a:t>print("One...")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if</a:t>
            </a:r>
            <a:r>
              <a:rPr sz="1800" spc="-1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not</a:t>
            </a:r>
            <a:r>
              <a:rPr sz="1800" spc="-10" dirty="0">
                <a:solidFill>
                  <a:srgbClr val="FFFFFF"/>
                </a:solidFill>
                <a:latin typeface="Calibri"/>
                <a:cs typeface="Calibri"/>
              </a:rPr>
              <a:t> wishes:</a:t>
            </a:r>
            <a:endParaRPr sz="1800">
              <a:latin typeface="Calibri"/>
              <a:cs typeface="Calibri"/>
            </a:endParaRPr>
          </a:p>
          <a:p>
            <a:pPr marL="509905">
              <a:lnSpc>
                <a:spcPct val="100000"/>
              </a:lnSpc>
            </a:pPr>
            <a:r>
              <a:rPr sz="1800" spc="-10" dirty="0">
                <a:solidFill>
                  <a:srgbClr val="FFFFFF"/>
                </a:solidFill>
                <a:latin typeface="Calibri"/>
                <a:cs typeface="Calibri"/>
              </a:rPr>
              <a:t>return</a:t>
            </a:r>
            <a:endParaRPr sz="1800">
              <a:latin typeface="Calibri"/>
              <a:cs typeface="Calibri"/>
            </a:endParaRPr>
          </a:p>
          <a:p>
            <a:pPr marL="299085">
              <a:lnSpc>
                <a:spcPct val="100000"/>
              </a:lnSpc>
              <a:spcBef>
                <a:spcPts val="2160"/>
              </a:spcBef>
            </a:pPr>
            <a:r>
              <a:rPr sz="1800" spc="-10" dirty="0">
                <a:solidFill>
                  <a:srgbClr val="FFFFFF"/>
                </a:solidFill>
                <a:latin typeface="Calibri"/>
                <a:cs typeface="Calibri"/>
              </a:rPr>
              <a:t>print("Happy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New</a:t>
            </a:r>
            <a:r>
              <a:rPr sz="1800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Calibri"/>
                <a:cs typeface="Calibri"/>
              </a:rPr>
              <a:t>Year!")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0" y="5117591"/>
            <a:ext cx="2085339" cy="1708785"/>
          </a:xfrm>
          <a:custGeom>
            <a:avLst/>
            <a:gdLst/>
            <a:ahLst/>
            <a:cxnLst/>
            <a:rect l="l" t="t" r="r" b="b"/>
            <a:pathLst>
              <a:path w="2085339" h="1708784">
                <a:moveTo>
                  <a:pt x="2084832" y="0"/>
                </a:moveTo>
                <a:lnTo>
                  <a:pt x="0" y="0"/>
                </a:lnTo>
                <a:lnTo>
                  <a:pt x="0" y="1708404"/>
                </a:lnTo>
                <a:lnTo>
                  <a:pt x="2084832" y="1708404"/>
                </a:lnTo>
                <a:lnTo>
                  <a:pt x="2084832" y="0"/>
                </a:lnTo>
                <a:close/>
              </a:path>
            </a:pathLst>
          </a:custGeom>
          <a:solidFill>
            <a:srgbClr val="6FAC4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0" y="5117591"/>
            <a:ext cx="2085339" cy="1708785"/>
          </a:xfrm>
          <a:prstGeom prst="rect">
            <a:avLst/>
          </a:prstGeom>
          <a:ln w="12700">
            <a:solidFill>
              <a:srgbClr val="507D31"/>
            </a:solidFill>
          </a:ln>
        </p:spPr>
        <p:txBody>
          <a:bodyPr vert="horz" wrap="square" lIns="0" tIns="153670" rIns="0" bIns="0" rtlCol="0">
            <a:spAutoFit/>
          </a:bodyPr>
          <a:lstStyle/>
          <a:p>
            <a:pPr marL="91440" marR="246379">
              <a:lnSpc>
                <a:spcPct val="100000"/>
              </a:lnSpc>
              <a:spcBef>
                <a:spcPts val="1210"/>
              </a:spcBef>
            </a:pPr>
            <a:r>
              <a:rPr sz="1800" spc="-10" dirty="0">
                <a:solidFill>
                  <a:srgbClr val="FFFFFF"/>
                </a:solidFill>
                <a:latin typeface="Calibri"/>
                <a:cs typeface="Calibri"/>
              </a:rPr>
              <a:t>happy_new_year() Three...</a:t>
            </a:r>
            <a:endParaRPr sz="1800">
              <a:latin typeface="Calibri"/>
              <a:cs typeface="Calibri"/>
            </a:endParaRPr>
          </a:p>
          <a:p>
            <a:pPr marL="91440">
              <a:lnSpc>
                <a:spcPct val="100000"/>
              </a:lnSpc>
              <a:spcBef>
                <a:spcPts val="5"/>
              </a:spcBef>
            </a:pPr>
            <a:r>
              <a:rPr sz="1800" spc="-10" dirty="0">
                <a:solidFill>
                  <a:srgbClr val="FFFFFF"/>
                </a:solidFill>
                <a:latin typeface="Calibri"/>
                <a:cs typeface="Calibri"/>
              </a:rPr>
              <a:t>Two...</a:t>
            </a:r>
            <a:endParaRPr sz="1800">
              <a:latin typeface="Calibri"/>
              <a:cs typeface="Calibri"/>
            </a:endParaRPr>
          </a:p>
          <a:p>
            <a:pPr marL="91440">
              <a:lnSpc>
                <a:spcPct val="100000"/>
              </a:lnSpc>
            </a:pPr>
            <a:r>
              <a:rPr sz="1800" spc="-10" dirty="0">
                <a:solidFill>
                  <a:srgbClr val="FFFFFF"/>
                </a:solidFill>
                <a:latin typeface="Calibri"/>
                <a:cs typeface="Calibri"/>
              </a:rPr>
              <a:t>One...</a:t>
            </a:r>
            <a:endParaRPr sz="1800">
              <a:latin typeface="Calibri"/>
              <a:cs typeface="Calibri"/>
            </a:endParaRPr>
          </a:p>
          <a:p>
            <a:pPr marL="91440">
              <a:lnSpc>
                <a:spcPct val="100000"/>
              </a:lnSpc>
            </a:pP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Happy</a:t>
            </a:r>
            <a:r>
              <a:rPr sz="18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New</a:t>
            </a:r>
            <a:r>
              <a:rPr sz="18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Calibri"/>
                <a:cs typeface="Calibri"/>
              </a:rPr>
              <a:t>Year!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214372" y="5196838"/>
            <a:ext cx="2510155" cy="1641475"/>
          </a:xfrm>
          <a:prstGeom prst="rect">
            <a:avLst/>
          </a:prstGeom>
          <a:solidFill>
            <a:srgbClr val="6FAC46"/>
          </a:solidFill>
          <a:ln w="12700">
            <a:solidFill>
              <a:srgbClr val="507D31"/>
            </a:solidFill>
          </a:ln>
        </p:spPr>
        <p:txBody>
          <a:bodyPr vert="horz" wrap="square" lIns="0" tIns="258445" rIns="0" bIns="0" rtlCol="0">
            <a:spAutoFit/>
          </a:bodyPr>
          <a:lstStyle/>
          <a:p>
            <a:pPr marL="90805" marR="207010">
              <a:lnSpc>
                <a:spcPct val="100000"/>
              </a:lnSpc>
              <a:spcBef>
                <a:spcPts val="2035"/>
              </a:spcBef>
            </a:pPr>
            <a:r>
              <a:rPr sz="1800" spc="-10" dirty="0">
                <a:solidFill>
                  <a:srgbClr val="FFFFFF"/>
                </a:solidFill>
                <a:latin typeface="Calibri"/>
                <a:cs typeface="Calibri"/>
              </a:rPr>
              <a:t>happy_new_year(False) Three...</a:t>
            </a:r>
            <a:endParaRPr sz="1800">
              <a:latin typeface="Calibri"/>
              <a:cs typeface="Calibri"/>
            </a:endParaRPr>
          </a:p>
          <a:p>
            <a:pPr marL="90805">
              <a:lnSpc>
                <a:spcPct val="100000"/>
              </a:lnSpc>
            </a:pPr>
            <a:r>
              <a:rPr sz="1800" spc="-10" dirty="0">
                <a:solidFill>
                  <a:srgbClr val="FFFFFF"/>
                </a:solidFill>
                <a:latin typeface="Calibri"/>
                <a:cs typeface="Calibri"/>
              </a:rPr>
              <a:t>Two...</a:t>
            </a:r>
            <a:endParaRPr sz="1800">
              <a:latin typeface="Calibri"/>
              <a:cs typeface="Calibri"/>
            </a:endParaRPr>
          </a:p>
          <a:p>
            <a:pPr marL="90805">
              <a:lnSpc>
                <a:spcPct val="100000"/>
              </a:lnSpc>
            </a:pPr>
            <a:r>
              <a:rPr sz="1800" spc="-10" dirty="0">
                <a:solidFill>
                  <a:srgbClr val="FFFFFF"/>
                </a:solidFill>
                <a:latin typeface="Calibri"/>
                <a:cs typeface="Calibri"/>
              </a:rPr>
              <a:t>One...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6243828" y="3429000"/>
            <a:ext cx="3810000" cy="2694940"/>
          </a:xfrm>
          <a:prstGeom prst="rect">
            <a:avLst/>
          </a:prstGeom>
          <a:solidFill>
            <a:srgbClr val="4471C4"/>
          </a:solidFill>
          <a:ln w="12700">
            <a:solidFill>
              <a:srgbClr val="2E528F"/>
            </a:solidFill>
          </a:ln>
        </p:spPr>
        <p:txBody>
          <a:bodyPr vert="horz" wrap="square" lIns="0" tIns="10985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865"/>
              </a:spcBef>
            </a:pPr>
            <a:endParaRPr sz="1800">
              <a:latin typeface="Times New Roman"/>
              <a:cs typeface="Times New Roman"/>
            </a:endParaRPr>
          </a:p>
          <a:p>
            <a:pPr marL="301625" marR="756285" indent="-208915">
              <a:lnSpc>
                <a:spcPct val="100000"/>
              </a:lnSpc>
            </a:pP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def</a:t>
            </a:r>
            <a:r>
              <a:rPr sz="18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Calibri"/>
                <a:cs typeface="Calibri"/>
              </a:rPr>
              <a:t>boring_function(): print("'Boredom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Mode'</a:t>
            </a:r>
            <a:r>
              <a:rPr sz="18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Calibri"/>
                <a:cs typeface="Calibri"/>
              </a:rPr>
              <a:t>ON.")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return</a:t>
            </a:r>
            <a:r>
              <a:rPr sz="1800" spc="-8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-25" dirty="0">
                <a:solidFill>
                  <a:srgbClr val="FFFFFF"/>
                </a:solidFill>
                <a:latin typeface="Calibri"/>
                <a:cs typeface="Calibri"/>
              </a:rPr>
              <a:t>123</a:t>
            </a:r>
            <a:endParaRPr sz="1800">
              <a:latin typeface="Calibri"/>
              <a:cs typeface="Calibri"/>
            </a:endParaRPr>
          </a:p>
          <a:p>
            <a:pPr marL="92710">
              <a:lnSpc>
                <a:spcPct val="100000"/>
              </a:lnSpc>
              <a:spcBef>
                <a:spcPts val="2160"/>
              </a:spcBef>
            </a:pP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print("This</a:t>
            </a:r>
            <a:r>
              <a:rPr sz="1800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lesson</a:t>
            </a:r>
            <a:r>
              <a:rPr sz="18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is</a:t>
            </a:r>
            <a:r>
              <a:rPr sz="18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Calibri"/>
                <a:cs typeface="Calibri"/>
              </a:rPr>
              <a:t>interesting!")</a:t>
            </a:r>
            <a:endParaRPr sz="1800">
              <a:latin typeface="Calibri"/>
              <a:cs typeface="Calibri"/>
            </a:endParaRPr>
          </a:p>
          <a:p>
            <a:pPr marL="92710">
              <a:lnSpc>
                <a:spcPct val="100000"/>
              </a:lnSpc>
              <a:spcBef>
                <a:spcPts val="5"/>
              </a:spcBef>
            </a:pPr>
            <a:r>
              <a:rPr sz="1800" spc="-10" dirty="0">
                <a:solidFill>
                  <a:srgbClr val="FFFFFF"/>
                </a:solidFill>
                <a:latin typeface="Calibri"/>
                <a:cs typeface="Calibri"/>
              </a:rPr>
              <a:t>boring_function()</a:t>
            </a:r>
            <a:endParaRPr sz="1800">
              <a:latin typeface="Calibri"/>
              <a:cs typeface="Calibri"/>
            </a:endParaRPr>
          </a:p>
          <a:p>
            <a:pPr marL="92710">
              <a:lnSpc>
                <a:spcPct val="100000"/>
              </a:lnSpc>
            </a:pP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print("This</a:t>
            </a:r>
            <a:r>
              <a:rPr sz="18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lesson</a:t>
            </a:r>
            <a:r>
              <a:rPr sz="1800" spc="-6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is</a:t>
            </a:r>
            <a:r>
              <a:rPr sz="1800" spc="-6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Calibri"/>
                <a:cs typeface="Calibri"/>
              </a:rPr>
              <a:t>boring...")</a:t>
            </a:r>
            <a:endParaRPr sz="1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55219" y="-95631"/>
            <a:ext cx="1729105" cy="782955"/>
          </a:xfrm>
          <a:prstGeom prst="rect">
            <a:avLst/>
          </a:prstGeom>
        </p:spPr>
        <p:txBody>
          <a:bodyPr vert="horz" wrap="square" lIns="0" tIns="116839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19"/>
              </a:spcBef>
            </a:pPr>
            <a:r>
              <a:rPr sz="1800" b="1" spc="-20" dirty="0">
                <a:solidFill>
                  <a:srgbClr val="4471C4"/>
                </a:solidFill>
                <a:latin typeface="Courier New"/>
                <a:cs typeface="Courier New"/>
              </a:rPr>
              <a:t>None</a:t>
            </a:r>
            <a:endParaRPr sz="18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819"/>
              </a:spcBef>
            </a:pPr>
            <a:r>
              <a:rPr sz="1800" dirty="0">
                <a:latin typeface="Calibri"/>
                <a:cs typeface="Calibri"/>
              </a:rPr>
              <a:t>None</a:t>
            </a:r>
            <a:r>
              <a:rPr sz="1800" spc="-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is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keyword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76784" y="914400"/>
            <a:ext cx="5181600" cy="1428115"/>
          </a:xfrm>
          <a:prstGeom prst="rect">
            <a:avLst/>
          </a:prstGeom>
          <a:solidFill>
            <a:srgbClr val="4471C4"/>
          </a:solidFill>
          <a:ln w="12700">
            <a:solidFill>
              <a:srgbClr val="2E528F"/>
            </a:solidFill>
          </a:ln>
        </p:spPr>
        <p:txBody>
          <a:bodyPr vert="horz" wrap="square" lIns="0" tIns="2413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90"/>
              </a:spcBef>
            </a:pPr>
            <a:endParaRPr sz="1800">
              <a:latin typeface="Times New Roman"/>
              <a:cs typeface="Times New Roman"/>
            </a:endParaRPr>
          </a:p>
          <a:p>
            <a:pPr marL="90805">
              <a:lnSpc>
                <a:spcPct val="100000"/>
              </a:lnSpc>
            </a:pP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value</a:t>
            </a:r>
            <a:r>
              <a:rPr sz="18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=</a:t>
            </a:r>
            <a:r>
              <a:rPr sz="1800" spc="-20" dirty="0">
                <a:solidFill>
                  <a:srgbClr val="FFFFFF"/>
                </a:solidFill>
                <a:latin typeface="Calibri"/>
                <a:cs typeface="Calibri"/>
              </a:rPr>
              <a:t> None</a:t>
            </a:r>
            <a:endParaRPr sz="1800">
              <a:latin typeface="Calibri"/>
              <a:cs typeface="Calibri"/>
            </a:endParaRPr>
          </a:p>
          <a:p>
            <a:pPr marL="90805">
              <a:lnSpc>
                <a:spcPct val="100000"/>
              </a:lnSpc>
            </a:pP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if</a:t>
            </a:r>
            <a:r>
              <a:rPr sz="1800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value</a:t>
            </a:r>
            <a:r>
              <a:rPr sz="1800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is</a:t>
            </a:r>
            <a:r>
              <a:rPr sz="18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Calibri"/>
                <a:cs typeface="Calibri"/>
              </a:rPr>
              <a:t>None:</a:t>
            </a:r>
            <a:endParaRPr sz="1800">
              <a:latin typeface="Calibri"/>
              <a:cs typeface="Calibri"/>
            </a:endParaRPr>
          </a:p>
          <a:p>
            <a:pPr marL="299720">
              <a:lnSpc>
                <a:spcPct val="100000"/>
              </a:lnSpc>
            </a:pPr>
            <a:r>
              <a:rPr sz="1800" spc="-10" dirty="0">
                <a:solidFill>
                  <a:srgbClr val="FFFFFF"/>
                </a:solidFill>
                <a:latin typeface="Calibri"/>
                <a:cs typeface="Calibri"/>
              </a:rPr>
              <a:t>print("Sorry,</a:t>
            </a:r>
            <a:r>
              <a:rPr sz="18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you</a:t>
            </a:r>
            <a:r>
              <a:rPr sz="18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don't</a:t>
            </a:r>
            <a:r>
              <a:rPr sz="18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carry</a:t>
            </a:r>
            <a:r>
              <a:rPr sz="18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any</a:t>
            </a:r>
            <a:r>
              <a:rPr sz="18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Calibri"/>
                <a:cs typeface="Calibri"/>
              </a:rPr>
              <a:t>value")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170434" y="2336038"/>
            <a:ext cx="2274570" cy="718820"/>
            <a:chOff x="170434" y="2336038"/>
            <a:chExt cx="2274570" cy="718820"/>
          </a:xfrm>
        </p:grpSpPr>
        <p:sp>
          <p:nvSpPr>
            <p:cNvPr id="5" name="object 5"/>
            <p:cNvSpPr/>
            <p:nvPr/>
          </p:nvSpPr>
          <p:spPr>
            <a:xfrm>
              <a:off x="176784" y="2342388"/>
              <a:ext cx="2261870" cy="706120"/>
            </a:xfrm>
            <a:custGeom>
              <a:avLst/>
              <a:gdLst/>
              <a:ahLst/>
              <a:cxnLst/>
              <a:rect l="l" t="t" r="r" b="b"/>
              <a:pathLst>
                <a:path w="2261870" h="706119">
                  <a:moveTo>
                    <a:pt x="2261616" y="0"/>
                  </a:moveTo>
                  <a:lnTo>
                    <a:pt x="0" y="0"/>
                  </a:lnTo>
                  <a:lnTo>
                    <a:pt x="0" y="705612"/>
                  </a:lnTo>
                  <a:lnTo>
                    <a:pt x="2261616" y="705612"/>
                  </a:lnTo>
                  <a:lnTo>
                    <a:pt x="2261616" y="0"/>
                  </a:lnTo>
                  <a:close/>
                </a:path>
              </a:pathLst>
            </a:custGeom>
            <a:solidFill>
              <a:srgbClr val="4471C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176784" y="2342388"/>
              <a:ext cx="2261870" cy="706120"/>
            </a:xfrm>
            <a:custGeom>
              <a:avLst/>
              <a:gdLst/>
              <a:ahLst/>
              <a:cxnLst/>
              <a:rect l="l" t="t" r="r" b="b"/>
              <a:pathLst>
                <a:path w="2261870" h="706119">
                  <a:moveTo>
                    <a:pt x="0" y="705612"/>
                  </a:moveTo>
                  <a:lnTo>
                    <a:pt x="2261616" y="705612"/>
                  </a:lnTo>
                  <a:lnTo>
                    <a:pt x="2261616" y="0"/>
                  </a:lnTo>
                  <a:lnTo>
                    <a:pt x="0" y="0"/>
                  </a:lnTo>
                  <a:lnTo>
                    <a:pt x="0" y="705612"/>
                  </a:lnTo>
                  <a:close/>
                </a:path>
              </a:pathLst>
            </a:custGeom>
            <a:ln w="12699">
              <a:solidFill>
                <a:srgbClr val="2E528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255219" y="2530602"/>
            <a:ext cx="144907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print(None</a:t>
            </a:r>
            <a:r>
              <a:rPr sz="18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+</a:t>
            </a:r>
            <a:r>
              <a:rPr sz="1800" spc="-6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-25" dirty="0">
                <a:solidFill>
                  <a:srgbClr val="FFFFFF"/>
                </a:solidFill>
                <a:latin typeface="Calibri"/>
                <a:cs typeface="Calibri"/>
              </a:rPr>
              <a:t>2)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2046477" y="2464054"/>
            <a:ext cx="3734435" cy="509905"/>
            <a:chOff x="2046477" y="2464054"/>
            <a:chExt cx="3734435" cy="509905"/>
          </a:xfrm>
        </p:grpSpPr>
        <p:sp>
          <p:nvSpPr>
            <p:cNvPr id="9" name="object 9"/>
            <p:cNvSpPr/>
            <p:nvPr/>
          </p:nvSpPr>
          <p:spPr>
            <a:xfrm>
              <a:off x="2052827" y="2470404"/>
              <a:ext cx="3721735" cy="497205"/>
            </a:xfrm>
            <a:custGeom>
              <a:avLst/>
              <a:gdLst/>
              <a:ahLst/>
              <a:cxnLst/>
              <a:rect l="l" t="t" r="r" b="b"/>
              <a:pathLst>
                <a:path w="3721735" h="497205">
                  <a:moveTo>
                    <a:pt x="3721608" y="0"/>
                  </a:moveTo>
                  <a:lnTo>
                    <a:pt x="0" y="0"/>
                  </a:lnTo>
                  <a:lnTo>
                    <a:pt x="0" y="496824"/>
                  </a:lnTo>
                  <a:lnTo>
                    <a:pt x="3721608" y="496824"/>
                  </a:lnTo>
                  <a:lnTo>
                    <a:pt x="3721608" y="0"/>
                  </a:lnTo>
                  <a:close/>
                </a:path>
              </a:pathLst>
            </a:custGeom>
            <a:solidFill>
              <a:srgbClr val="6FAC4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2052827" y="2470404"/>
              <a:ext cx="3721735" cy="497205"/>
            </a:xfrm>
            <a:custGeom>
              <a:avLst/>
              <a:gdLst/>
              <a:ahLst/>
              <a:cxnLst/>
              <a:rect l="l" t="t" r="r" b="b"/>
              <a:pathLst>
                <a:path w="3721735" h="497205">
                  <a:moveTo>
                    <a:pt x="0" y="496824"/>
                  </a:moveTo>
                  <a:lnTo>
                    <a:pt x="3721608" y="496824"/>
                  </a:lnTo>
                  <a:lnTo>
                    <a:pt x="3721608" y="0"/>
                  </a:lnTo>
                  <a:lnTo>
                    <a:pt x="0" y="0"/>
                  </a:lnTo>
                  <a:lnTo>
                    <a:pt x="0" y="496824"/>
                  </a:lnTo>
                  <a:close/>
                </a:path>
              </a:pathLst>
            </a:custGeom>
            <a:ln w="12700">
              <a:solidFill>
                <a:srgbClr val="507D3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2358008" y="2417445"/>
            <a:ext cx="311277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1651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solidFill>
                  <a:srgbClr val="FFFFFF"/>
                </a:solidFill>
                <a:latin typeface="Calibri"/>
                <a:cs typeface="Calibri"/>
              </a:rPr>
              <a:t>TypeError:</a:t>
            </a:r>
            <a:r>
              <a:rPr sz="18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Calibri"/>
                <a:cs typeface="Calibri"/>
              </a:rPr>
              <a:t>unsupported</a:t>
            </a:r>
            <a:r>
              <a:rPr sz="18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Calibri"/>
                <a:cs typeface="Calibri"/>
              </a:rPr>
              <a:t>operand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type(s)</a:t>
            </a:r>
            <a:r>
              <a:rPr sz="18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for</a:t>
            </a:r>
            <a:r>
              <a:rPr sz="18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+:</a:t>
            </a:r>
            <a:r>
              <a:rPr sz="18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Calibri"/>
                <a:cs typeface="Calibri"/>
              </a:rPr>
              <a:t>'NoneType'</a:t>
            </a:r>
            <a:r>
              <a:rPr sz="18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and</a:t>
            </a:r>
            <a:r>
              <a:rPr sz="18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-20" dirty="0">
                <a:solidFill>
                  <a:srgbClr val="FFFFFF"/>
                </a:solidFill>
                <a:latin typeface="Calibri"/>
                <a:cs typeface="Calibri"/>
              </a:rPr>
              <a:t>'int'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44779" y="3127248"/>
            <a:ext cx="5181600" cy="1652270"/>
          </a:xfrm>
          <a:prstGeom prst="rect">
            <a:avLst/>
          </a:prstGeom>
          <a:solidFill>
            <a:srgbClr val="4471C4"/>
          </a:solidFill>
          <a:ln w="12700">
            <a:solidFill>
              <a:srgbClr val="2E528F"/>
            </a:solidFill>
          </a:ln>
        </p:spPr>
        <p:txBody>
          <a:bodyPr vert="horz" wrap="square" lIns="0" tIns="125730" rIns="0" bIns="0" rtlCol="0">
            <a:spAutoFit/>
          </a:bodyPr>
          <a:lstStyle/>
          <a:p>
            <a:pPr marL="299720" marR="2829560" indent="-208915">
              <a:lnSpc>
                <a:spcPct val="100000"/>
              </a:lnSpc>
              <a:spcBef>
                <a:spcPts val="990"/>
              </a:spcBef>
            </a:pP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def</a:t>
            </a:r>
            <a:r>
              <a:rPr sz="18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Calibri"/>
                <a:cs typeface="Calibri"/>
              </a:rPr>
              <a:t>strange_function(n):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if(n</a:t>
            </a:r>
            <a:r>
              <a:rPr sz="1800" spc="-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%</a:t>
            </a:r>
            <a:r>
              <a:rPr sz="1800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2</a:t>
            </a:r>
            <a:r>
              <a:rPr sz="1800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==</a:t>
            </a:r>
            <a:r>
              <a:rPr sz="1800" spc="-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-25" dirty="0">
                <a:solidFill>
                  <a:srgbClr val="FFFFFF"/>
                </a:solidFill>
                <a:latin typeface="Calibri"/>
                <a:cs typeface="Calibri"/>
              </a:rPr>
              <a:t>0):</a:t>
            </a:r>
            <a:endParaRPr sz="1800">
              <a:latin typeface="Calibri"/>
              <a:cs typeface="Calibri"/>
            </a:endParaRPr>
          </a:p>
          <a:p>
            <a:pPr marL="90805" marR="2665095" indent="419100">
              <a:lnSpc>
                <a:spcPct val="100000"/>
              </a:lnSpc>
              <a:spcBef>
                <a:spcPts val="5"/>
              </a:spcBef>
            </a:pP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return</a:t>
            </a:r>
            <a:r>
              <a:rPr sz="1800" spc="-9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-20" dirty="0">
                <a:solidFill>
                  <a:srgbClr val="FFFFFF"/>
                </a:solidFill>
                <a:latin typeface="Calibri"/>
                <a:cs typeface="Calibri"/>
              </a:rPr>
              <a:t>True </a:t>
            </a:r>
            <a:r>
              <a:rPr sz="1800" spc="-10" dirty="0">
                <a:solidFill>
                  <a:srgbClr val="FFFFFF"/>
                </a:solidFill>
                <a:latin typeface="Calibri"/>
                <a:cs typeface="Calibri"/>
              </a:rPr>
              <a:t>print(strange_function(2)) print(strange_function(1))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3224783" y="3223260"/>
            <a:ext cx="1973580" cy="658495"/>
          </a:xfrm>
          <a:prstGeom prst="rect">
            <a:avLst/>
          </a:prstGeom>
          <a:solidFill>
            <a:srgbClr val="6FAC46"/>
          </a:solidFill>
          <a:ln w="12700">
            <a:solidFill>
              <a:srgbClr val="507D31"/>
            </a:solidFill>
          </a:ln>
        </p:spPr>
        <p:txBody>
          <a:bodyPr vert="horz" wrap="square" lIns="0" tIns="17716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395"/>
              </a:spcBef>
            </a:pPr>
            <a:r>
              <a:rPr sz="1800" spc="-20" dirty="0">
                <a:solidFill>
                  <a:srgbClr val="FFFFFF"/>
                </a:solidFill>
                <a:latin typeface="Calibri"/>
                <a:cs typeface="Calibri"/>
              </a:rPr>
              <a:t>True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3224783" y="4041647"/>
            <a:ext cx="1973580" cy="658495"/>
          </a:xfrm>
          <a:prstGeom prst="rect">
            <a:avLst/>
          </a:prstGeom>
          <a:solidFill>
            <a:srgbClr val="6FAC46"/>
          </a:solidFill>
          <a:ln w="12700">
            <a:solidFill>
              <a:srgbClr val="507D31"/>
            </a:solidFill>
          </a:ln>
        </p:spPr>
        <p:txBody>
          <a:bodyPr vert="horz" wrap="square" lIns="0" tIns="17653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390"/>
              </a:spcBef>
            </a:pPr>
            <a:r>
              <a:rPr sz="1800" spc="-20" dirty="0">
                <a:solidFill>
                  <a:srgbClr val="FFFFFF"/>
                </a:solidFill>
                <a:latin typeface="Calibri"/>
                <a:cs typeface="Calibri"/>
              </a:rPr>
              <a:t>None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5" name="object 15"/>
          <p:cNvSpPr txBox="1">
            <a:spLocks noGrp="1"/>
          </p:cNvSpPr>
          <p:nvPr>
            <p:ph type="title"/>
          </p:nvPr>
        </p:nvSpPr>
        <p:spPr>
          <a:xfrm>
            <a:off x="7860283" y="17780"/>
            <a:ext cx="17024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b="0" dirty="0">
                <a:latin typeface="Calibri"/>
                <a:cs typeface="Calibri"/>
              </a:rPr>
              <a:t>lists</a:t>
            </a:r>
            <a:r>
              <a:rPr b="0" spc="-40" dirty="0">
                <a:latin typeface="Calibri"/>
                <a:cs typeface="Calibri"/>
              </a:rPr>
              <a:t> </a:t>
            </a:r>
            <a:r>
              <a:rPr b="0" dirty="0">
                <a:latin typeface="Calibri"/>
                <a:cs typeface="Calibri"/>
              </a:rPr>
              <a:t>and</a:t>
            </a:r>
            <a:r>
              <a:rPr b="0" spc="-25" dirty="0">
                <a:latin typeface="Calibri"/>
                <a:cs typeface="Calibri"/>
              </a:rPr>
              <a:t> </a:t>
            </a:r>
            <a:r>
              <a:rPr b="0" spc="-10" dirty="0">
                <a:latin typeface="Calibri"/>
                <a:cs typeface="Calibri"/>
              </a:rPr>
              <a:t>functions</a:t>
            </a:r>
          </a:p>
        </p:txBody>
      </p:sp>
      <p:graphicFrame>
        <p:nvGraphicFramePr>
          <p:cNvPr id="16" name="object 16"/>
          <p:cNvGraphicFramePr>
            <a:graphicFrameLocks noGrp="1"/>
          </p:cNvGraphicFramePr>
          <p:nvPr/>
        </p:nvGraphicFramePr>
        <p:xfrm>
          <a:off x="6859269" y="443230"/>
          <a:ext cx="5125720" cy="298386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79971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4533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067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282700">
                <a:tc gridSpan="2">
                  <a:txBody>
                    <a:bodyPr/>
                    <a:lstStyle/>
                    <a:p>
                      <a:pPr marL="300990" marR="2574925" indent="-208915">
                        <a:lnSpc>
                          <a:spcPct val="100000"/>
                        </a:lnSpc>
                        <a:spcBef>
                          <a:spcPts val="1889"/>
                        </a:spcBef>
                      </a:pPr>
                      <a:r>
                        <a:rPr sz="180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def</a:t>
                      </a:r>
                      <a:r>
                        <a:rPr sz="1800" spc="-3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strange_list_fun(n): strange_list</a:t>
                      </a:r>
                      <a:r>
                        <a:rPr sz="1800" spc="-1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=</a:t>
                      </a:r>
                      <a:r>
                        <a:rPr sz="1800" spc="-2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3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[]</a:t>
                      </a:r>
                      <a:endParaRPr sz="1800">
                        <a:latin typeface="Calibri"/>
                        <a:cs typeface="Calibri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marL="300990">
                        <a:lnSpc>
                          <a:spcPts val="1630"/>
                        </a:lnSpc>
                        <a:spcBef>
                          <a:spcPts val="5"/>
                        </a:spcBef>
                      </a:pPr>
                      <a:r>
                        <a:rPr sz="180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for</a:t>
                      </a:r>
                      <a:r>
                        <a:rPr sz="1800" spc="-3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i</a:t>
                      </a:r>
                      <a:r>
                        <a:rPr sz="1800" spc="-3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in</a:t>
                      </a:r>
                      <a:r>
                        <a:rPr sz="1800" spc="-4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range(0,</a:t>
                      </a:r>
                      <a:r>
                        <a:rPr sz="1800" spc="-2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n):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240029" marB="0">
                    <a:lnL w="12700">
                      <a:solidFill>
                        <a:srgbClr val="2E528F"/>
                      </a:solidFill>
                      <a:prstDash val="solid"/>
                    </a:lnL>
                    <a:lnR w="12700">
                      <a:solidFill>
                        <a:srgbClr val="2E528F"/>
                      </a:solidFill>
                      <a:prstDash val="solid"/>
                    </a:lnR>
                    <a:lnT w="12700">
                      <a:solidFill>
                        <a:srgbClr val="2E528F"/>
                      </a:solidFill>
                      <a:prstDash val="solid"/>
                    </a:lnT>
                    <a:solidFill>
                      <a:srgbClr val="4471C4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2E528F"/>
                      </a:solidFill>
                      <a:prstDash val="solid"/>
                    </a:lnL>
                    <a:lnB w="12700">
                      <a:solidFill>
                        <a:srgbClr val="507D31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37235">
                <a:tc>
                  <a:txBody>
                    <a:bodyPr/>
                    <a:lstStyle/>
                    <a:p>
                      <a:pPr marL="511175">
                        <a:lnSpc>
                          <a:spcPct val="100000"/>
                        </a:lnSpc>
                        <a:spcBef>
                          <a:spcPts val="430"/>
                        </a:spcBef>
                      </a:pPr>
                      <a:r>
                        <a:rPr sz="1800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strange_list.insert(0,</a:t>
                      </a:r>
                      <a:r>
                        <a:rPr sz="1800" spc="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2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i)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54610" marB="0">
                    <a:lnL w="12700">
                      <a:solidFill>
                        <a:srgbClr val="2E528F"/>
                      </a:solidFill>
                      <a:prstDash val="solid"/>
                    </a:lnL>
                    <a:lnR w="12700">
                      <a:solidFill>
                        <a:srgbClr val="507D31"/>
                      </a:solidFill>
                      <a:prstDash val="solid"/>
                    </a:lnR>
                    <a:solidFill>
                      <a:srgbClr val="4471C4"/>
                    </a:solidFill>
                  </a:tcPr>
                </a:tc>
                <a:tc>
                  <a:txBody>
                    <a:bodyPr/>
                    <a:lstStyle/>
                    <a:p>
                      <a:pPr marL="584835">
                        <a:lnSpc>
                          <a:spcPct val="100000"/>
                        </a:lnSpc>
                        <a:spcBef>
                          <a:spcPts val="1705"/>
                        </a:spcBef>
                      </a:pPr>
                      <a:r>
                        <a:rPr sz="180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[4,</a:t>
                      </a:r>
                      <a:r>
                        <a:rPr sz="1800" spc="-1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3,</a:t>
                      </a:r>
                      <a:r>
                        <a:rPr sz="1800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2,</a:t>
                      </a:r>
                      <a:r>
                        <a:rPr sz="1800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1,</a:t>
                      </a:r>
                      <a:r>
                        <a:rPr sz="1800" spc="-2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2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0]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216535" marB="0">
                    <a:lnL w="12700">
                      <a:solidFill>
                        <a:srgbClr val="507D31"/>
                      </a:solidFill>
                      <a:prstDash val="solid"/>
                    </a:lnL>
                    <a:lnR w="12700">
                      <a:solidFill>
                        <a:srgbClr val="2E528F"/>
                      </a:solidFill>
                      <a:prstDash val="solid"/>
                    </a:lnR>
                    <a:lnT w="12700">
                      <a:solidFill>
                        <a:srgbClr val="507D31"/>
                      </a:solidFill>
                      <a:prstDash val="solid"/>
                    </a:lnT>
                    <a:lnB w="12700">
                      <a:solidFill>
                        <a:srgbClr val="507D31"/>
                      </a:solidFill>
                      <a:prstDash val="solid"/>
                    </a:lnB>
                    <a:solidFill>
                      <a:srgbClr val="6FAC4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2E528F"/>
                      </a:solidFill>
                      <a:prstDash val="solid"/>
                    </a:lnL>
                    <a:lnR w="12700">
                      <a:solidFill>
                        <a:srgbClr val="507D31"/>
                      </a:solidFill>
                      <a:prstDash val="solid"/>
                    </a:lnR>
                    <a:lnT w="12700">
                      <a:solidFill>
                        <a:srgbClr val="507D31"/>
                      </a:solidFill>
                      <a:prstDash val="solid"/>
                    </a:lnT>
                    <a:lnB w="12700">
                      <a:solidFill>
                        <a:srgbClr val="507D31"/>
                      </a:solidFill>
                      <a:prstDash val="solid"/>
                    </a:lnB>
                    <a:solidFill>
                      <a:srgbClr val="6FAC4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58215">
                <a:tc gridSpan="2">
                  <a:txBody>
                    <a:bodyPr/>
                    <a:lstStyle/>
                    <a:p>
                      <a:pPr marL="300990">
                        <a:lnSpc>
                          <a:spcPts val="1105"/>
                        </a:lnSpc>
                      </a:pPr>
                      <a:r>
                        <a:rPr sz="180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return</a:t>
                      </a:r>
                      <a:r>
                        <a:rPr sz="1800" spc="-7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strange_list</a:t>
                      </a:r>
                      <a:endParaRPr sz="1800">
                        <a:latin typeface="Calibri"/>
                        <a:cs typeface="Calibri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marL="92075">
                        <a:lnSpc>
                          <a:spcPct val="100000"/>
                        </a:lnSpc>
                      </a:pPr>
                      <a:r>
                        <a:rPr sz="1800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print(strange_list_fun(5))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2700">
                      <a:solidFill>
                        <a:srgbClr val="2E528F"/>
                      </a:solidFill>
                      <a:prstDash val="solid"/>
                    </a:lnL>
                    <a:lnR w="12700">
                      <a:solidFill>
                        <a:srgbClr val="2E528F"/>
                      </a:solidFill>
                      <a:prstDash val="solid"/>
                    </a:lnR>
                    <a:lnB w="12700">
                      <a:solidFill>
                        <a:srgbClr val="2E528F"/>
                      </a:solidFill>
                      <a:prstDash val="solid"/>
                    </a:lnB>
                    <a:solidFill>
                      <a:srgbClr val="4471C4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2E528F"/>
                      </a:solidFill>
                      <a:prstDash val="solid"/>
                    </a:lnL>
                    <a:lnT w="12700">
                      <a:solidFill>
                        <a:srgbClr val="507D31"/>
                      </a:solidFill>
                      <a:prstDash val="soli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7" name="object 17"/>
          <p:cNvSpPr txBox="1"/>
          <p:nvPr/>
        </p:nvSpPr>
        <p:spPr>
          <a:xfrm>
            <a:off x="6913626" y="3851859"/>
            <a:ext cx="2040889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latin typeface="Calibri"/>
                <a:cs typeface="Calibri"/>
              </a:rPr>
              <a:t>Functions</a:t>
            </a:r>
            <a:r>
              <a:rPr sz="1800" b="1" spc="-50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and</a:t>
            </a:r>
            <a:r>
              <a:rPr sz="1800" b="1" spc="-10" dirty="0">
                <a:latin typeface="Calibri"/>
                <a:cs typeface="Calibri"/>
              </a:rPr>
              <a:t> scopes</a:t>
            </a:r>
            <a:endParaRPr sz="1800">
              <a:latin typeface="Calibri"/>
              <a:cs typeface="Calibri"/>
            </a:endParaRPr>
          </a:p>
        </p:txBody>
      </p:sp>
      <p:graphicFrame>
        <p:nvGraphicFramePr>
          <p:cNvPr id="18" name="object 18"/>
          <p:cNvGraphicFramePr>
            <a:graphicFrameLocks noGrp="1"/>
          </p:cNvGraphicFramePr>
          <p:nvPr/>
        </p:nvGraphicFramePr>
        <p:xfrm>
          <a:off x="7036054" y="4364482"/>
          <a:ext cx="5158105" cy="235076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39890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823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68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914400">
                <a:tc gridSpan="2">
                  <a:txBody>
                    <a:bodyPr/>
                    <a:lstStyle/>
                    <a:p>
                      <a:pPr marR="30480"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marR="30480">
                        <a:lnSpc>
                          <a:spcPct val="100000"/>
                        </a:lnSpc>
                        <a:spcBef>
                          <a:spcPts val="680"/>
                        </a:spcBef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marL="92075" marR="30480">
                        <a:lnSpc>
                          <a:spcPct val="100000"/>
                        </a:lnSpc>
                      </a:pPr>
                      <a:r>
                        <a:rPr sz="180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def</a:t>
                      </a:r>
                      <a:r>
                        <a:rPr sz="1800" spc="-3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scope_test():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2700">
                      <a:solidFill>
                        <a:srgbClr val="2E528F"/>
                      </a:solidFill>
                      <a:prstDash val="solid"/>
                    </a:lnL>
                    <a:lnR w="12700">
                      <a:solidFill>
                        <a:srgbClr val="2E528F"/>
                      </a:solidFill>
                      <a:prstDash val="solid"/>
                    </a:lnR>
                    <a:lnT w="12700">
                      <a:solidFill>
                        <a:srgbClr val="2E528F"/>
                      </a:solidFill>
                      <a:prstDash val="solid"/>
                    </a:lnT>
                    <a:solidFill>
                      <a:srgbClr val="4471C4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2E528F"/>
                      </a:solidFill>
                      <a:prstDash val="solid"/>
                    </a:lnL>
                    <a:lnB w="12700">
                      <a:solidFill>
                        <a:srgbClr val="507D31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20700">
                <a:tc>
                  <a:txBody>
                    <a:bodyPr/>
                    <a:lstStyle/>
                    <a:p>
                      <a:pPr marR="123189" algn="ctr">
                        <a:lnSpc>
                          <a:spcPts val="1939"/>
                        </a:lnSpc>
                      </a:pPr>
                      <a:r>
                        <a:rPr sz="180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x</a:t>
                      </a:r>
                      <a:r>
                        <a:rPr sz="1800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=</a:t>
                      </a:r>
                      <a:r>
                        <a:rPr sz="1800" spc="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2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123</a:t>
                      </a:r>
                      <a:endParaRPr sz="1800">
                        <a:latin typeface="Calibri"/>
                        <a:cs typeface="Calibri"/>
                      </a:endParaRPr>
                    </a:p>
                    <a:p>
                      <a:pPr marR="64769" algn="ctr">
                        <a:lnSpc>
                          <a:spcPts val="2060"/>
                        </a:lnSpc>
                      </a:pPr>
                      <a:r>
                        <a:rPr sz="1800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scope_test()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2700">
                      <a:solidFill>
                        <a:srgbClr val="2E528F"/>
                      </a:solidFill>
                      <a:prstDash val="solid"/>
                    </a:lnL>
                    <a:lnR w="12700">
                      <a:solidFill>
                        <a:srgbClr val="507D31"/>
                      </a:solidFill>
                      <a:prstDash val="solid"/>
                    </a:lnR>
                    <a:solidFill>
                      <a:srgbClr val="4471C4"/>
                    </a:solidFill>
                  </a:tcPr>
                </a:tc>
                <a:tc>
                  <a:txBody>
                    <a:bodyPr/>
                    <a:lstStyle/>
                    <a:p>
                      <a:pPr marL="242570">
                        <a:lnSpc>
                          <a:spcPct val="100000"/>
                        </a:lnSpc>
                        <a:spcBef>
                          <a:spcPts val="860"/>
                        </a:spcBef>
                      </a:pPr>
                      <a:r>
                        <a:rPr sz="1800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NameError:</a:t>
                      </a:r>
                      <a:r>
                        <a:rPr sz="1800" spc="-3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name</a:t>
                      </a:r>
                      <a:r>
                        <a:rPr sz="1800" spc="-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'x'</a:t>
                      </a:r>
                      <a:r>
                        <a:rPr sz="1800" spc="-1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is</a:t>
                      </a:r>
                      <a:r>
                        <a:rPr sz="1800" spc="-2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not</a:t>
                      </a:r>
                      <a:r>
                        <a:rPr sz="1800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defined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109220" marB="0">
                    <a:lnL w="12700">
                      <a:solidFill>
                        <a:srgbClr val="507D31"/>
                      </a:solidFill>
                      <a:prstDash val="solid"/>
                    </a:lnL>
                    <a:lnR w="12700">
                      <a:solidFill>
                        <a:srgbClr val="2E528F"/>
                      </a:solidFill>
                      <a:prstDash val="solid"/>
                    </a:lnR>
                    <a:lnT w="12700">
                      <a:solidFill>
                        <a:srgbClr val="507D31"/>
                      </a:solidFill>
                      <a:prstDash val="solid"/>
                    </a:lnT>
                    <a:lnB w="12700">
                      <a:solidFill>
                        <a:srgbClr val="507D31"/>
                      </a:solidFill>
                      <a:prstDash val="solid"/>
                    </a:lnB>
                    <a:solidFill>
                      <a:srgbClr val="6FAC4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2E528F"/>
                      </a:solidFill>
                      <a:prstDash val="solid"/>
                    </a:lnL>
                    <a:lnR w="12700">
                      <a:solidFill>
                        <a:srgbClr val="507D31"/>
                      </a:solidFill>
                      <a:prstDash val="solid"/>
                    </a:lnR>
                    <a:lnT w="12700">
                      <a:solidFill>
                        <a:srgbClr val="507D31"/>
                      </a:solidFill>
                      <a:prstDash val="solid"/>
                    </a:lnT>
                    <a:lnB w="12700">
                      <a:solidFill>
                        <a:srgbClr val="507D31"/>
                      </a:solidFill>
                      <a:prstDash val="solid"/>
                    </a:lnB>
                    <a:solidFill>
                      <a:srgbClr val="6FAC4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15669">
                <a:tc gridSpan="2">
                  <a:txBody>
                    <a:bodyPr/>
                    <a:lstStyle/>
                    <a:p>
                      <a:pPr marL="92075" marR="30480">
                        <a:lnSpc>
                          <a:spcPts val="2160"/>
                        </a:lnSpc>
                      </a:pPr>
                      <a:r>
                        <a:rPr sz="1800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print(x)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2700">
                      <a:solidFill>
                        <a:srgbClr val="2E528F"/>
                      </a:solidFill>
                      <a:prstDash val="solid"/>
                    </a:lnL>
                    <a:lnR w="12700">
                      <a:solidFill>
                        <a:srgbClr val="2E528F"/>
                      </a:solidFill>
                      <a:prstDash val="solid"/>
                    </a:lnR>
                    <a:lnB w="12700">
                      <a:solidFill>
                        <a:srgbClr val="2E528F"/>
                      </a:solidFill>
                      <a:prstDash val="solid"/>
                    </a:lnB>
                    <a:solidFill>
                      <a:srgbClr val="4471C4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2E528F"/>
                      </a:solidFill>
                      <a:prstDash val="solid"/>
                    </a:lnL>
                    <a:lnT w="12700">
                      <a:solidFill>
                        <a:srgbClr val="507D31"/>
                      </a:solidFill>
                      <a:prstDash val="soli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pSp>
        <p:nvGrpSpPr>
          <p:cNvPr id="19" name="object 19"/>
          <p:cNvGrpSpPr/>
          <p:nvPr/>
        </p:nvGrpSpPr>
        <p:grpSpPr>
          <a:xfrm>
            <a:off x="2525014" y="4891785"/>
            <a:ext cx="4523740" cy="1953260"/>
            <a:chOff x="2525014" y="4891785"/>
            <a:chExt cx="4523740" cy="1953260"/>
          </a:xfrm>
        </p:grpSpPr>
        <p:sp>
          <p:nvSpPr>
            <p:cNvPr id="20" name="object 20"/>
            <p:cNvSpPr/>
            <p:nvPr/>
          </p:nvSpPr>
          <p:spPr>
            <a:xfrm>
              <a:off x="2531364" y="4898135"/>
              <a:ext cx="4511040" cy="1940560"/>
            </a:xfrm>
            <a:custGeom>
              <a:avLst/>
              <a:gdLst/>
              <a:ahLst/>
              <a:cxnLst/>
              <a:rect l="l" t="t" r="r" b="b"/>
              <a:pathLst>
                <a:path w="4511040" h="1940559">
                  <a:moveTo>
                    <a:pt x="2931160" y="0"/>
                  </a:moveTo>
                  <a:lnTo>
                    <a:pt x="0" y="0"/>
                  </a:lnTo>
                  <a:lnTo>
                    <a:pt x="0" y="1940050"/>
                  </a:lnTo>
                  <a:lnTo>
                    <a:pt x="2931160" y="1940050"/>
                  </a:lnTo>
                  <a:lnTo>
                    <a:pt x="2931160" y="1212532"/>
                  </a:lnTo>
                  <a:lnTo>
                    <a:pt x="4026027" y="1212532"/>
                  </a:lnTo>
                  <a:lnTo>
                    <a:pt x="4026027" y="1455039"/>
                  </a:lnTo>
                  <a:lnTo>
                    <a:pt x="4511040" y="970026"/>
                  </a:lnTo>
                  <a:lnTo>
                    <a:pt x="4026027" y="485013"/>
                  </a:lnTo>
                  <a:lnTo>
                    <a:pt x="4026027" y="727519"/>
                  </a:lnTo>
                  <a:lnTo>
                    <a:pt x="2931160" y="727519"/>
                  </a:lnTo>
                  <a:lnTo>
                    <a:pt x="2931160" y="0"/>
                  </a:lnTo>
                  <a:close/>
                </a:path>
              </a:pathLst>
            </a:custGeom>
            <a:solidFill>
              <a:srgbClr val="4471C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2531364" y="4898135"/>
              <a:ext cx="4511040" cy="1940560"/>
            </a:xfrm>
            <a:custGeom>
              <a:avLst/>
              <a:gdLst/>
              <a:ahLst/>
              <a:cxnLst/>
              <a:rect l="l" t="t" r="r" b="b"/>
              <a:pathLst>
                <a:path w="4511040" h="1940559">
                  <a:moveTo>
                    <a:pt x="0" y="0"/>
                  </a:moveTo>
                  <a:lnTo>
                    <a:pt x="2931160" y="0"/>
                  </a:lnTo>
                  <a:lnTo>
                    <a:pt x="2931160" y="727519"/>
                  </a:lnTo>
                  <a:lnTo>
                    <a:pt x="4026027" y="727519"/>
                  </a:lnTo>
                  <a:lnTo>
                    <a:pt x="4026027" y="485013"/>
                  </a:lnTo>
                  <a:lnTo>
                    <a:pt x="4511040" y="970026"/>
                  </a:lnTo>
                  <a:lnTo>
                    <a:pt x="4026027" y="1455039"/>
                  </a:lnTo>
                  <a:lnTo>
                    <a:pt x="4026027" y="1212532"/>
                  </a:lnTo>
                  <a:lnTo>
                    <a:pt x="2931160" y="1212532"/>
                  </a:lnTo>
                  <a:lnTo>
                    <a:pt x="2931160" y="1940050"/>
                  </a:lnTo>
                  <a:lnTo>
                    <a:pt x="0" y="1940050"/>
                  </a:lnTo>
                  <a:lnTo>
                    <a:pt x="0" y="0"/>
                  </a:lnTo>
                  <a:close/>
                </a:path>
              </a:pathLst>
            </a:custGeom>
            <a:ln w="12700">
              <a:solidFill>
                <a:srgbClr val="2E528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2" name="object 22"/>
          <p:cNvSpPr txBox="1"/>
          <p:nvPr/>
        </p:nvSpPr>
        <p:spPr>
          <a:xfrm>
            <a:off x="2609850" y="5018913"/>
            <a:ext cx="2207895" cy="16719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def</a:t>
            </a:r>
            <a:r>
              <a:rPr sz="18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Calibri"/>
                <a:cs typeface="Calibri"/>
              </a:rPr>
              <a:t>my_function():</a:t>
            </a:r>
            <a:endParaRPr sz="1800">
              <a:latin typeface="Calibri"/>
              <a:cs typeface="Calibri"/>
            </a:endParaRPr>
          </a:p>
          <a:p>
            <a:pPr marL="220979">
              <a:lnSpc>
                <a:spcPct val="100000"/>
              </a:lnSpc>
            </a:pP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print("Do</a:t>
            </a:r>
            <a:r>
              <a:rPr sz="1800" spc="-1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I</a:t>
            </a:r>
            <a:r>
              <a:rPr sz="18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know</a:t>
            </a:r>
            <a:r>
              <a:rPr sz="18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-20" dirty="0">
                <a:solidFill>
                  <a:srgbClr val="FFFFFF"/>
                </a:solidFill>
                <a:latin typeface="Calibri"/>
                <a:cs typeface="Calibri"/>
              </a:rPr>
              <a:t>that</a:t>
            </a:r>
            <a:endParaRPr sz="1800">
              <a:latin typeface="Calibri"/>
              <a:cs typeface="Calibri"/>
            </a:endParaRPr>
          </a:p>
          <a:p>
            <a:pPr marL="12700" marR="783590">
              <a:lnSpc>
                <a:spcPct val="100000"/>
              </a:lnSpc>
            </a:pP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variable?",</a:t>
            </a:r>
            <a:r>
              <a:rPr sz="1800" spc="-10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-20" dirty="0">
                <a:solidFill>
                  <a:srgbClr val="FFFFFF"/>
                </a:solidFill>
                <a:latin typeface="Calibri"/>
                <a:cs typeface="Calibri"/>
              </a:rPr>
              <a:t>var)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var</a:t>
            </a:r>
            <a:r>
              <a:rPr sz="1800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=</a:t>
            </a:r>
            <a:r>
              <a:rPr sz="1800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-50" dirty="0">
                <a:solidFill>
                  <a:srgbClr val="FFFFFF"/>
                </a:solidFill>
                <a:latin typeface="Calibri"/>
                <a:cs typeface="Calibri"/>
              </a:rPr>
              <a:t>1 </a:t>
            </a:r>
            <a:r>
              <a:rPr sz="1800" spc="-10" dirty="0">
                <a:solidFill>
                  <a:srgbClr val="FFFFFF"/>
                </a:solidFill>
                <a:latin typeface="Calibri"/>
                <a:cs typeface="Calibri"/>
              </a:rPr>
              <a:t>my_function() print(var)</a:t>
            </a:r>
            <a:endParaRPr sz="1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8739" y="128473"/>
            <a:ext cx="208597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the</a:t>
            </a:r>
            <a:r>
              <a:rPr spc="5" dirty="0"/>
              <a:t> </a:t>
            </a:r>
            <a:r>
              <a:rPr spc="-10" dirty="0">
                <a:latin typeface="Courier New"/>
                <a:cs typeface="Courier New"/>
              </a:rPr>
              <a:t>global</a:t>
            </a:r>
            <a:r>
              <a:rPr spc="-685" dirty="0">
                <a:latin typeface="Courier New"/>
                <a:cs typeface="Courier New"/>
              </a:rPr>
              <a:t> </a:t>
            </a:r>
            <a:r>
              <a:rPr spc="-10" dirty="0"/>
              <a:t>keyword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0" y="489204"/>
            <a:ext cx="3208020" cy="1620520"/>
          </a:xfrm>
          <a:prstGeom prst="rect">
            <a:avLst/>
          </a:prstGeom>
          <a:solidFill>
            <a:srgbClr val="4471C4"/>
          </a:solidFill>
          <a:ln w="12700">
            <a:solidFill>
              <a:srgbClr val="2E528F"/>
            </a:solidFill>
          </a:ln>
        </p:spPr>
        <p:txBody>
          <a:bodyPr vert="horz" wrap="square" lIns="0" tIns="25781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2030"/>
              </a:spcBef>
            </a:pPr>
            <a:endParaRPr sz="1800">
              <a:latin typeface="Times New Roman"/>
              <a:cs typeface="Times New Roman"/>
            </a:endParaRPr>
          </a:p>
          <a:p>
            <a:pPr marL="91440">
              <a:lnSpc>
                <a:spcPct val="100000"/>
              </a:lnSpc>
              <a:spcBef>
                <a:spcPts val="5"/>
              </a:spcBef>
            </a:pP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global</a:t>
            </a:r>
            <a:r>
              <a:rPr sz="18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-20" dirty="0">
                <a:solidFill>
                  <a:srgbClr val="FFFFFF"/>
                </a:solidFill>
                <a:latin typeface="Calibri"/>
                <a:cs typeface="Calibri"/>
              </a:rPr>
              <a:t>name</a:t>
            </a:r>
            <a:endParaRPr sz="1800">
              <a:latin typeface="Calibri"/>
              <a:cs typeface="Calibri"/>
            </a:endParaRPr>
          </a:p>
          <a:p>
            <a:pPr marL="91440">
              <a:lnSpc>
                <a:spcPct val="100000"/>
              </a:lnSpc>
            </a:pP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global</a:t>
            </a:r>
            <a:r>
              <a:rPr sz="18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name1,</a:t>
            </a:r>
            <a:r>
              <a:rPr sz="18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name2,</a:t>
            </a:r>
            <a:r>
              <a:rPr sz="18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-25" dirty="0">
                <a:solidFill>
                  <a:srgbClr val="FFFFFF"/>
                </a:solidFill>
                <a:latin typeface="Calibri"/>
                <a:cs typeface="Calibri"/>
              </a:rPr>
              <a:t>...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-6350" y="2102866"/>
            <a:ext cx="4761865" cy="3606800"/>
            <a:chOff x="-6350" y="2102866"/>
            <a:chExt cx="4761865" cy="3606800"/>
          </a:xfrm>
        </p:grpSpPr>
        <p:sp>
          <p:nvSpPr>
            <p:cNvPr id="5" name="object 5"/>
            <p:cNvSpPr/>
            <p:nvPr/>
          </p:nvSpPr>
          <p:spPr>
            <a:xfrm>
              <a:off x="0" y="2109216"/>
              <a:ext cx="4749165" cy="3594100"/>
            </a:xfrm>
            <a:custGeom>
              <a:avLst/>
              <a:gdLst/>
              <a:ahLst/>
              <a:cxnLst/>
              <a:rect l="l" t="t" r="r" b="b"/>
              <a:pathLst>
                <a:path w="4749165" h="3594100">
                  <a:moveTo>
                    <a:pt x="4748784" y="0"/>
                  </a:moveTo>
                  <a:lnTo>
                    <a:pt x="0" y="0"/>
                  </a:lnTo>
                  <a:lnTo>
                    <a:pt x="0" y="3593591"/>
                  </a:lnTo>
                  <a:lnTo>
                    <a:pt x="4748784" y="3593591"/>
                  </a:lnTo>
                  <a:lnTo>
                    <a:pt x="4748784" y="0"/>
                  </a:lnTo>
                  <a:close/>
                </a:path>
              </a:pathLst>
            </a:custGeom>
            <a:solidFill>
              <a:srgbClr val="4471C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0" y="2109216"/>
              <a:ext cx="4749165" cy="3594100"/>
            </a:xfrm>
            <a:custGeom>
              <a:avLst/>
              <a:gdLst/>
              <a:ahLst/>
              <a:cxnLst/>
              <a:rect l="l" t="t" r="r" b="b"/>
              <a:pathLst>
                <a:path w="4749165" h="3594100">
                  <a:moveTo>
                    <a:pt x="0" y="3593591"/>
                  </a:moveTo>
                  <a:lnTo>
                    <a:pt x="4748784" y="3593591"/>
                  </a:lnTo>
                  <a:lnTo>
                    <a:pt x="4748784" y="0"/>
                  </a:lnTo>
                  <a:lnTo>
                    <a:pt x="0" y="0"/>
                  </a:lnTo>
                  <a:lnTo>
                    <a:pt x="0" y="3593591"/>
                  </a:lnTo>
                  <a:close/>
                </a:path>
              </a:pathLst>
            </a:custGeom>
            <a:ln w="12700">
              <a:solidFill>
                <a:srgbClr val="2E528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91439" y="2644521"/>
            <a:ext cx="3651885" cy="24949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def</a:t>
            </a:r>
            <a:r>
              <a:rPr sz="18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Calibri"/>
                <a:cs typeface="Calibri"/>
              </a:rPr>
              <a:t>my_function():</a:t>
            </a:r>
            <a:endParaRPr sz="1800">
              <a:latin typeface="Calibri"/>
              <a:cs typeface="Calibri"/>
            </a:endParaRPr>
          </a:p>
          <a:p>
            <a:pPr marL="208279">
              <a:lnSpc>
                <a:spcPct val="100000"/>
              </a:lnSpc>
            </a:pP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global</a:t>
            </a:r>
            <a:r>
              <a:rPr sz="18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-25" dirty="0">
                <a:solidFill>
                  <a:srgbClr val="FFFFFF"/>
                </a:solidFill>
                <a:latin typeface="Calibri"/>
                <a:cs typeface="Calibri"/>
              </a:rPr>
              <a:t>var</a:t>
            </a:r>
            <a:endParaRPr sz="1800">
              <a:latin typeface="Calibri"/>
              <a:cs typeface="Calibri"/>
            </a:endParaRPr>
          </a:p>
          <a:p>
            <a:pPr marL="208279">
              <a:lnSpc>
                <a:spcPct val="100000"/>
              </a:lnSpc>
            </a:pP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var</a:t>
            </a:r>
            <a:r>
              <a:rPr sz="1800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=</a:t>
            </a:r>
            <a:r>
              <a:rPr sz="1800" spc="-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-50" dirty="0">
                <a:solidFill>
                  <a:srgbClr val="FFFFFF"/>
                </a:solidFill>
                <a:latin typeface="Calibri"/>
                <a:cs typeface="Calibri"/>
              </a:rPr>
              <a:t>2</a:t>
            </a:r>
            <a:endParaRPr sz="1800">
              <a:latin typeface="Calibri"/>
              <a:cs typeface="Calibri"/>
            </a:endParaRPr>
          </a:p>
          <a:p>
            <a:pPr marL="208279">
              <a:lnSpc>
                <a:spcPct val="100000"/>
              </a:lnSpc>
            </a:pP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print("Do</a:t>
            </a:r>
            <a:r>
              <a:rPr sz="18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I</a:t>
            </a:r>
            <a:r>
              <a:rPr sz="1800" spc="-6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know</a:t>
            </a:r>
            <a:r>
              <a:rPr sz="18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that</a:t>
            </a:r>
            <a:r>
              <a:rPr sz="1800" spc="-6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variable?",</a:t>
            </a:r>
            <a:r>
              <a:rPr sz="18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-20" dirty="0">
                <a:solidFill>
                  <a:srgbClr val="FFFFFF"/>
                </a:solidFill>
                <a:latin typeface="Calibri"/>
                <a:cs typeface="Calibri"/>
              </a:rPr>
              <a:t>var)</a:t>
            </a:r>
            <a:endParaRPr sz="18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2125"/>
              </a:spcBef>
            </a:pPr>
            <a:endParaRPr sz="1800">
              <a:latin typeface="Calibri"/>
              <a:cs typeface="Calibri"/>
            </a:endParaRPr>
          </a:p>
          <a:p>
            <a:pPr marR="2334260">
              <a:lnSpc>
                <a:spcPct val="100000"/>
              </a:lnSpc>
            </a:pP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var</a:t>
            </a:r>
            <a:r>
              <a:rPr sz="1800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=</a:t>
            </a:r>
            <a:r>
              <a:rPr sz="1800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-50" dirty="0">
                <a:solidFill>
                  <a:srgbClr val="FFFFFF"/>
                </a:solidFill>
                <a:latin typeface="Calibri"/>
                <a:cs typeface="Calibri"/>
              </a:rPr>
              <a:t>1 </a:t>
            </a:r>
            <a:r>
              <a:rPr sz="1800" spc="-10" dirty="0">
                <a:solidFill>
                  <a:srgbClr val="FFFFFF"/>
                </a:solidFill>
                <a:latin typeface="Calibri"/>
                <a:cs typeface="Calibri"/>
              </a:rPr>
              <a:t>my_function() print(var)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331965" y="137617"/>
            <a:ext cx="347789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latin typeface="Calibri"/>
                <a:cs typeface="Calibri"/>
              </a:rPr>
              <a:t>simple</a:t>
            </a:r>
            <a:r>
              <a:rPr sz="1800" b="1" spc="-40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functions:</a:t>
            </a:r>
            <a:r>
              <a:rPr sz="1800" b="1" spc="-60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Fibonacci</a:t>
            </a:r>
            <a:r>
              <a:rPr sz="1800" b="1" spc="-40" dirty="0">
                <a:latin typeface="Calibri"/>
                <a:cs typeface="Calibri"/>
              </a:rPr>
              <a:t> </a:t>
            </a:r>
            <a:r>
              <a:rPr sz="1800" b="1" spc="-10" dirty="0">
                <a:latin typeface="Calibri"/>
                <a:cs typeface="Calibri"/>
              </a:rPr>
              <a:t>numbers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5512053" y="699261"/>
            <a:ext cx="6686550" cy="6165215"/>
            <a:chOff x="5512053" y="699261"/>
            <a:chExt cx="6686550" cy="6165215"/>
          </a:xfrm>
        </p:grpSpPr>
        <p:sp>
          <p:nvSpPr>
            <p:cNvPr id="10" name="object 10"/>
            <p:cNvSpPr/>
            <p:nvPr/>
          </p:nvSpPr>
          <p:spPr>
            <a:xfrm>
              <a:off x="5518403" y="705611"/>
              <a:ext cx="6673850" cy="6152515"/>
            </a:xfrm>
            <a:custGeom>
              <a:avLst/>
              <a:gdLst/>
              <a:ahLst/>
              <a:cxnLst/>
              <a:rect l="l" t="t" r="r" b="b"/>
              <a:pathLst>
                <a:path w="6673850" h="6152515">
                  <a:moveTo>
                    <a:pt x="6673596" y="0"/>
                  </a:moveTo>
                  <a:lnTo>
                    <a:pt x="0" y="0"/>
                  </a:lnTo>
                  <a:lnTo>
                    <a:pt x="0" y="6152388"/>
                  </a:lnTo>
                  <a:lnTo>
                    <a:pt x="6673596" y="6152388"/>
                  </a:lnTo>
                  <a:lnTo>
                    <a:pt x="6673596" y="0"/>
                  </a:lnTo>
                  <a:close/>
                </a:path>
              </a:pathLst>
            </a:custGeom>
            <a:solidFill>
              <a:srgbClr val="4471C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5518403" y="705611"/>
              <a:ext cx="6673850" cy="6152515"/>
            </a:xfrm>
            <a:custGeom>
              <a:avLst/>
              <a:gdLst/>
              <a:ahLst/>
              <a:cxnLst/>
              <a:rect l="l" t="t" r="r" b="b"/>
              <a:pathLst>
                <a:path w="6673850" h="6152515">
                  <a:moveTo>
                    <a:pt x="0" y="6152388"/>
                  </a:moveTo>
                  <a:lnTo>
                    <a:pt x="6673596" y="6152388"/>
                  </a:lnTo>
                  <a:lnTo>
                    <a:pt x="6673596" y="0"/>
                  </a:lnTo>
                  <a:lnTo>
                    <a:pt x="0" y="0"/>
                  </a:lnTo>
                  <a:lnTo>
                    <a:pt x="0" y="6152388"/>
                  </a:lnTo>
                  <a:close/>
                </a:path>
              </a:pathLst>
            </a:custGeom>
            <a:ln w="12700">
              <a:solidFill>
                <a:srgbClr val="2E528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5598033" y="1559814"/>
            <a:ext cx="1586230" cy="13976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20979" marR="648335" indent="-208915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def</a:t>
            </a:r>
            <a:r>
              <a:rPr sz="18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Calibri"/>
                <a:cs typeface="Calibri"/>
              </a:rPr>
              <a:t>fib(n):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if n &lt;</a:t>
            </a:r>
            <a:r>
              <a:rPr sz="1800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-25" dirty="0">
                <a:solidFill>
                  <a:srgbClr val="FFFFFF"/>
                </a:solidFill>
                <a:latin typeface="Calibri"/>
                <a:cs typeface="Calibri"/>
              </a:rPr>
              <a:t>1:</a:t>
            </a:r>
            <a:endParaRPr sz="1800">
              <a:latin typeface="Calibri"/>
              <a:cs typeface="Calibri"/>
            </a:endParaRPr>
          </a:p>
          <a:p>
            <a:pPr marL="431800">
              <a:lnSpc>
                <a:spcPct val="100000"/>
              </a:lnSpc>
            </a:pP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return</a:t>
            </a:r>
            <a:r>
              <a:rPr sz="1800" spc="-6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-20" dirty="0">
                <a:solidFill>
                  <a:srgbClr val="FFFFFF"/>
                </a:solidFill>
                <a:latin typeface="Calibri"/>
                <a:cs typeface="Calibri"/>
              </a:rPr>
              <a:t>None</a:t>
            </a:r>
            <a:endParaRPr sz="1800">
              <a:latin typeface="Calibri"/>
              <a:cs typeface="Calibri"/>
            </a:endParaRPr>
          </a:p>
          <a:p>
            <a:pPr marL="220979">
              <a:lnSpc>
                <a:spcPct val="100000"/>
              </a:lnSpc>
            </a:pP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if n &lt;</a:t>
            </a:r>
            <a:r>
              <a:rPr sz="1800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-25" dirty="0">
                <a:solidFill>
                  <a:srgbClr val="FFFFFF"/>
                </a:solidFill>
                <a:latin typeface="Calibri"/>
                <a:cs typeface="Calibri"/>
              </a:rPr>
              <a:t>3:</a:t>
            </a:r>
            <a:endParaRPr sz="1800">
              <a:latin typeface="Calibri"/>
              <a:cs typeface="Calibri"/>
            </a:endParaRPr>
          </a:p>
          <a:p>
            <a:pPr marL="431800">
              <a:lnSpc>
                <a:spcPct val="100000"/>
              </a:lnSpc>
            </a:pP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return</a:t>
            </a:r>
            <a:r>
              <a:rPr sz="1800" spc="-9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-50" dirty="0">
                <a:solidFill>
                  <a:srgbClr val="FFFFFF"/>
                </a:solidFill>
                <a:latin typeface="Calibri"/>
                <a:cs typeface="Calibri"/>
              </a:rPr>
              <a:t>1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5598033" y="3205988"/>
            <a:ext cx="3782060" cy="27692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20979" marR="16129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elem_1</a:t>
            </a:r>
            <a:r>
              <a:rPr sz="18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=</a:t>
            </a:r>
            <a:r>
              <a:rPr sz="18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elem_2</a:t>
            </a:r>
            <a:r>
              <a:rPr sz="1800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=</a:t>
            </a:r>
            <a:r>
              <a:rPr sz="18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-50" dirty="0">
                <a:solidFill>
                  <a:srgbClr val="FFFFFF"/>
                </a:solidFill>
                <a:latin typeface="Calibri"/>
                <a:cs typeface="Calibri"/>
              </a:rPr>
              <a:t>1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the_sum</a:t>
            </a:r>
            <a:r>
              <a:rPr sz="18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=</a:t>
            </a:r>
            <a:r>
              <a:rPr sz="1800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-50" dirty="0">
                <a:solidFill>
                  <a:srgbClr val="FFFFFF"/>
                </a:solidFill>
                <a:latin typeface="Calibri"/>
                <a:cs typeface="Calibri"/>
              </a:rPr>
              <a:t>0</a:t>
            </a:r>
            <a:endParaRPr sz="1800">
              <a:latin typeface="Calibri"/>
              <a:cs typeface="Calibri"/>
            </a:endParaRPr>
          </a:p>
          <a:p>
            <a:pPr marL="220979">
              <a:lnSpc>
                <a:spcPct val="100000"/>
              </a:lnSpc>
            </a:pP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for</a:t>
            </a:r>
            <a:r>
              <a:rPr sz="18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i</a:t>
            </a:r>
            <a:r>
              <a:rPr sz="1800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in</a:t>
            </a:r>
            <a:r>
              <a:rPr sz="18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range(3,</a:t>
            </a:r>
            <a:r>
              <a:rPr sz="1800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n</a:t>
            </a:r>
            <a:r>
              <a:rPr sz="18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+</a:t>
            </a:r>
            <a:r>
              <a:rPr sz="1800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-25" dirty="0">
                <a:solidFill>
                  <a:srgbClr val="FFFFFF"/>
                </a:solidFill>
                <a:latin typeface="Calibri"/>
                <a:cs typeface="Calibri"/>
              </a:rPr>
              <a:t>1):</a:t>
            </a:r>
            <a:endParaRPr sz="1800">
              <a:latin typeface="Calibri"/>
              <a:cs typeface="Calibri"/>
            </a:endParaRPr>
          </a:p>
          <a:p>
            <a:pPr marL="431800" marR="5080">
              <a:lnSpc>
                <a:spcPct val="100000"/>
              </a:lnSpc>
            </a:pP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the_sum</a:t>
            </a:r>
            <a:r>
              <a:rPr sz="18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=</a:t>
            </a:r>
            <a:r>
              <a:rPr sz="18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elem_1</a:t>
            </a:r>
            <a:r>
              <a:rPr sz="1800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+</a:t>
            </a:r>
            <a:r>
              <a:rPr sz="18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Calibri"/>
                <a:cs typeface="Calibri"/>
              </a:rPr>
              <a:t>elem_2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elem_1,</a:t>
            </a:r>
            <a:r>
              <a:rPr sz="1800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elem_2</a:t>
            </a:r>
            <a:r>
              <a:rPr sz="18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=</a:t>
            </a:r>
            <a:r>
              <a:rPr sz="1800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elem_2,</a:t>
            </a:r>
            <a:r>
              <a:rPr sz="18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Calibri"/>
                <a:cs typeface="Calibri"/>
              </a:rPr>
              <a:t>the_sum</a:t>
            </a:r>
            <a:endParaRPr sz="1800">
              <a:latin typeface="Calibri"/>
              <a:cs typeface="Calibri"/>
            </a:endParaRPr>
          </a:p>
          <a:p>
            <a:pPr marL="220979">
              <a:lnSpc>
                <a:spcPct val="100000"/>
              </a:lnSpc>
            </a:pP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return</a:t>
            </a:r>
            <a:r>
              <a:rPr sz="1800" spc="-7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Calibri"/>
                <a:cs typeface="Calibri"/>
              </a:rPr>
              <a:t>the_sum</a:t>
            </a:r>
            <a:endParaRPr sz="18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2125"/>
              </a:spcBef>
            </a:pPr>
            <a:endParaRPr sz="1800">
              <a:latin typeface="Calibri"/>
              <a:cs typeface="Calibri"/>
            </a:endParaRPr>
          </a:p>
          <a:p>
            <a:pPr marL="220979" marR="960119" indent="-208915">
              <a:lnSpc>
                <a:spcPct val="100000"/>
              </a:lnSpc>
            </a:pP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for</a:t>
            </a:r>
            <a:r>
              <a:rPr sz="18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n</a:t>
            </a:r>
            <a:r>
              <a:rPr sz="1800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in</a:t>
            </a:r>
            <a:r>
              <a:rPr sz="1800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range(1,</a:t>
            </a:r>
            <a:r>
              <a:rPr sz="18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10):</a:t>
            </a:r>
            <a:r>
              <a:rPr sz="1800" spc="36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#</a:t>
            </a:r>
            <a:r>
              <a:rPr sz="1800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Calibri"/>
                <a:cs typeface="Calibri"/>
              </a:rPr>
              <a:t>testing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print(n,</a:t>
            </a:r>
            <a:r>
              <a:rPr sz="1800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Calibri"/>
                <a:cs typeface="Calibri"/>
              </a:rPr>
              <a:t>"-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&gt;",</a:t>
            </a:r>
            <a:r>
              <a:rPr sz="18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Calibri"/>
                <a:cs typeface="Calibri"/>
              </a:rPr>
              <a:t>fib(n))</a:t>
            </a:r>
            <a:endParaRPr sz="1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318764" y="2868930"/>
            <a:ext cx="4626610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400" b="0" dirty="0">
                <a:latin typeface="Calibri Light"/>
                <a:cs typeface="Calibri Light"/>
              </a:rPr>
              <a:t>See</a:t>
            </a:r>
            <a:r>
              <a:rPr sz="4400" b="0" spc="-165" dirty="0">
                <a:latin typeface="Calibri Light"/>
                <a:cs typeface="Calibri Light"/>
              </a:rPr>
              <a:t> </a:t>
            </a:r>
            <a:r>
              <a:rPr sz="4400" b="0" dirty="0">
                <a:latin typeface="Calibri Light"/>
                <a:cs typeface="Calibri Light"/>
              </a:rPr>
              <a:t>you</a:t>
            </a:r>
            <a:r>
              <a:rPr sz="4400" b="0" spc="-175" dirty="0">
                <a:latin typeface="Calibri Light"/>
                <a:cs typeface="Calibri Light"/>
              </a:rPr>
              <a:t> </a:t>
            </a:r>
            <a:r>
              <a:rPr sz="4400" b="0" dirty="0">
                <a:latin typeface="Calibri Light"/>
                <a:cs typeface="Calibri Light"/>
              </a:rPr>
              <a:t>in</a:t>
            </a:r>
            <a:r>
              <a:rPr sz="4400" b="0" spc="-160" dirty="0">
                <a:latin typeface="Calibri Light"/>
                <a:cs typeface="Calibri Light"/>
              </a:rPr>
              <a:t> </a:t>
            </a:r>
            <a:r>
              <a:rPr sz="4400" b="0" dirty="0">
                <a:latin typeface="Calibri Light"/>
                <a:cs typeface="Calibri Light"/>
              </a:rPr>
              <a:t>the</a:t>
            </a:r>
            <a:r>
              <a:rPr sz="4400" b="0" spc="-150" dirty="0">
                <a:latin typeface="Calibri Light"/>
                <a:cs typeface="Calibri Light"/>
              </a:rPr>
              <a:t> </a:t>
            </a:r>
            <a:r>
              <a:rPr sz="4400" b="0" dirty="0">
                <a:latin typeface="Calibri Light"/>
                <a:cs typeface="Calibri Light"/>
              </a:rPr>
              <a:t>Lab</a:t>
            </a:r>
            <a:r>
              <a:rPr sz="4400" b="0" spc="-165" dirty="0">
                <a:latin typeface="Calibri Light"/>
                <a:cs typeface="Calibri Light"/>
              </a:rPr>
              <a:t> </a:t>
            </a:r>
            <a:r>
              <a:rPr sz="4400" b="0" spc="-50" dirty="0">
                <a:latin typeface="Wingdings"/>
                <a:cs typeface="Wingdings"/>
              </a:rPr>
              <a:t></a:t>
            </a:r>
            <a:endParaRPr sz="4400">
              <a:latin typeface="Wingdings"/>
              <a:cs typeface="Wingdings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12</TotalTime>
  <Words>3540</Words>
  <Application>Microsoft Office PowerPoint</Application>
  <PresentationFormat>Szélesvásznú</PresentationFormat>
  <Paragraphs>529</Paragraphs>
  <Slides>21</Slides>
  <Notes>0</Notes>
  <HiddenSlides>0</HiddenSlides>
  <MMClips>0</MMClips>
  <ScaleCrop>false</ScaleCrop>
  <HeadingPairs>
    <vt:vector size="4" baseType="variant">
      <vt:variant>
        <vt:lpstr>Téma</vt:lpstr>
      </vt:variant>
      <vt:variant>
        <vt:i4>1</vt:i4>
      </vt:variant>
      <vt:variant>
        <vt:lpstr>Diacímek</vt:lpstr>
      </vt:variant>
      <vt:variant>
        <vt:i4>21</vt:i4>
      </vt:variant>
    </vt:vector>
  </HeadingPairs>
  <TitlesOfParts>
    <vt:vector size="22" baseType="lpstr">
      <vt:lpstr>Office Theme</vt:lpstr>
      <vt:lpstr>Lecture -3</vt:lpstr>
      <vt:lpstr>Questions and answers</vt:lpstr>
      <vt:lpstr>Comparison operators: greater than or equal to</vt:lpstr>
      <vt:lpstr>The elif statement</vt:lpstr>
      <vt:lpstr>Pseudocode and introduction to loops</vt:lpstr>
      <vt:lpstr>The break and continue statements</vt:lpstr>
      <vt:lpstr>PowerPoint-bemutató</vt:lpstr>
      <vt:lpstr>Logical expressions</vt:lpstr>
      <vt:lpstr>PowerPoint-bemutató</vt:lpstr>
      <vt:lpstr>The len() function</vt:lpstr>
      <vt:lpstr>Functions vs. methods</vt:lpstr>
      <vt:lpstr>The inner life of lists</vt:lpstr>
      <vt:lpstr>The in and not in operators</vt:lpstr>
      <vt:lpstr>PowerPoint-bemutató</vt:lpstr>
      <vt:lpstr>How functions work</vt:lpstr>
      <vt:lpstr>Parametrized functions:</vt:lpstr>
      <vt:lpstr>Mixing positional and keyword arguments</vt:lpstr>
      <vt:lpstr>Effects and results: the return instruction</vt:lpstr>
      <vt:lpstr>lists and functions</vt:lpstr>
      <vt:lpstr>the global keyword</vt:lpstr>
      <vt:lpstr>See you in the Lab 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cp:lastModifiedBy>Dr. Alwahab Dhulfiqar Zoltán</cp:lastModifiedBy>
  <cp:revision>3</cp:revision>
  <dcterms:created xsi:type="dcterms:W3CDTF">2024-06-25T12:23:43Z</dcterms:created>
  <dcterms:modified xsi:type="dcterms:W3CDTF">2024-09-26T16:35:10Z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2022-02-24T00:00:00Z</vt:filetime>
  </property>
  <property fmtid="{D5CDD505-2E9C-101B-9397-08002B2CF9AE}" pid="3" name="Creator">
    <vt:lpwstr>Microsoft® PowerPoint® for Microsoft 365</vt:lpwstr>
  </property>
  <property fmtid="{D5CDD505-2E9C-101B-9397-08002B2CF9AE}" pid="4" name="LastSaved">
    <vt:filetime>2024-06-25T00:00:00Z</vt:filetime>
  </property>
  <property fmtid="{D5CDD505-2E9C-101B-9397-08002B2CF9AE}" pid="5" name="Producer">
    <vt:lpwstr>Microsoft® PowerPoint® for Microsoft 365</vt:lpwstr>
  </property>
</Properties>
</file>