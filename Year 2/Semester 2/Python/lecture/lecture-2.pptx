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652E48-D86D-4666-A707-D93D97B3FBF1}" v="1" dt="2025-02-24T14:19:45.43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840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Alwaháb Zoltán" userId="18c5b7f9-010a-408e-b175-729c8de91ab0" providerId="ADAL" clId="{A4652E48-D86D-4666-A707-D93D97B3FBF1}"/>
    <pc:docChg chg="modSld">
      <pc:chgData name="Dr. Alwaháb Zoltán" userId="18c5b7f9-010a-408e-b175-729c8de91ab0" providerId="ADAL" clId="{A4652E48-D86D-4666-A707-D93D97B3FBF1}" dt="2025-02-24T14:19:45.430" v="2"/>
      <pc:docMkLst>
        <pc:docMk/>
      </pc:docMkLst>
      <pc:sldChg chg="addSp modSp mod">
        <pc:chgData name="Dr. Alwaháb Zoltán" userId="18c5b7f9-010a-408e-b175-729c8de91ab0" providerId="ADAL" clId="{A4652E48-D86D-4666-A707-D93D97B3FBF1}" dt="2025-02-24T14:19:45.430" v="2"/>
        <pc:sldMkLst>
          <pc:docMk/>
          <pc:sldMk cId="0" sldId="256"/>
        </pc:sldMkLst>
        <pc:spChg chg="add mod">
          <ac:chgData name="Dr. Alwaháb Zoltán" userId="18c5b7f9-010a-408e-b175-729c8de91ab0" providerId="ADAL" clId="{A4652E48-D86D-4666-A707-D93D97B3FBF1}" dt="2025-02-24T14:19:45.430" v="2"/>
          <ac:spMkLst>
            <pc:docMk/>
            <pc:sldMk cId="0" sldId="256"/>
            <ac:spMk id="3" creationId="{901468C1-9005-07ED-E953-348F7AD61C66}"/>
          </ac:spMkLst>
        </pc:spChg>
        <pc:spChg chg="mod">
          <ac:chgData name="Dr. Alwaháb Zoltán" userId="18c5b7f9-010a-408e-b175-729c8de91ab0" providerId="ADAL" clId="{A4652E48-D86D-4666-A707-D93D97B3FBF1}" dt="2025-02-24T14:16:15.938" v="1" actId="1076"/>
          <ac:spMkLst>
            <pc:docMk/>
            <pc:sldMk cId="0" sldId="256"/>
            <ac:spMk id="29" creationId="{00000000-0000-0000-0000-000000000000}"/>
          </ac:spMkLst>
        </pc:spChg>
        <pc:grpChg chg="mod">
          <ac:chgData name="Dr. Alwaháb Zoltán" userId="18c5b7f9-010a-408e-b175-729c8de91ab0" providerId="ADAL" clId="{A4652E48-D86D-4666-A707-D93D97B3FBF1}" dt="2025-02-24T14:16:13.053" v="0" actId="1076"/>
          <ac:grpSpMkLst>
            <pc:docMk/>
            <pc:sldMk cId="0" sldId="256"/>
            <ac:grpSpMk id="30" creationId="{00000000-0000-0000-0000-000000000000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4471C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4471C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4471C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46561" y="2872149"/>
            <a:ext cx="7095068" cy="63454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4471C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125425"/>
            <a:ext cx="12034520" cy="3003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4471C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133089" y="3091307"/>
            <a:ext cx="8968105" cy="2954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13.jpg"/><Relationship Id="rId7" Type="http://schemas.openxmlformats.org/officeDocument/2006/relationships/image" Target="../media/image15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python.org/psf-landing/" TargetMode="External"/><Relationship Id="rId5" Type="http://schemas.microsoft.com/office/2007/relationships/hdphoto" Target="../media/hdphoto2.wdp"/><Relationship Id="rId10" Type="http://schemas.microsoft.com/office/2007/relationships/hdphoto" Target="../media/hdphoto4.wdp"/><Relationship Id="rId4" Type="http://schemas.openxmlformats.org/officeDocument/2006/relationships/image" Target="../media/image14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0" y="188511"/>
            <a:ext cx="1802244" cy="242316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16903" y="188511"/>
            <a:ext cx="282257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0" dirty="0">
                <a:solidFill>
                  <a:srgbClr val="000000"/>
                </a:solidFill>
                <a:latin typeface="Calibri"/>
                <a:cs typeface="Calibri"/>
              </a:rPr>
              <a:t>Lecture</a:t>
            </a:r>
            <a:r>
              <a:rPr sz="5400" b="0" spc="-2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5400" b="0" dirty="0">
                <a:solidFill>
                  <a:srgbClr val="000000"/>
                </a:solidFill>
                <a:latin typeface="Calibri"/>
                <a:cs typeface="Calibri"/>
              </a:rPr>
              <a:t>-</a:t>
            </a:r>
            <a:r>
              <a:rPr sz="5400" b="0" spc="-50" dirty="0">
                <a:solidFill>
                  <a:srgbClr val="000000"/>
                </a:solidFill>
                <a:latin typeface="Calibri"/>
                <a:cs typeface="Calibri"/>
              </a:rPr>
              <a:t>2</a:t>
            </a:r>
            <a:endParaRPr sz="5400" dirty="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76500" y="2039111"/>
            <a:ext cx="6770370" cy="67741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661030" y="2112390"/>
            <a:ext cx="63919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Introduction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Python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computer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programming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94224" y="2903929"/>
            <a:ext cx="295719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4471C4"/>
                </a:solidFill>
                <a:latin typeface="Calibri"/>
                <a:cs typeface="Calibri"/>
              </a:rPr>
              <a:t>AALWAHAB</a:t>
            </a:r>
            <a:r>
              <a:rPr sz="1600" b="1" spc="2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4471C4"/>
                </a:solidFill>
                <a:latin typeface="Calibri"/>
                <a:cs typeface="Calibri"/>
              </a:rPr>
              <a:t>DHULFIQAR</a:t>
            </a:r>
            <a:r>
              <a:rPr lang="en-US" sz="1600" b="1" spc="-10" dirty="0">
                <a:solidFill>
                  <a:srgbClr val="4471C4"/>
                </a:solidFill>
                <a:latin typeface="Calibri"/>
                <a:cs typeface="Calibri"/>
              </a:rPr>
              <a:t> ZOLTAN</a:t>
            </a:r>
            <a:endParaRPr sz="1600" b="1" dirty="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8221" y="3276600"/>
            <a:ext cx="7773460" cy="2125197"/>
          </a:xfrm>
          <a:prstGeom prst="rect">
            <a:avLst/>
          </a:prstGeom>
        </p:spPr>
        <p:txBody>
          <a:bodyPr vert="horz" wrap="square" lIns="0" tIns="142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What</a:t>
            </a:r>
            <a:r>
              <a:rPr sz="2400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you</a:t>
            </a:r>
            <a:r>
              <a:rPr sz="24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will</a:t>
            </a:r>
            <a:r>
              <a:rPr sz="2400"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learn:</a:t>
            </a:r>
            <a:endParaRPr sz="2400" dirty="0">
              <a:latin typeface="Calibri"/>
              <a:cs typeface="Calibri"/>
            </a:endParaRPr>
          </a:p>
          <a:p>
            <a:pPr marL="343535" marR="2553970" indent="-285750">
              <a:lnSpc>
                <a:spcPct val="12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4471C4"/>
                </a:solidFill>
                <a:latin typeface="Calibri"/>
                <a:cs typeface="Calibri"/>
              </a:rPr>
              <a:t>how</a:t>
            </a:r>
            <a:r>
              <a:rPr sz="1600" spc="-3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471C4"/>
                </a:solidFill>
                <a:latin typeface="Calibri"/>
                <a:cs typeface="Calibri"/>
              </a:rPr>
              <a:t>the</a:t>
            </a:r>
            <a:r>
              <a:rPr sz="1600" spc="-5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471C4"/>
                </a:solidFill>
                <a:latin typeface="Calibri"/>
                <a:cs typeface="Calibri"/>
              </a:rPr>
              <a:t>computer</a:t>
            </a:r>
            <a:r>
              <a:rPr sz="1600" spc="-4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4471C4"/>
                </a:solidFill>
                <a:latin typeface="Calibri"/>
                <a:cs typeface="Calibri"/>
              </a:rPr>
              <a:t>works </a:t>
            </a:r>
            <a:r>
              <a:rPr sz="1600" dirty="0">
                <a:solidFill>
                  <a:srgbClr val="4471C4"/>
                </a:solidFill>
                <a:latin typeface="Calibri"/>
                <a:cs typeface="Calibri"/>
              </a:rPr>
              <a:t>how</a:t>
            </a:r>
            <a:r>
              <a:rPr sz="1600" spc="-3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471C4"/>
                </a:solidFill>
                <a:latin typeface="Calibri"/>
                <a:cs typeface="Calibri"/>
              </a:rPr>
              <a:t>the</a:t>
            </a:r>
            <a:r>
              <a:rPr sz="1600" spc="-4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471C4"/>
                </a:solidFill>
                <a:latin typeface="Calibri"/>
                <a:cs typeface="Calibri"/>
              </a:rPr>
              <a:t>program</a:t>
            </a:r>
            <a:r>
              <a:rPr sz="1600" spc="-2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471C4"/>
                </a:solidFill>
                <a:latin typeface="Calibri"/>
                <a:cs typeface="Calibri"/>
              </a:rPr>
              <a:t>is</a:t>
            </a:r>
            <a:r>
              <a:rPr sz="1600" spc="-5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471C4"/>
                </a:solidFill>
                <a:latin typeface="Calibri"/>
                <a:cs typeface="Calibri"/>
              </a:rPr>
              <a:t>executed</a:t>
            </a:r>
            <a:endParaRPr sz="1600" dirty="0">
              <a:latin typeface="Calibri"/>
              <a:cs typeface="Calibri"/>
            </a:endParaRPr>
          </a:p>
          <a:p>
            <a:pPr marL="354965" marR="2418715" indent="-285750">
              <a:lnSpc>
                <a:spcPct val="120600"/>
              </a:lnSpc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4471C4"/>
                </a:solidFill>
                <a:latin typeface="Calibri"/>
                <a:cs typeface="Calibri"/>
              </a:rPr>
              <a:t>compilation</a:t>
            </a:r>
            <a:r>
              <a:rPr sz="1600" spc="-4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471C4"/>
                </a:solidFill>
                <a:latin typeface="Calibri"/>
                <a:cs typeface="Calibri"/>
              </a:rPr>
              <a:t>and</a:t>
            </a:r>
            <a:r>
              <a:rPr sz="1600" spc="-4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471C4"/>
                </a:solidFill>
                <a:latin typeface="Calibri"/>
                <a:cs typeface="Calibri"/>
              </a:rPr>
              <a:t>interpretation </a:t>
            </a:r>
            <a:r>
              <a:rPr sz="1600" dirty="0">
                <a:solidFill>
                  <a:srgbClr val="4471C4"/>
                </a:solidFill>
                <a:latin typeface="Calibri"/>
                <a:cs typeface="Calibri"/>
              </a:rPr>
              <a:t>what</a:t>
            </a:r>
            <a:r>
              <a:rPr sz="1600" spc="-4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471C4"/>
                </a:solidFill>
                <a:latin typeface="Calibri"/>
                <a:cs typeface="Calibri"/>
              </a:rPr>
              <a:t>Python</a:t>
            </a:r>
            <a:endParaRPr sz="1600" dirty="0">
              <a:latin typeface="Calibri"/>
              <a:cs typeface="Calibri"/>
            </a:endParaRPr>
          </a:p>
          <a:p>
            <a:pPr marL="358775" indent="-285750">
              <a:lnSpc>
                <a:spcPct val="100000"/>
              </a:lnSpc>
              <a:spcBef>
                <a:spcPts val="250"/>
              </a:spcBef>
              <a:buFont typeface="Arial" panose="020B0604020202020204" pitchFamily="34" charset="0"/>
              <a:buChar char="•"/>
            </a:pPr>
            <a:r>
              <a:rPr sz="1600" spc="-10" dirty="0">
                <a:solidFill>
                  <a:srgbClr val="4471C4"/>
                </a:solidFill>
                <a:latin typeface="Calibri"/>
                <a:cs typeface="Calibri"/>
              </a:rPr>
              <a:t>Python’s</a:t>
            </a:r>
            <a:r>
              <a:rPr sz="1600" spc="-6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471C4"/>
                </a:solidFill>
                <a:latin typeface="Calibri"/>
                <a:cs typeface="Calibri"/>
              </a:rPr>
              <a:t>Versions</a:t>
            </a:r>
            <a:endParaRPr sz="1600" dirty="0">
              <a:latin typeface="Calibri"/>
              <a:cs typeface="Calibri"/>
            </a:endParaRPr>
          </a:p>
          <a:p>
            <a:pPr marL="349885" indent="-285750">
              <a:lnSpc>
                <a:spcPct val="100000"/>
              </a:lnSpc>
              <a:spcBef>
                <a:spcPts val="775"/>
              </a:spcBef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4471C4"/>
                </a:solidFill>
                <a:latin typeface="Calibri"/>
                <a:cs typeface="Calibri"/>
              </a:rPr>
              <a:t>what</a:t>
            </a:r>
            <a:r>
              <a:rPr sz="1600" spc="-4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471C4"/>
                </a:solidFill>
                <a:latin typeface="Calibri"/>
                <a:cs typeface="Calibri"/>
              </a:rPr>
              <a:t>Python</a:t>
            </a:r>
            <a:r>
              <a:rPr sz="1600" spc="-5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471C4"/>
                </a:solidFill>
                <a:latin typeface="Calibri"/>
                <a:cs typeface="Calibri"/>
              </a:rPr>
              <a:t>literals,</a:t>
            </a:r>
            <a:r>
              <a:rPr sz="1600" spc="-6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471C4"/>
                </a:solidFill>
                <a:latin typeface="Calibri"/>
                <a:cs typeface="Calibri"/>
              </a:rPr>
              <a:t>operators,</a:t>
            </a:r>
            <a:r>
              <a:rPr sz="1600" spc="-1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471C4"/>
                </a:solidFill>
                <a:latin typeface="Calibri"/>
                <a:cs typeface="Calibri"/>
              </a:rPr>
              <a:t>and</a:t>
            </a:r>
            <a:r>
              <a:rPr sz="1600" spc="-5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471C4"/>
                </a:solidFill>
                <a:latin typeface="Calibri"/>
                <a:cs typeface="Calibri"/>
              </a:rPr>
              <a:t>expressions</a:t>
            </a:r>
            <a:r>
              <a:rPr sz="1600" spc="-3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4471C4"/>
                </a:solidFill>
                <a:latin typeface="Calibri"/>
                <a:cs typeface="Calibri"/>
              </a:rPr>
              <a:t>are</a:t>
            </a:r>
            <a:r>
              <a:rPr sz="1800" spc="-20" dirty="0">
                <a:latin typeface="Calibri"/>
                <a:cs typeface="Calibri"/>
              </a:rPr>
              <a:t>;</a:t>
            </a:r>
            <a:endParaRPr sz="1800" dirty="0">
              <a:latin typeface="Calibri"/>
              <a:cs typeface="Calibri"/>
            </a:endParaRPr>
          </a:p>
          <a:p>
            <a:pPr marL="349885" indent="-285750">
              <a:lnSpc>
                <a:spcPct val="100000"/>
              </a:lnSpc>
              <a:spcBef>
                <a:spcPts val="275"/>
              </a:spcBef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4471C4"/>
                </a:solidFill>
                <a:latin typeface="Calibri"/>
                <a:cs typeface="Calibri"/>
              </a:rPr>
              <a:t>what</a:t>
            </a:r>
            <a:r>
              <a:rPr sz="1600" spc="-4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471C4"/>
                </a:solidFill>
                <a:latin typeface="Calibri"/>
                <a:cs typeface="Calibri"/>
              </a:rPr>
              <a:t>variables</a:t>
            </a:r>
            <a:r>
              <a:rPr sz="1600" spc="-6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471C4"/>
                </a:solidFill>
                <a:latin typeface="Calibri"/>
                <a:cs typeface="Calibri"/>
              </a:rPr>
              <a:t>are</a:t>
            </a:r>
            <a:r>
              <a:rPr sz="1600" spc="-2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471C4"/>
                </a:solidFill>
                <a:latin typeface="Calibri"/>
                <a:cs typeface="Calibri"/>
              </a:rPr>
              <a:t>and</a:t>
            </a:r>
            <a:r>
              <a:rPr sz="1600" spc="-5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471C4"/>
                </a:solidFill>
                <a:latin typeface="Calibri"/>
                <a:cs typeface="Calibri"/>
              </a:rPr>
              <a:t>what</a:t>
            </a:r>
            <a:r>
              <a:rPr sz="1600" spc="-4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471C4"/>
                </a:solidFill>
                <a:latin typeface="Calibri"/>
                <a:cs typeface="Calibri"/>
              </a:rPr>
              <a:t>are</a:t>
            </a:r>
            <a:r>
              <a:rPr sz="1600" spc="-2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471C4"/>
                </a:solidFill>
                <a:latin typeface="Calibri"/>
                <a:cs typeface="Calibri"/>
              </a:rPr>
              <a:t>the</a:t>
            </a:r>
            <a:r>
              <a:rPr sz="1600" spc="-4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471C4"/>
                </a:solidFill>
                <a:latin typeface="Calibri"/>
                <a:cs typeface="Calibri"/>
              </a:rPr>
              <a:t>rules</a:t>
            </a:r>
            <a:r>
              <a:rPr sz="1600" spc="-3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471C4"/>
                </a:solidFill>
                <a:latin typeface="Calibri"/>
                <a:cs typeface="Calibri"/>
              </a:rPr>
              <a:t>that</a:t>
            </a:r>
            <a:r>
              <a:rPr sz="1600" spc="-5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471C4"/>
                </a:solidFill>
                <a:latin typeface="Calibri"/>
                <a:cs typeface="Calibri"/>
              </a:rPr>
              <a:t>govern</a:t>
            </a:r>
            <a:r>
              <a:rPr sz="1600" spc="-10" dirty="0">
                <a:solidFill>
                  <a:srgbClr val="4471C4"/>
                </a:solidFill>
                <a:latin typeface="Calibri"/>
                <a:cs typeface="Calibri"/>
              </a:rPr>
              <a:t> them</a:t>
            </a:r>
            <a:r>
              <a:rPr sz="1800" spc="-10" dirty="0">
                <a:latin typeface="Calibri"/>
                <a:cs typeface="Calibri"/>
              </a:rPr>
              <a:t>;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7162800" y="3276600"/>
            <a:ext cx="4904740" cy="2804160"/>
            <a:chOff x="6934200" y="4053840"/>
            <a:chExt cx="4904740" cy="2804160"/>
          </a:xfrm>
        </p:grpSpPr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34200" y="4053840"/>
              <a:ext cx="4706111" cy="1115568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51419" y="4803648"/>
              <a:ext cx="4287012" cy="2054350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901468C1-9005-07ED-E953-348F7AD61C66}"/>
              </a:ext>
            </a:extLst>
          </p:cNvPr>
          <p:cNvSpPr/>
          <p:nvPr/>
        </p:nvSpPr>
        <p:spPr>
          <a:xfrm>
            <a:off x="1" y="5701003"/>
            <a:ext cx="12192000" cy="96105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FF0000"/>
                </a:solidFill>
              </a:rPr>
              <a:t>Copyright Notice:</a:t>
            </a:r>
          </a:p>
          <a:p>
            <a:r>
              <a:rPr lang="en-US" dirty="0">
                <a:solidFill>
                  <a:srgbClr val="FF0000"/>
                </a:solidFill>
              </a:rPr>
              <a:t>All materials in these slides, including labs and homework, are copyrighted and cannot be reused, shared, or reproduced without explicit written permission from Dr. </a:t>
            </a:r>
            <a:r>
              <a:rPr lang="en-US" dirty="0" err="1">
                <a:solidFill>
                  <a:srgbClr val="FF0000"/>
                </a:solidFill>
              </a:rPr>
              <a:t>Alwahab</a:t>
            </a:r>
            <a:r>
              <a:rPr lang="en-US" dirty="0">
                <a:solidFill>
                  <a:srgbClr val="FF0000"/>
                </a:solidFill>
              </a:rPr>
              <a:t> Dhulfiqar Zoltán. Unauthorized use is strictly prohibited.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05609" y="3223259"/>
            <a:ext cx="3256150" cy="363245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4907" y="-69535"/>
            <a:ext cx="8792210" cy="5369560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How</a:t>
            </a:r>
            <a:r>
              <a:rPr sz="1800" b="1" spc="-3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the</a:t>
            </a:r>
            <a:r>
              <a:rPr sz="1800" b="1" spc="-3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computer</a:t>
            </a:r>
            <a:r>
              <a:rPr sz="1800" b="1" spc="-5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4471C4"/>
                </a:solidFill>
                <a:latin typeface="Calibri"/>
                <a:cs typeface="Calibri"/>
              </a:rPr>
              <a:t>works</a:t>
            </a:r>
            <a:endParaRPr sz="1800" dirty="0">
              <a:latin typeface="Calibri"/>
              <a:cs typeface="Calibri"/>
            </a:endParaRPr>
          </a:p>
          <a:p>
            <a:pPr marL="46355">
              <a:lnSpc>
                <a:spcPct val="100000"/>
              </a:lnSpc>
              <a:spcBef>
                <a:spcPts val="1205"/>
              </a:spcBef>
            </a:pPr>
            <a:r>
              <a:rPr sz="1800" dirty="0">
                <a:latin typeface="Calibri"/>
                <a:cs typeface="Calibri"/>
              </a:rPr>
              <a:t>Find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average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speed:</a:t>
            </a:r>
            <a:endParaRPr sz="1800" dirty="0">
              <a:latin typeface="Calibri"/>
              <a:cs typeface="Calibri"/>
            </a:endParaRPr>
          </a:p>
          <a:p>
            <a:pPr marL="541655" indent="-495300">
              <a:lnSpc>
                <a:spcPct val="100000"/>
              </a:lnSpc>
              <a:buFont typeface="Arial"/>
              <a:buChar char="•"/>
              <a:tabLst>
                <a:tab pos="541655" algn="l"/>
              </a:tabLst>
            </a:pPr>
            <a:r>
              <a:rPr sz="1800" dirty="0">
                <a:latin typeface="Calibri"/>
                <a:cs typeface="Calibri"/>
              </a:rPr>
              <a:t>accept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number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representing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distance;</a:t>
            </a:r>
            <a:endParaRPr sz="1800" dirty="0">
              <a:latin typeface="Calibri"/>
              <a:cs typeface="Calibri"/>
            </a:endParaRPr>
          </a:p>
          <a:p>
            <a:pPr marL="541655" indent="-495300">
              <a:lnSpc>
                <a:spcPct val="100000"/>
              </a:lnSpc>
              <a:buFont typeface="Arial"/>
              <a:buChar char="•"/>
              <a:tabLst>
                <a:tab pos="541655" algn="l"/>
              </a:tabLst>
            </a:pPr>
            <a:r>
              <a:rPr sz="1800" dirty="0">
                <a:latin typeface="Calibri"/>
                <a:cs typeface="Calibri"/>
              </a:rPr>
              <a:t>accept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number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representing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travel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time;</a:t>
            </a:r>
            <a:endParaRPr sz="1800" dirty="0">
              <a:latin typeface="Calibri"/>
              <a:cs typeface="Calibri"/>
            </a:endParaRPr>
          </a:p>
          <a:p>
            <a:pPr marL="541655" indent="-4953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541655" algn="l"/>
              </a:tabLst>
            </a:pPr>
            <a:r>
              <a:rPr sz="1800" dirty="0">
                <a:latin typeface="Calibri"/>
                <a:cs typeface="Calibri"/>
              </a:rPr>
              <a:t>divide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former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value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latter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store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result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memory;</a:t>
            </a:r>
            <a:endParaRPr sz="1800" dirty="0">
              <a:latin typeface="Calibri"/>
              <a:cs typeface="Calibri"/>
            </a:endParaRPr>
          </a:p>
          <a:p>
            <a:pPr marL="541655" indent="-495300">
              <a:lnSpc>
                <a:spcPct val="100000"/>
              </a:lnSpc>
              <a:buFont typeface="Arial"/>
              <a:buChar char="•"/>
              <a:tabLst>
                <a:tab pos="541655" algn="l"/>
              </a:tabLst>
            </a:pPr>
            <a:r>
              <a:rPr sz="1800" dirty="0">
                <a:latin typeface="Calibri"/>
                <a:cs typeface="Calibri"/>
              </a:rPr>
              <a:t>display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result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(representing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average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speed)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readable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format.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 dirty="0">
              <a:latin typeface="Calibri"/>
              <a:cs typeface="Calibri"/>
            </a:endParaRPr>
          </a:p>
          <a:p>
            <a:pPr marL="4635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Natural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languages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vs.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programming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languages</a:t>
            </a:r>
            <a:endParaRPr sz="1800" dirty="0">
              <a:latin typeface="Calibri"/>
              <a:cs typeface="Calibri"/>
            </a:endParaRPr>
          </a:p>
          <a:p>
            <a:pPr marL="46355">
              <a:lnSpc>
                <a:spcPct val="100000"/>
              </a:lnSpc>
              <a:spcBef>
                <a:spcPts val="225"/>
              </a:spcBef>
            </a:pPr>
            <a:r>
              <a:rPr sz="1800" spc="-10" dirty="0">
                <a:latin typeface="Calibri"/>
                <a:cs typeface="Calibri"/>
              </a:rPr>
              <a:t>Computers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have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their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own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language,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too,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called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machine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language,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which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very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rudimentary.</a:t>
            </a:r>
            <a:endParaRPr sz="1800" dirty="0">
              <a:latin typeface="Calibri"/>
              <a:cs typeface="Calibri"/>
            </a:endParaRPr>
          </a:p>
          <a:p>
            <a:pPr marL="46355" marR="152400">
              <a:lnSpc>
                <a:spcPct val="100000"/>
              </a:lnSpc>
              <a:spcBef>
                <a:spcPts val="675"/>
              </a:spcBef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commands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recognizes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very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simple.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imagine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computer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responds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to </a:t>
            </a:r>
            <a:r>
              <a:rPr sz="1800" dirty="0">
                <a:latin typeface="Calibri"/>
                <a:cs typeface="Calibri"/>
              </a:rPr>
              <a:t>orders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like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"take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number,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divide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another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save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result".</a:t>
            </a:r>
            <a:endParaRPr sz="1800" dirty="0">
              <a:latin typeface="Calibri"/>
              <a:cs typeface="Calibri"/>
            </a:endParaRPr>
          </a:p>
          <a:p>
            <a:pPr marL="46355" marR="1781175">
              <a:lnSpc>
                <a:spcPct val="100000"/>
              </a:lnSpc>
              <a:spcBef>
                <a:spcPts val="390"/>
              </a:spcBef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complete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set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known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commands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called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instruction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list,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sometimes abbreviated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IL.</a:t>
            </a:r>
            <a:endParaRPr sz="1800" dirty="0">
              <a:latin typeface="Calibri"/>
              <a:cs typeface="Calibri"/>
            </a:endParaRPr>
          </a:p>
          <a:p>
            <a:pPr marL="46355">
              <a:lnSpc>
                <a:spcPct val="100000"/>
              </a:lnSpc>
              <a:spcBef>
                <a:spcPts val="770"/>
              </a:spcBef>
            </a:pPr>
            <a:r>
              <a:rPr sz="1800" dirty="0">
                <a:latin typeface="Calibri"/>
                <a:cs typeface="Calibri"/>
              </a:rPr>
              <a:t>No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computer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currently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capable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creating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new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language.</a:t>
            </a:r>
            <a:endParaRPr sz="1800" dirty="0">
              <a:latin typeface="Calibri"/>
              <a:cs typeface="Calibri"/>
            </a:endParaRPr>
          </a:p>
          <a:p>
            <a:pPr marL="46355">
              <a:lnSpc>
                <a:spcPct val="100000"/>
              </a:lnSpc>
              <a:spcBef>
                <a:spcPts val="745"/>
              </a:spcBef>
            </a:pPr>
            <a:r>
              <a:rPr sz="1800" dirty="0">
                <a:latin typeface="Calibri"/>
                <a:cs typeface="Calibri"/>
              </a:rPr>
              <a:t>human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languages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developed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naturally.</a:t>
            </a:r>
            <a:endParaRPr sz="1800" dirty="0">
              <a:latin typeface="Calibri"/>
              <a:cs typeface="Calibri"/>
            </a:endParaRPr>
          </a:p>
          <a:p>
            <a:pPr marL="95885" algn="ctr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latin typeface="Calibri"/>
                <a:cs typeface="Calibri"/>
              </a:rPr>
              <a:t>What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makes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language?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7496" y="5160009"/>
            <a:ext cx="2544445" cy="560705"/>
          </a:xfrm>
          <a:custGeom>
            <a:avLst/>
            <a:gdLst/>
            <a:ahLst/>
            <a:cxnLst/>
            <a:rect l="l" t="t" r="r" b="b"/>
            <a:pathLst>
              <a:path w="2544445" h="560704">
                <a:moveTo>
                  <a:pt x="2544178" y="0"/>
                </a:moveTo>
                <a:lnTo>
                  <a:pt x="31496" y="0"/>
                </a:lnTo>
                <a:lnTo>
                  <a:pt x="32867" y="431050"/>
                </a:lnTo>
                <a:lnTo>
                  <a:pt x="0" y="434644"/>
                </a:lnTo>
                <a:lnTo>
                  <a:pt x="46215" y="506209"/>
                </a:lnTo>
                <a:lnTo>
                  <a:pt x="69532" y="443115"/>
                </a:lnTo>
                <a:lnTo>
                  <a:pt x="75742" y="426339"/>
                </a:lnTo>
                <a:lnTo>
                  <a:pt x="45567" y="429653"/>
                </a:lnTo>
                <a:lnTo>
                  <a:pt x="44234" y="12700"/>
                </a:lnTo>
                <a:lnTo>
                  <a:pt x="1743697" y="12700"/>
                </a:lnTo>
                <a:lnTo>
                  <a:pt x="1743697" y="484149"/>
                </a:lnTo>
                <a:lnTo>
                  <a:pt x="1711947" y="484149"/>
                </a:lnTo>
                <a:lnTo>
                  <a:pt x="1750047" y="560349"/>
                </a:lnTo>
                <a:lnTo>
                  <a:pt x="1781797" y="496849"/>
                </a:lnTo>
                <a:lnTo>
                  <a:pt x="1788147" y="484149"/>
                </a:lnTo>
                <a:lnTo>
                  <a:pt x="1756397" y="484149"/>
                </a:lnTo>
                <a:lnTo>
                  <a:pt x="1756397" y="12700"/>
                </a:lnTo>
                <a:lnTo>
                  <a:pt x="2544178" y="12700"/>
                </a:lnTo>
                <a:lnTo>
                  <a:pt x="2544178" y="6350"/>
                </a:lnTo>
                <a:lnTo>
                  <a:pt x="2544178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262632" y="5713577"/>
            <a:ext cx="4470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lexis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876544" y="5160009"/>
            <a:ext cx="1641475" cy="535305"/>
          </a:xfrm>
          <a:custGeom>
            <a:avLst/>
            <a:gdLst/>
            <a:ahLst/>
            <a:cxnLst/>
            <a:rect l="l" t="t" r="r" b="b"/>
            <a:pathLst>
              <a:path w="1641475" h="535304">
                <a:moveTo>
                  <a:pt x="1602514" y="463562"/>
                </a:moveTo>
                <a:lnTo>
                  <a:pt x="1568830" y="474662"/>
                </a:lnTo>
                <a:lnTo>
                  <a:pt x="1628775" y="535139"/>
                </a:lnTo>
                <a:lnTo>
                  <a:pt x="1637582" y="474878"/>
                </a:lnTo>
                <a:lnTo>
                  <a:pt x="1602612" y="474878"/>
                </a:lnTo>
                <a:lnTo>
                  <a:pt x="1602514" y="463562"/>
                </a:lnTo>
                <a:close/>
              </a:path>
              <a:path w="1641475" h="535304">
                <a:moveTo>
                  <a:pt x="1615181" y="459388"/>
                </a:moveTo>
                <a:lnTo>
                  <a:pt x="1602514" y="463562"/>
                </a:lnTo>
                <a:lnTo>
                  <a:pt x="1602612" y="474878"/>
                </a:lnTo>
                <a:lnTo>
                  <a:pt x="1615312" y="474764"/>
                </a:lnTo>
                <a:lnTo>
                  <a:pt x="1615181" y="459388"/>
                </a:lnTo>
                <a:close/>
              </a:path>
              <a:path w="1641475" h="535304">
                <a:moveTo>
                  <a:pt x="1641094" y="450849"/>
                </a:moveTo>
                <a:lnTo>
                  <a:pt x="1615181" y="459388"/>
                </a:lnTo>
                <a:lnTo>
                  <a:pt x="1615312" y="474764"/>
                </a:lnTo>
                <a:lnTo>
                  <a:pt x="1602612" y="474878"/>
                </a:lnTo>
                <a:lnTo>
                  <a:pt x="1637582" y="474878"/>
                </a:lnTo>
                <a:lnTo>
                  <a:pt x="1641094" y="450849"/>
                </a:lnTo>
                <a:close/>
              </a:path>
              <a:path w="1641475" h="535304">
                <a:moveTo>
                  <a:pt x="1611303" y="6350"/>
                </a:moveTo>
                <a:lnTo>
                  <a:pt x="1598549" y="6350"/>
                </a:lnTo>
                <a:lnTo>
                  <a:pt x="1604899" y="12700"/>
                </a:lnTo>
                <a:lnTo>
                  <a:pt x="1598604" y="12700"/>
                </a:lnTo>
                <a:lnTo>
                  <a:pt x="1602514" y="463562"/>
                </a:lnTo>
                <a:lnTo>
                  <a:pt x="1615181" y="459388"/>
                </a:lnTo>
                <a:lnTo>
                  <a:pt x="1611357" y="12700"/>
                </a:lnTo>
                <a:lnTo>
                  <a:pt x="1604899" y="12700"/>
                </a:lnTo>
                <a:lnTo>
                  <a:pt x="1598549" y="6350"/>
                </a:lnTo>
                <a:lnTo>
                  <a:pt x="1611303" y="6350"/>
                </a:lnTo>
                <a:close/>
              </a:path>
              <a:path w="1641475" h="535304">
                <a:moveTo>
                  <a:pt x="1611249" y="0"/>
                </a:moveTo>
                <a:lnTo>
                  <a:pt x="0" y="0"/>
                </a:lnTo>
                <a:lnTo>
                  <a:pt x="0" y="12700"/>
                </a:lnTo>
                <a:lnTo>
                  <a:pt x="1598604" y="12700"/>
                </a:lnTo>
                <a:lnTo>
                  <a:pt x="1598549" y="6350"/>
                </a:lnTo>
                <a:lnTo>
                  <a:pt x="1611303" y="6350"/>
                </a:lnTo>
                <a:lnTo>
                  <a:pt x="1611249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028180" y="5656884"/>
            <a:ext cx="974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semantics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934455" y="5166359"/>
            <a:ext cx="76200" cy="554355"/>
          </a:xfrm>
          <a:custGeom>
            <a:avLst/>
            <a:gdLst/>
            <a:ahLst/>
            <a:cxnLst/>
            <a:rect l="l" t="t" r="r" b="b"/>
            <a:pathLst>
              <a:path w="76200" h="554354">
                <a:moveTo>
                  <a:pt x="31750" y="477799"/>
                </a:moveTo>
                <a:lnTo>
                  <a:pt x="0" y="477799"/>
                </a:lnTo>
                <a:lnTo>
                  <a:pt x="38100" y="553999"/>
                </a:lnTo>
                <a:lnTo>
                  <a:pt x="69850" y="490499"/>
                </a:lnTo>
                <a:lnTo>
                  <a:pt x="31750" y="490499"/>
                </a:lnTo>
                <a:lnTo>
                  <a:pt x="31750" y="477799"/>
                </a:lnTo>
                <a:close/>
              </a:path>
              <a:path w="76200" h="554354">
                <a:moveTo>
                  <a:pt x="44450" y="0"/>
                </a:moveTo>
                <a:lnTo>
                  <a:pt x="31750" y="0"/>
                </a:lnTo>
                <a:lnTo>
                  <a:pt x="31750" y="490499"/>
                </a:lnTo>
                <a:lnTo>
                  <a:pt x="44450" y="490499"/>
                </a:lnTo>
                <a:lnTo>
                  <a:pt x="44450" y="0"/>
                </a:lnTo>
                <a:close/>
              </a:path>
              <a:path w="76200" h="554354">
                <a:moveTo>
                  <a:pt x="76200" y="477799"/>
                </a:moveTo>
                <a:lnTo>
                  <a:pt x="44450" y="477799"/>
                </a:lnTo>
                <a:lnTo>
                  <a:pt x="44450" y="490499"/>
                </a:lnTo>
                <a:lnTo>
                  <a:pt x="69850" y="490499"/>
                </a:lnTo>
                <a:lnTo>
                  <a:pt x="76200" y="477799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95427" y="5691936"/>
            <a:ext cx="5956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30190" algn="l"/>
              </a:tabLst>
            </a:pPr>
            <a:r>
              <a:rPr sz="2700" spc="-15" baseline="1543" dirty="0">
                <a:latin typeface="Calibri"/>
                <a:cs typeface="Calibri"/>
              </a:rPr>
              <a:t>alphabet</a:t>
            </a:r>
            <a:r>
              <a:rPr sz="2700" baseline="1543" dirty="0">
                <a:latin typeface="Calibri"/>
                <a:cs typeface="Calibri"/>
              </a:rPr>
              <a:t>	</a:t>
            </a:r>
            <a:r>
              <a:rPr sz="1800" b="1" spc="-10" dirty="0">
                <a:latin typeface="Calibri"/>
                <a:cs typeface="Calibri"/>
              </a:rPr>
              <a:t>syntax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12352" y="251459"/>
            <a:ext cx="3247644" cy="258470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-6908" y="6233261"/>
            <a:ext cx="104667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program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written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high-</a:t>
            </a:r>
            <a:r>
              <a:rPr sz="1800" dirty="0">
                <a:latin typeface="Calibri"/>
                <a:cs typeface="Calibri"/>
              </a:rPr>
              <a:t>level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programming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language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called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source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code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(in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contrast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machine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code </a:t>
            </a:r>
            <a:r>
              <a:rPr sz="1800" spc="-10" dirty="0">
                <a:latin typeface="Calibri"/>
                <a:cs typeface="Calibri"/>
              </a:rPr>
              <a:t>executed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computers).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Similarly,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file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containing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source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code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called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source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file.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100"/>
              </a:spcBef>
            </a:pPr>
            <a:r>
              <a:rPr dirty="0"/>
              <a:t>Compilation</a:t>
            </a:r>
            <a:r>
              <a:rPr spc="-60" dirty="0"/>
              <a:t> </a:t>
            </a:r>
            <a:r>
              <a:rPr dirty="0"/>
              <a:t>vs.</a:t>
            </a:r>
            <a:r>
              <a:rPr spc="-30" dirty="0"/>
              <a:t> </a:t>
            </a:r>
            <a:r>
              <a:rPr spc="-10" dirty="0"/>
              <a:t>interpretation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9288" y="620268"/>
            <a:ext cx="2143125" cy="1257300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2139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685"/>
              </a:spcBef>
            </a:pPr>
            <a:endParaRPr sz="1800">
              <a:latin typeface="Times New Roman"/>
              <a:cs typeface="Times New Roman"/>
            </a:endParaRPr>
          </a:p>
          <a:p>
            <a:pPr marL="441959">
              <a:lnSpc>
                <a:spcPct val="100000"/>
              </a:lnSpc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Your</a:t>
            </a:r>
            <a:r>
              <a:rPr sz="18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Program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8993" y="1871217"/>
            <a:ext cx="2975610" cy="2426970"/>
            <a:chOff x="78993" y="1871217"/>
            <a:chExt cx="2975610" cy="2426970"/>
          </a:xfrm>
        </p:grpSpPr>
        <p:sp>
          <p:nvSpPr>
            <p:cNvPr id="5" name="object 5"/>
            <p:cNvSpPr/>
            <p:nvPr/>
          </p:nvSpPr>
          <p:spPr>
            <a:xfrm>
              <a:off x="1191768" y="1877567"/>
              <a:ext cx="558165" cy="1033780"/>
            </a:xfrm>
            <a:custGeom>
              <a:avLst/>
              <a:gdLst/>
              <a:ahLst/>
              <a:cxnLst/>
              <a:rect l="l" t="t" r="r" b="b"/>
              <a:pathLst>
                <a:path w="558164" h="1033780">
                  <a:moveTo>
                    <a:pt x="418338" y="0"/>
                  </a:moveTo>
                  <a:lnTo>
                    <a:pt x="139445" y="0"/>
                  </a:lnTo>
                  <a:lnTo>
                    <a:pt x="139445" y="754380"/>
                  </a:lnTo>
                  <a:lnTo>
                    <a:pt x="0" y="754380"/>
                  </a:lnTo>
                  <a:lnTo>
                    <a:pt x="278891" y="1033272"/>
                  </a:lnTo>
                  <a:lnTo>
                    <a:pt x="557783" y="754380"/>
                  </a:lnTo>
                  <a:lnTo>
                    <a:pt x="418338" y="754380"/>
                  </a:lnTo>
                  <a:lnTo>
                    <a:pt x="418338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91768" y="1877567"/>
              <a:ext cx="558165" cy="1033780"/>
            </a:xfrm>
            <a:custGeom>
              <a:avLst/>
              <a:gdLst/>
              <a:ahLst/>
              <a:cxnLst/>
              <a:rect l="l" t="t" r="r" b="b"/>
              <a:pathLst>
                <a:path w="558164" h="1033780">
                  <a:moveTo>
                    <a:pt x="0" y="754380"/>
                  </a:moveTo>
                  <a:lnTo>
                    <a:pt x="139445" y="754380"/>
                  </a:lnTo>
                  <a:lnTo>
                    <a:pt x="139445" y="0"/>
                  </a:lnTo>
                  <a:lnTo>
                    <a:pt x="418338" y="0"/>
                  </a:lnTo>
                  <a:lnTo>
                    <a:pt x="418338" y="754380"/>
                  </a:lnTo>
                  <a:lnTo>
                    <a:pt x="557783" y="754380"/>
                  </a:lnTo>
                  <a:lnTo>
                    <a:pt x="278891" y="1033272"/>
                  </a:lnTo>
                  <a:lnTo>
                    <a:pt x="0" y="754380"/>
                  </a:lnTo>
                  <a:close/>
                </a:path>
              </a:pathLst>
            </a:custGeom>
            <a:ln w="12700">
              <a:solidFill>
                <a:srgbClr val="BB8B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343" y="2910839"/>
              <a:ext cx="2962910" cy="1381125"/>
            </a:xfrm>
            <a:custGeom>
              <a:avLst/>
              <a:gdLst/>
              <a:ahLst/>
              <a:cxnLst/>
              <a:rect l="l" t="t" r="r" b="b"/>
              <a:pathLst>
                <a:path w="2962910" h="1381125">
                  <a:moveTo>
                    <a:pt x="1481328" y="0"/>
                  </a:moveTo>
                  <a:lnTo>
                    <a:pt x="1417071" y="637"/>
                  </a:lnTo>
                  <a:lnTo>
                    <a:pt x="1353514" y="2534"/>
                  </a:lnTo>
                  <a:lnTo>
                    <a:pt x="1290711" y="5663"/>
                  </a:lnTo>
                  <a:lnTo>
                    <a:pt x="1228719" y="9998"/>
                  </a:lnTo>
                  <a:lnTo>
                    <a:pt x="1167593" y="15515"/>
                  </a:lnTo>
                  <a:lnTo>
                    <a:pt x="1107388" y="22186"/>
                  </a:lnTo>
                  <a:lnTo>
                    <a:pt x="1048160" y="29987"/>
                  </a:lnTo>
                  <a:lnTo>
                    <a:pt x="989965" y="38890"/>
                  </a:lnTo>
                  <a:lnTo>
                    <a:pt x="932858" y="48870"/>
                  </a:lnTo>
                  <a:lnTo>
                    <a:pt x="876895" y="59902"/>
                  </a:lnTo>
                  <a:lnTo>
                    <a:pt x="822132" y="71959"/>
                  </a:lnTo>
                  <a:lnTo>
                    <a:pt x="768623" y="85015"/>
                  </a:lnTo>
                  <a:lnTo>
                    <a:pt x="716425" y="99045"/>
                  </a:lnTo>
                  <a:lnTo>
                    <a:pt x="665594" y="114022"/>
                  </a:lnTo>
                  <a:lnTo>
                    <a:pt x="616184" y="129921"/>
                  </a:lnTo>
                  <a:lnTo>
                    <a:pt x="568251" y="146716"/>
                  </a:lnTo>
                  <a:lnTo>
                    <a:pt x="521851" y="164380"/>
                  </a:lnTo>
                  <a:lnTo>
                    <a:pt x="477040" y="182889"/>
                  </a:lnTo>
                  <a:lnTo>
                    <a:pt x="433873" y="202215"/>
                  </a:lnTo>
                  <a:lnTo>
                    <a:pt x="392405" y="222334"/>
                  </a:lnTo>
                  <a:lnTo>
                    <a:pt x="352693" y="243218"/>
                  </a:lnTo>
                  <a:lnTo>
                    <a:pt x="314792" y="264843"/>
                  </a:lnTo>
                  <a:lnTo>
                    <a:pt x="278757" y="287183"/>
                  </a:lnTo>
                  <a:lnTo>
                    <a:pt x="244644" y="310210"/>
                  </a:lnTo>
                  <a:lnTo>
                    <a:pt x="212508" y="333900"/>
                  </a:lnTo>
                  <a:lnTo>
                    <a:pt x="182406" y="358227"/>
                  </a:lnTo>
                  <a:lnTo>
                    <a:pt x="128524" y="408687"/>
                  </a:lnTo>
                  <a:lnTo>
                    <a:pt x="83441" y="461382"/>
                  </a:lnTo>
                  <a:lnTo>
                    <a:pt x="47602" y="516106"/>
                  </a:lnTo>
                  <a:lnTo>
                    <a:pt x="21453" y="572650"/>
                  </a:lnTo>
                  <a:lnTo>
                    <a:pt x="5437" y="630808"/>
                  </a:lnTo>
                  <a:lnTo>
                    <a:pt x="0" y="690372"/>
                  </a:lnTo>
                  <a:lnTo>
                    <a:pt x="1368" y="720316"/>
                  </a:lnTo>
                  <a:lnTo>
                    <a:pt x="12150" y="779203"/>
                  </a:lnTo>
                  <a:lnTo>
                    <a:pt x="33289" y="836580"/>
                  </a:lnTo>
                  <a:lnTo>
                    <a:pt x="64338" y="892240"/>
                  </a:lnTo>
                  <a:lnTo>
                    <a:pt x="104854" y="945975"/>
                  </a:lnTo>
                  <a:lnTo>
                    <a:pt x="154393" y="997578"/>
                  </a:lnTo>
                  <a:lnTo>
                    <a:pt x="212508" y="1046843"/>
                  </a:lnTo>
                  <a:lnTo>
                    <a:pt x="244644" y="1070533"/>
                  </a:lnTo>
                  <a:lnTo>
                    <a:pt x="278757" y="1093560"/>
                  </a:lnTo>
                  <a:lnTo>
                    <a:pt x="314792" y="1115900"/>
                  </a:lnTo>
                  <a:lnTo>
                    <a:pt x="352693" y="1137525"/>
                  </a:lnTo>
                  <a:lnTo>
                    <a:pt x="392405" y="1158409"/>
                  </a:lnTo>
                  <a:lnTo>
                    <a:pt x="433873" y="1178528"/>
                  </a:lnTo>
                  <a:lnTo>
                    <a:pt x="477040" y="1197854"/>
                  </a:lnTo>
                  <a:lnTo>
                    <a:pt x="521851" y="1216363"/>
                  </a:lnTo>
                  <a:lnTo>
                    <a:pt x="568251" y="1234027"/>
                  </a:lnTo>
                  <a:lnTo>
                    <a:pt x="616184" y="1250822"/>
                  </a:lnTo>
                  <a:lnTo>
                    <a:pt x="665594" y="1266721"/>
                  </a:lnTo>
                  <a:lnTo>
                    <a:pt x="716425" y="1281698"/>
                  </a:lnTo>
                  <a:lnTo>
                    <a:pt x="768623" y="1295728"/>
                  </a:lnTo>
                  <a:lnTo>
                    <a:pt x="822132" y="1308784"/>
                  </a:lnTo>
                  <a:lnTo>
                    <a:pt x="876895" y="1320841"/>
                  </a:lnTo>
                  <a:lnTo>
                    <a:pt x="932858" y="1331873"/>
                  </a:lnTo>
                  <a:lnTo>
                    <a:pt x="989965" y="1341853"/>
                  </a:lnTo>
                  <a:lnTo>
                    <a:pt x="1048160" y="1350756"/>
                  </a:lnTo>
                  <a:lnTo>
                    <a:pt x="1107388" y="1358557"/>
                  </a:lnTo>
                  <a:lnTo>
                    <a:pt x="1167593" y="1365228"/>
                  </a:lnTo>
                  <a:lnTo>
                    <a:pt x="1228719" y="1370745"/>
                  </a:lnTo>
                  <a:lnTo>
                    <a:pt x="1290711" y="1375080"/>
                  </a:lnTo>
                  <a:lnTo>
                    <a:pt x="1353514" y="1378209"/>
                  </a:lnTo>
                  <a:lnTo>
                    <a:pt x="1417071" y="1380106"/>
                  </a:lnTo>
                  <a:lnTo>
                    <a:pt x="1481328" y="1380744"/>
                  </a:lnTo>
                  <a:lnTo>
                    <a:pt x="1545586" y="1380106"/>
                  </a:lnTo>
                  <a:lnTo>
                    <a:pt x="1609145" y="1378209"/>
                  </a:lnTo>
                  <a:lnTo>
                    <a:pt x="1671949" y="1375080"/>
                  </a:lnTo>
                  <a:lnTo>
                    <a:pt x="1733942" y="1370745"/>
                  </a:lnTo>
                  <a:lnTo>
                    <a:pt x="1795070" y="1365228"/>
                  </a:lnTo>
                  <a:lnTo>
                    <a:pt x="1855276" y="1358557"/>
                  </a:lnTo>
                  <a:lnTo>
                    <a:pt x="1914504" y="1350756"/>
                  </a:lnTo>
                  <a:lnTo>
                    <a:pt x="1972700" y="1341853"/>
                  </a:lnTo>
                  <a:lnTo>
                    <a:pt x="2029807" y="1331873"/>
                  </a:lnTo>
                  <a:lnTo>
                    <a:pt x="2085770" y="1320841"/>
                  </a:lnTo>
                  <a:lnTo>
                    <a:pt x="2140534" y="1308784"/>
                  </a:lnTo>
                  <a:lnTo>
                    <a:pt x="2194043" y="1295728"/>
                  </a:lnTo>
                  <a:lnTo>
                    <a:pt x="2246241" y="1281698"/>
                  </a:lnTo>
                  <a:lnTo>
                    <a:pt x="2297073" y="1266721"/>
                  </a:lnTo>
                  <a:lnTo>
                    <a:pt x="2346482" y="1250822"/>
                  </a:lnTo>
                  <a:lnTo>
                    <a:pt x="2394415" y="1234027"/>
                  </a:lnTo>
                  <a:lnTo>
                    <a:pt x="2440814" y="1216363"/>
                  </a:lnTo>
                  <a:lnTo>
                    <a:pt x="2485625" y="1197854"/>
                  </a:lnTo>
                  <a:lnTo>
                    <a:pt x="2528792" y="1178528"/>
                  </a:lnTo>
                  <a:lnTo>
                    <a:pt x="2570259" y="1158409"/>
                  </a:lnTo>
                  <a:lnTo>
                    <a:pt x="2609970" y="1137525"/>
                  </a:lnTo>
                  <a:lnTo>
                    <a:pt x="2647871" y="1115900"/>
                  </a:lnTo>
                  <a:lnTo>
                    <a:pt x="2683906" y="1093560"/>
                  </a:lnTo>
                  <a:lnTo>
                    <a:pt x="2718018" y="1070533"/>
                  </a:lnTo>
                  <a:lnTo>
                    <a:pt x="2750153" y="1046843"/>
                  </a:lnTo>
                  <a:lnTo>
                    <a:pt x="2780254" y="1022516"/>
                  </a:lnTo>
                  <a:lnTo>
                    <a:pt x="2834135" y="972056"/>
                  </a:lnTo>
                  <a:lnTo>
                    <a:pt x="2879217" y="919361"/>
                  </a:lnTo>
                  <a:lnTo>
                    <a:pt x="2915054" y="864637"/>
                  </a:lnTo>
                  <a:lnTo>
                    <a:pt x="2941203" y="808093"/>
                  </a:lnTo>
                  <a:lnTo>
                    <a:pt x="2957218" y="749935"/>
                  </a:lnTo>
                  <a:lnTo>
                    <a:pt x="2962656" y="690372"/>
                  </a:lnTo>
                  <a:lnTo>
                    <a:pt x="2961287" y="660427"/>
                  </a:lnTo>
                  <a:lnTo>
                    <a:pt x="2950505" y="601540"/>
                  </a:lnTo>
                  <a:lnTo>
                    <a:pt x="2929368" y="544163"/>
                  </a:lnTo>
                  <a:lnTo>
                    <a:pt x="2898319" y="488503"/>
                  </a:lnTo>
                  <a:lnTo>
                    <a:pt x="2857804" y="434768"/>
                  </a:lnTo>
                  <a:lnTo>
                    <a:pt x="2808267" y="383165"/>
                  </a:lnTo>
                  <a:lnTo>
                    <a:pt x="2750153" y="333900"/>
                  </a:lnTo>
                  <a:lnTo>
                    <a:pt x="2718018" y="310210"/>
                  </a:lnTo>
                  <a:lnTo>
                    <a:pt x="2683906" y="287183"/>
                  </a:lnTo>
                  <a:lnTo>
                    <a:pt x="2647871" y="264843"/>
                  </a:lnTo>
                  <a:lnTo>
                    <a:pt x="2609970" y="243218"/>
                  </a:lnTo>
                  <a:lnTo>
                    <a:pt x="2570259" y="222334"/>
                  </a:lnTo>
                  <a:lnTo>
                    <a:pt x="2528792" y="202215"/>
                  </a:lnTo>
                  <a:lnTo>
                    <a:pt x="2485625" y="182889"/>
                  </a:lnTo>
                  <a:lnTo>
                    <a:pt x="2440814" y="164380"/>
                  </a:lnTo>
                  <a:lnTo>
                    <a:pt x="2394415" y="146716"/>
                  </a:lnTo>
                  <a:lnTo>
                    <a:pt x="2346482" y="129921"/>
                  </a:lnTo>
                  <a:lnTo>
                    <a:pt x="2297073" y="114022"/>
                  </a:lnTo>
                  <a:lnTo>
                    <a:pt x="2246241" y="99045"/>
                  </a:lnTo>
                  <a:lnTo>
                    <a:pt x="2194043" y="85015"/>
                  </a:lnTo>
                  <a:lnTo>
                    <a:pt x="2140534" y="71959"/>
                  </a:lnTo>
                  <a:lnTo>
                    <a:pt x="2085770" y="59902"/>
                  </a:lnTo>
                  <a:lnTo>
                    <a:pt x="2029807" y="48870"/>
                  </a:lnTo>
                  <a:lnTo>
                    <a:pt x="1972700" y="38890"/>
                  </a:lnTo>
                  <a:lnTo>
                    <a:pt x="1914504" y="29987"/>
                  </a:lnTo>
                  <a:lnTo>
                    <a:pt x="1855276" y="22186"/>
                  </a:lnTo>
                  <a:lnTo>
                    <a:pt x="1795070" y="15515"/>
                  </a:lnTo>
                  <a:lnTo>
                    <a:pt x="1733942" y="9998"/>
                  </a:lnTo>
                  <a:lnTo>
                    <a:pt x="1671949" y="5663"/>
                  </a:lnTo>
                  <a:lnTo>
                    <a:pt x="1609145" y="2534"/>
                  </a:lnTo>
                  <a:lnTo>
                    <a:pt x="1545586" y="637"/>
                  </a:lnTo>
                  <a:lnTo>
                    <a:pt x="148132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5343" y="2910839"/>
              <a:ext cx="2962910" cy="1381125"/>
            </a:xfrm>
            <a:custGeom>
              <a:avLst/>
              <a:gdLst/>
              <a:ahLst/>
              <a:cxnLst/>
              <a:rect l="l" t="t" r="r" b="b"/>
              <a:pathLst>
                <a:path w="2962910" h="1381125">
                  <a:moveTo>
                    <a:pt x="0" y="690372"/>
                  </a:moveTo>
                  <a:lnTo>
                    <a:pt x="5437" y="630808"/>
                  </a:lnTo>
                  <a:lnTo>
                    <a:pt x="21453" y="572650"/>
                  </a:lnTo>
                  <a:lnTo>
                    <a:pt x="47602" y="516106"/>
                  </a:lnTo>
                  <a:lnTo>
                    <a:pt x="83441" y="461382"/>
                  </a:lnTo>
                  <a:lnTo>
                    <a:pt x="128524" y="408687"/>
                  </a:lnTo>
                  <a:lnTo>
                    <a:pt x="182406" y="358227"/>
                  </a:lnTo>
                  <a:lnTo>
                    <a:pt x="212508" y="333900"/>
                  </a:lnTo>
                  <a:lnTo>
                    <a:pt x="244644" y="310210"/>
                  </a:lnTo>
                  <a:lnTo>
                    <a:pt x="278757" y="287183"/>
                  </a:lnTo>
                  <a:lnTo>
                    <a:pt x="314792" y="264843"/>
                  </a:lnTo>
                  <a:lnTo>
                    <a:pt x="352693" y="243218"/>
                  </a:lnTo>
                  <a:lnTo>
                    <a:pt x="392405" y="222334"/>
                  </a:lnTo>
                  <a:lnTo>
                    <a:pt x="433873" y="202215"/>
                  </a:lnTo>
                  <a:lnTo>
                    <a:pt x="477040" y="182889"/>
                  </a:lnTo>
                  <a:lnTo>
                    <a:pt x="521851" y="164380"/>
                  </a:lnTo>
                  <a:lnTo>
                    <a:pt x="568251" y="146716"/>
                  </a:lnTo>
                  <a:lnTo>
                    <a:pt x="616184" y="129921"/>
                  </a:lnTo>
                  <a:lnTo>
                    <a:pt x="665594" y="114022"/>
                  </a:lnTo>
                  <a:lnTo>
                    <a:pt x="716425" y="99045"/>
                  </a:lnTo>
                  <a:lnTo>
                    <a:pt x="768623" y="85015"/>
                  </a:lnTo>
                  <a:lnTo>
                    <a:pt x="822132" y="71959"/>
                  </a:lnTo>
                  <a:lnTo>
                    <a:pt x="876895" y="59902"/>
                  </a:lnTo>
                  <a:lnTo>
                    <a:pt x="932858" y="48870"/>
                  </a:lnTo>
                  <a:lnTo>
                    <a:pt x="989965" y="38890"/>
                  </a:lnTo>
                  <a:lnTo>
                    <a:pt x="1048160" y="29987"/>
                  </a:lnTo>
                  <a:lnTo>
                    <a:pt x="1107388" y="22186"/>
                  </a:lnTo>
                  <a:lnTo>
                    <a:pt x="1167593" y="15515"/>
                  </a:lnTo>
                  <a:lnTo>
                    <a:pt x="1228719" y="9998"/>
                  </a:lnTo>
                  <a:lnTo>
                    <a:pt x="1290711" y="5663"/>
                  </a:lnTo>
                  <a:lnTo>
                    <a:pt x="1353514" y="2534"/>
                  </a:lnTo>
                  <a:lnTo>
                    <a:pt x="1417071" y="637"/>
                  </a:lnTo>
                  <a:lnTo>
                    <a:pt x="1481328" y="0"/>
                  </a:lnTo>
                  <a:lnTo>
                    <a:pt x="1545586" y="637"/>
                  </a:lnTo>
                  <a:lnTo>
                    <a:pt x="1609145" y="2534"/>
                  </a:lnTo>
                  <a:lnTo>
                    <a:pt x="1671949" y="5663"/>
                  </a:lnTo>
                  <a:lnTo>
                    <a:pt x="1733942" y="9998"/>
                  </a:lnTo>
                  <a:lnTo>
                    <a:pt x="1795070" y="15515"/>
                  </a:lnTo>
                  <a:lnTo>
                    <a:pt x="1855276" y="22186"/>
                  </a:lnTo>
                  <a:lnTo>
                    <a:pt x="1914504" y="29987"/>
                  </a:lnTo>
                  <a:lnTo>
                    <a:pt x="1972700" y="38890"/>
                  </a:lnTo>
                  <a:lnTo>
                    <a:pt x="2029807" y="48870"/>
                  </a:lnTo>
                  <a:lnTo>
                    <a:pt x="2085770" y="59902"/>
                  </a:lnTo>
                  <a:lnTo>
                    <a:pt x="2140534" y="71959"/>
                  </a:lnTo>
                  <a:lnTo>
                    <a:pt x="2194043" y="85015"/>
                  </a:lnTo>
                  <a:lnTo>
                    <a:pt x="2246241" y="99045"/>
                  </a:lnTo>
                  <a:lnTo>
                    <a:pt x="2297073" y="114022"/>
                  </a:lnTo>
                  <a:lnTo>
                    <a:pt x="2346482" y="129921"/>
                  </a:lnTo>
                  <a:lnTo>
                    <a:pt x="2394415" y="146716"/>
                  </a:lnTo>
                  <a:lnTo>
                    <a:pt x="2440814" y="164380"/>
                  </a:lnTo>
                  <a:lnTo>
                    <a:pt x="2485625" y="182889"/>
                  </a:lnTo>
                  <a:lnTo>
                    <a:pt x="2528792" y="202215"/>
                  </a:lnTo>
                  <a:lnTo>
                    <a:pt x="2570259" y="222334"/>
                  </a:lnTo>
                  <a:lnTo>
                    <a:pt x="2609970" y="243218"/>
                  </a:lnTo>
                  <a:lnTo>
                    <a:pt x="2647871" y="264843"/>
                  </a:lnTo>
                  <a:lnTo>
                    <a:pt x="2683906" y="287183"/>
                  </a:lnTo>
                  <a:lnTo>
                    <a:pt x="2718018" y="310210"/>
                  </a:lnTo>
                  <a:lnTo>
                    <a:pt x="2750153" y="333900"/>
                  </a:lnTo>
                  <a:lnTo>
                    <a:pt x="2780254" y="358227"/>
                  </a:lnTo>
                  <a:lnTo>
                    <a:pt x="2834135" y="408687"/>
                  </a:lnTo>
                  <a:lnTo>
                    <a:pt x="2879217" y="461382"/>
                  </a:lnTo>
                  <a:lnTo>
                    <a:pt x="2915054" y="516106"/>
                  </a:lnTo>
                  <a:lnTo>
                    <a:pt x="2941203" y="572650"/>
                  </a:lnTo>
                  <a:lnTo>
                    <a:pt x="2957218" y="630808"/>
                  </a:lnTo>
                  <a:lnTo>
                    <a:pt x="2962656" y="690372"/>
                  </a:lnTo>
                  <a:lnTo>
                    <a:pt x="2961287" y="720316"/>
                  </a:lnTo>
                  <a:lnTo>
                    <a:pt x="2950505" y="779203"/>
                  </a:lnTo>
                  <a:lnTo>
                    <a:pt x="2929368" y="836580"/>
                  </a:lnTo>
                  <a:lnTo>
                    <a:pt x="2898319" y="892240"/>
                  </a:lnTo>
                  <a:lnTo>
                    <a:pt x="2857804" y="945975"/>
                  </a:lnTo>
                  <a:lnTo>
                    <a:pt x="2808267" y="997578"/>
                  </a:lnTo>
                  <a:lnTo>
                    <a:pt x="2750153" y="1046843"/>
                  </a:lnTo>
                  <a:lnTo>
                    <a:pt x="2718018" y="1070533"/>
                  </a:lnTo>
                  <a:lnTo>
                    <a:pt x="2683906" y="1093560"/>
                  </a:lnTo>
                  <a:lnTo>
                    <a:pt x="2647871" y="1115900"/>
                  </a:lnTo>
                  <a:lnTo>
                    <a:pt x="2609970" y="1137525"/>
                  </a:lnTo>
                  <a:lnTo>
                    <a:pt x="2570259" y="1158409"/>
                  </a:lnTo>
                  <a:lnTo>
                    <a:pt x="2528792" y="1178528"/>
                  </a:lnTo>
                  <a:lnTo>
                    <a:pt x="2485625" y="1197854"/>
                  </a:lnTo>
                  <a:lnTo>
                    <a:pt x="2440814" y="1216363"/>
                  </a:lnTo>
                  <a:lnTo>
                    <a:pt x="2394415" y="1234027"/>
                  </a:lnTo>
                  <a:lnTo>
                    <a:pt x="2346482" y="1250822"/>
                  </a:lnTo>
                  <a:lnTo>
                    <a:pt x="2297073" y="1266721"/>
                  </a:lnTo>
                  <a:lnTo>
                    <a:pt x="2246241" y="1281698"/>
                  </a:lnTo>
                  <a:lnTo>
                    <a:pt x="2194043" y="1295728"/>
                  </a:lnTo>
                  <a:lnTo>
                    <a:pt x="2140534" y="1308784"/>
                  </a:lnTo>
                  <a:lnTo>
                    <a:pt x="2085770" y="1320841"/>
                  </a:lnTo>
                  <a:lnTo>
                    <a:pt x="2029807" y="1331873"/>
                  </a:lnTo>
                  <a:lnTo>
                    <a:pt x="1972700" y="1341853"/>
                  </a:lnTo>
                  <a:lnTo>
                    <a:pt x="1914504" y="1350756"/>
                  </a:lnTo>
                  <a:lnTo>
                    <a:pt x="1855276" y="1358557"/>
                  </a:lnTo>
                  <a:lnTo>
                    <a:pt x="1795070" y="1365228"/>
                  </a:lnTo>
                  <a:lnTo>
                    <a:pt x="1733942" y="1370745"/>
                  </a:lnTo>
                  <a:lnTo>
                    <a:pt x="1671949" y="1375080"/>
                  </a:lnTo>
                  <a:lnTo>
                    <a:pt x="1609145" y="1378209"/>
                  </a:lnTo>
                  <a:lnTo>
                    <a:pt x="1545586" y="1380106"/>
                  </a:lnTo>
                  <a:lnTo>
                    <a:pt x="1481328" y="1380744"/>
                  </a:lnTo>
                  <a:lnTo>
                    <a:pt x="1417071" y="1380106"/>
                  </a:lnTo>
                  <a:lnTo>
                    <a:pt x="1353514" y="1378209"/>
                  </a:lnTo>
                  <a:lnTo>
                    <a:pt x="1290711" y="1375080"/>
                  </a:lnTo>
                  <a:lnTo>
                    <a:pt x="1228719" y="1370745"/>
                  </a:lnTo>
                  <a:lnTo>
                    <a:pt x="1167593" y="1365228"/>
                  </a:lnTo>
                  <a:lnTo>
                    <a:pt x="1107388" y="1358557"/>
                  </a:lnTo>
                  <a:lnTo>
                    <a:pt x="1048160" y="1350756"/>
                  </a:lnTo>
                  <a:lnTo>
                    <a:pt x="989965" y="1341853"/>
                  </a:lnTo>
                  <a:lnTo>
                    <a:pt x="932858" y="1331873"/>
                  </a:lnTo>
                  <a:lnTo>
                    <a:pt x="876895" y="1320841"/>
                  </a:lnTo>
                  <a:lnTo>
                    <a:pt x="822132" y="1308784"/>
                  </a:lnTo>
                  <a:lnTo>
                    <a:pt x="768623" y="1295728"/>
                  </a:lnTo>
                  <a:lnTo>
                    <a:pt x="716425" y="1281698"/>
                  </a:lnTo>
                  <a:lnTo>
                    <a:pt x="665594" y="1266721"/>
                  </a:lnTo>
                  <a:lnTo>
                    <a:pt x="616184" y="1250822"/>
                  </a:lnTo>
                  <a:lnTo>
                    <a:pt x="568251" y="1234027"/>
                  </a:lnTo>
                  <a:lnTo>
                    <a:pt x="521851" y="1216363"/>
                  </a:lnTo>
                  <a:lnTo>
                    <a:pt x="477040" y="1197854"/>
                  </a:lnTo>
                  <a:lnTo>
                    <a:pt x="433873" y="1178528"/>
                  </a:lnTo>
                  <a:lnTo>
                    <a:pt x="392405" y="1158409"/>
                  </a:lnTo>
                  <a:lnTo>
                    <a:pt x="352693" y="1137525"/>
                  </a:lnTo>
                  <a:lnTo>
                    <a:pt x="314792" y="1115900"/>
                  </a:lnTo>
                  <a:lnTo>
                    <a:pt x="278757" y="1093560"/>
                  </a:lnTo>
                  <a:lnTo>
                    <a:pt x="244644" y="1070533"/>
                  </a:lnTo>
                  <a:lnTo>
                    <a:pt x="212508" y="1046843"/>
                  </a:lnTo>
                  <a:lnTo>
                    <a:pt x="182406" y="1022516"/>
                  </a:lnTo>
                  <a:lnTo>
                    <a:pt x="128524" y="972056"/>
                  </a:lnTo>
                  <a:lnTo>
                    <a:pt x="83441" y="919361"/>
                  </a:lnTo>
                  <a:lnTo>
                    <a:pt x="47602" y="864637"/>
                  </a:lnTo>
                  <a:lnTo>
                    <a:pt x="21453" y="808093"/>
                  </a:lnTo>
                  <a:lnTo>
                    <a:pt x="5437" y="749935"/>
                  </a:lnTo>
                  <a:lnTo>
                    <a:pt x="0" y="690372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37996" y="3300221"/>
            <a:ext cx="14560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 marR="5080" indent="-6731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Compilation</a:t>
            </a:r>
            <a:r>
              <a:rPr sz="18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vs.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interpretation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281430" y="4285234"/>
            <a:ext cx="570865" cy="1046480"/>
            <a:chOff x="1281430" y="4285234"/>
            <a:chExt cx="570865" cy="1046480"/>
          </a:xfrm>
        </p:grpSpPr>
        <p:sp>
          <p:nvSpPr>
            <p:cNvPr id="11" name="object 11"/>
            <p:cNvSpPr/>
            <p:nvPr/>
          </p:nvSpPr>
          <p:spPr>
            <a:xfrm>
              <a:off x="1287780" y="4291584"/>
              <a:ext cx="558165" cy="1033780"/>
            </a:xfrm>
            <a:custGeom>
              <a:avLst/>
              <a:gdLst/>
              <a:ahLst/>
              <a:cxnLst/>
              <a:rect l="l" t="t" r="r" b="b"/>
              <a:pathLst>
                <a:path w="558164" h="1033779">
                  <a:moveTo>
                    <a:pt x="418338" y="0"/>
                  </a:moveTo>
                  <a:lnTo>
                    <a:pt x="139445" y="0"/>
                  </a:lnTo>
                  <a:lnTo>
                    <a:pt x="139445" y="754380"/>
                  </a:lnTo>
                  <a:lnTo>
                    <a:pt x="0" y="754380"/>
                  </a:lnTo>
                  <a:lnTo>
                    <a:pt x="278891" y="1033272"/>
                  </a:lnTo>
                  <a:lnTo>
                    <a:pt x="557783" y="754380"/>
                  </a:lnTo>
                  <a:lnTo>
                    <a:pt x="418338" y="754380"/>
                  </a:lnTo>
                  <a:lnTo>
                    <a:pt x="418338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87780" y="4291584"/>
              <a:ext cx="558165" cy="1033780"/>
            </a:xfrm>
            <a:custGeom>
              <a:avLst/>
              <a:gdLst/>
              <a:ahLst/>
              <a:cxnLst/>
              <a:rect l="l" t="t" r="r" b="b"/>
              <a:pathLst>
                <a:path w="558164" h="1033779">
                  <a:moveTo>
                    <a:pt x="0" y="754380"/>
                  </a:moveTo>
                  <a:lnTo>
                    <a:pt x="139445" y="754380"/>
                  </a:lnTo>
                  <a:lnTo>
                    <a:pt x="139445" y="0"/>
                  </a:lnTo>
                  <a:lnTo>
                    <a:pt x="418338" y="0"/>
                  </a:lnTo>
                  <a:lnTo>
                    <a:pt x="418338" y="754380"/>
                  </a:lnTo>
                  <a:lnTo>
                    <a:pt x="557783" y="754380"/>
                  </a:lnTo>
                  <a:lnTo>
                    <a:pt x="278891" y="1033272"/>
                  </a:lnTo>
                  <a:lnTo>
                    <a:pt x="0" y="754380"/>
                  </a:lnTo>
                  <a:close/>
                </a:path>
              </a:pathLst>
            </a:custGeom>
            <a:ln w="12700">
              <a:solidFill>
                <a:srgbClr val="BB8B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06551" y="5324855"/>
            <a:ext cx="2143125" cy="1257300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21462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689"/>
              </a:spcBef>
            </a:pP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ML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52444" y="387095"/>
            <a:ext cx="3512820" cy="2393330"/>
          </a:xfrm>
          <a:prstGeom prst="rect">
            <a:avLst/>
          </a:prstGeom>
        </p:spPr>
      </p:pic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3171189" y="3091307"/>
          <a:ext cx="8879205" cy="29540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54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5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92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589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COMPILATION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INTERPRETATION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79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ADVANTAGES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5895" marR="229235" indent="-9525">
                        <a:lnSpc>
                          <a:spcPct val="100000"/>
                        </a:lnSpc>
                        <a:spcBef>
                          <a:spcPts val="215"/>
                        </a:spcBef>
                        <a:buSzPct val="91666"/>
                        <a:buFont typeface="Arial"/>
                        <a:buChar char="•"/>
                        <a:tabLst>
                          <a:tab pos="228600" algn="l"/>
                        </a:tabLst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	the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execution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translated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code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usually faster;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  <a:p>
                      <a:pPr marL="175895" marR="373380" indent="-9525">
                        <a:lnSpc>
                          <a:spcPct val="100000"/>
                        </a:lnSpc>
                        <a:spcBef>
                          <a:spcPts val="5"/>
                        </a:spcBef>
                        <a:buSzPct val="91666"/>
                        <a:buFont typeface="Arial"/>
                        <a:buChar char="•"/>
                        <a:tabLst>
                          <a:tab pos="228600" algn="l"/>
                        </a:tabLst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	only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has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have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compiler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end-user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may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use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code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without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it;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  <a:p>
                      <a:pPr marL="175895" marR="70485" indent="-9525">
                        <a:lnSpc>
                          <a:spcPct val="100000"/>
                        </a:lnSpc>
                        <a:buSzPct val="91666"/>
                        <a:buFont typeface="Arial"/>
                        <a:buChar char="•"/>
                        <a:tabLst>
                          <a:tab pos="228600" algn="l"/>
                        </a:tabLst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	the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translated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code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stored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using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machine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language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is very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hard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to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understand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it,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your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own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inventions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programming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tricks are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likely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remain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your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secret.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3025" marR="132080" indent="-9525">
                        <a:lnSpc>
                          <a:spcPct val="100000"/>
                        </a:lnSpc>
                        <a:spcBef>
                          <a:spcPts val="5"/>
                        </a:spcBef>
                        <a:buSzPct val="91666"/>
                        <a:buFont typeface="Arial"/>
                        <a:buChar char="•"/>
                        <a:tabLst>
                          <a:tab pos="125730" algn="l"/>
                        </a:tabLst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	you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run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code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as soon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you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complete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there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no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additional</a:t>
                      </a:r>
                      <a:r>
                        <a:rPr sz="12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phases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translation;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73025" marR="101600" indent="-9525">
                        <a:lnSpc>
                          <a:spcPct val="100000"/>
                        </a:lnSpc>
                        <a:buSzPct val="91666"/>
                        <a:buFont typeface="Arial"/>
                        <a:buChar char="•"/>
                        <a:tabLst>
                          <a:tab pos="125730" algn="l"/>
                        </a:tabLst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	the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code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stored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using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programming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language,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machine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one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this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means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that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run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computers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using different</a:t>
                      </a:r>
                      <a:r>
                        <a:rPr sz="12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machine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languages;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you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don't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compile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your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code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separately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each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different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architecture.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3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DISADVANTAGES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5895" marR="154940" indent="-9525">
                        <a:lnSpc>
                          <a:spcPct val="100000"/>
                        </a:lnSpc>
                        <a:spcBef>
                          <a:spcPts val="195"/>
                        </a:spcBef>
                        <a:buSzPct val="91666"/>
                        <a:buFont typeface="Arial"/>
                        <a:buChar char="•"/>
                        <a:tabLst>
                          <a:tab pos="228600" algn="l"/>
                        </a:tabLst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	the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compilation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itself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may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very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time-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consuming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process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you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may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able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run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your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code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immediately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after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any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amendment;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175895" marR="290195" indent="-9525">
                        <a:lnSpc>
                          <a:spcPct val="100000"/>
                        </a:lnSpc>
                        <a:buSzPct val="91666"/>
                        <a:buFont typeface="Arial"/>
                        <a:buChar char="•"/>
                        <a:tabLst>
                          <a:tab pos="228600" algn="l"/>
                        </a:tabLst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	you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have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have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many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compilers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as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hardware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platforms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you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want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your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code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be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run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on.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L="73025" marR="306705" indent="-9525">
                        <a:lnSpc>
                          <a:spcPct val="100000"/>
                        </a:lnSpc>
                        <a:spcBef>
                          <a:spcPts val="915"/>
                        </a:spcBef>
                        <a:buSzPct val="91666"/>
                        <a:buFont typeface="Arial"/>
                        <a:buChar char="•"/>
                        <a:tabLst>
                          <a:tab pos="125730" algn="l"/>
                        </a:tabLst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	don't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expect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that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interpretation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ramp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your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code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high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speed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your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code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share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computer's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power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interpreter,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so</a:t>
                      </a:r>
                      <a:r>
                        <a:rPr sz="1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can't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be really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fast;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  <a:p>
                      <a:pPr marL="73025" marR="167005" indent="-9525">
                        <a:lnSpc>
                          <a:spcPct val="100000"/>
                        </a:lnSpc>
                        <a:spcBef>
                          <a:spcPts val="5"/>
                        </a:spcBef>
                        <a:buSzPct val="91666"/>
                        <a:buFont typeface="Arial"/>
                        <a:buChar char="•"/>
                        <a:tabLst>
                          <a:tab pos="125730" algn="l"/>
                        </a:tabLst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	both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you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end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have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have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interpreter</a:t>
                      </a:r>
                      <a:r>
                        <a:rPr sz="12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run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your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code.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11620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70494" y="224201"/>
            <a:ext cx="1340618" cy="2374710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3945382" y="6196329"/>
            <a:ext cx="8117840" cy="657860"/>
            <a:chOff x="3945382" y="6196329"/>
            <a:chExt cx="8117840" cy="657860"/>
          </a:xfrm>
        </p:grpSpPr>
        <p:sp>
          <p:nvSpPr>
            <p:cNvPr id="18" name="object 18"/>
            <p:cNvSpPr/>
            <p:nvPr/>
          </p:nvSpPr>
          <p:spPr>
            <a:xfrm>
              <a:off x="3951732" y="6202679"/>
              <a:ext cx="8105140" cy="645160"/>
            </a:xfrm>
            <a:custGeom>
              <a:avLst/>
              <a:gdLst/>
              <a:ahLst/>
              <a:cxnLst/>
              <a:rect l="l" t="t" r="r" b="b"/>
              <a:pathLst>
                <a:path w="8105140" h="645159">
                  <a:moveTo>
                    <a:pt x="7997190" y="0"/>
                  </a:moveTo>
                  <a:lnTo>
                    <a:pt x="107441" y="0"/>
                  </a:lnTo>
                  <a:lnTo>
                    <a:pt x="65633" y="8443"/>
                  </a:lnTo>
                  <a:lnTo>
                    <a:pt x="31480" y="31470"/>
                  </a:lnTo>
                  <a:lnTo>
                    <a:pt x="8447" y="65622"/>
                  </a:lnTo>
                  <a:lnTo>
                    <a:pt x="0" y="107442"/>
                  </a:lnTo>
                  <a:lnTo>
                    <a:pt x="0" y="537210"/>
                  </a:lnTo>
                  <a:lnTo>
                    <a:pt x="8447" y="579031"/>
                  </a:lnTo>
                  <a:lnTo>
                    <a:pt x="31480" y="613182"/>
                  </a:lnTo>
                  <a:lnTo>
                    <a:pt x="65633" y="636208"/>
                  </a:lnTo>
                  <a:lnTo>
                    <a:pt x="107441" y="644651"/>
                  </a:lnTo>
                  <a:lnTo>
                    <a:pt x="7997190" y="644651"/>
                  </a:lnTo>
                  <a:lnTo>
                    <a:pt x="8038998" y="636208"/>
                  </a:lnTo>
                  <a:lnTo>
                    <a:pt x="8073151" y="613182"/>
                  </a:lnTo>
                  <a:lnTo>
                    <a:pt x="8096184" y="579031"/>
                  </a:lnTo>
                  <a:lnTo>
                    <a:pt x="8104632" y="537210"/>
                  </a:lnTo>
                  <a:lnTo>
                    <a:pt x="8104632" y="107442"/>
                  </a:lnTo>
                  <a:lnTo>
                    <a:pt x="8096184" y="65622"/>
                  </a:lnTo>
                  <a:lnTo>
                    <a:pt x="8073151" y="31470"/>
                  </a:lnTo>
                  <a:lnTo>
                    <a:pt x="8038998" y="8443"/>
                  </a:lnTo>
                  <a:lnTo>
                    <a:pt x="799719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951732" y="6202679"/>
              <a:ext cx="8105140" cy="645160"/>
            </a:xfrm>
            <a:custGeom>
              <a:avLst/>
              <a:gdLst/>
              <a:ahLst/>
              <a:cxnLst/>
              <a:rect l="l" t="t" r="r" b="b"/>
              <a:pathLst>
                <a:path w="8105140" h="645159">
                  <a:moveTo>
                    <a:pt x="0" y="107442"/>
                  </a:moveTo>
                  <a:lnTo>
                    <a:pt x="8447" y="65622"/>
                  </a:lnTo>
                  <a:lnTo>
                    <a:pt x="31480" y="31470"/>
                  </a:lnTo>
                  <a:lnTo>
                    <a:pt x="65633" y="8443"/>
                  </a:lnTo>
                  <a:lnTo>
                    <a:pt x="107441" y="0"/>
                  </a:lnTo>
                  <a:lnTo>
                    <a:pt x="7997190" y="0"/>
                  </a:lnTo>
                  <a:lnTo>
                    <a:pt x="8038998" y="8443"/>
                  </a:lnTo>
                  <a:lnTo>
                    <a:pt x="8073151" y="31470"/>
                  </a:lnTo>
                  <a:lnTo>
                    <a:pt x="8096184" y="65622"/>
                  </a:lnTo>
                  <a:lnTo>
                    <a:pt x="8104632" y="107442"/>
                  </a:lnTo>
                  <a:lnTo>
                    <a:pt x="8104632" y="537210"/>
                  </a:lnTo>
                  <a:lnTo>
                    <a:pt x="8096184" y="579031"/>
                  </a:lnTo>
                  <a:lnTo>
                    <a:pt x="8073151" y="613182"/>
                  </a:lnTo>
                  <a:lnTo>
                    <a:pt x="8038998" y="636208"/>
                  </a:lnTo>
                  <a:lnTo>
                    <a:pt x="7997190" y="644651"/>
                  </a:lnTo>
                  <a:lnTo>
                    <a:pt x="107441" y="644651"/>
                  </a:lnTo>
                  <a:lnTo>
                    <a:pt x="65633" y="636208"/>
                  </a:lnTo>
                  <a:lnTo>
                    <a:pt x="31480" y="613182"/>
                  </a:lnTo>
                  <a:lnTo>
                    <a:pt x="8447" y="579031"/>
                  </a:lnTo>
                  <a:lnTo>
                    <a:pt x="0" y="537210"/>
                  </a:lnTo>
                  <a:lnTo>
                    <a:pt x="0" y="107442"/>
                  </a:lnTo>
                  <a:close/>
                </a:path>
              </a:pathLst>
            </a:custGeom>
            <a:ln w="12699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195698" y="6288125"/>
            <a:ext cx="76180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46530" marR="5080" indent="-1434465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Note:</a:t>
            </a:r>
            <a:r>
              <a:rPr sz="1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languages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 designed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utilized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interpretation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manner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often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called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0000"/>
                </a:solidFill>
                <a:latin typeface="Calibri"/>
                <a:cs typeface="Calibri"/>
              </a:rPr>
              <a:t>scripting</a:t>
            </a:r>
            <a:r>
              <a:rPr sz="14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Calibri"/>
                <a:cs typeface="Calibri"/>
              </a:rPr>
              <a:t>languages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,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while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source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programs</a:t>
            </a:r>
            <a:r>
              <a:rPr sz="1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encoded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them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called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Calibri"/>
                <a:cs typeface="Calibri"/>
              </a:rPr>
              <a:t>scripts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5" dirty="0"/>
              <a:t> </a:t>
            </a:r>
            <a:r>
              <a:rPr dirty="0"/>
              <a:t>is</a:t>
            </a:r>
            <a:r>
              <a:rPr spc="-20" dirty="0"/>
              <a:t> </a:t>
            </a:r>
            <a:r>
              <a:rPr spc="-10" dirty="0"/>
              <a:t>Python?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15043" y="108204"/>
            <a:ext cx="3000755" cy="330555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0931" y="436863"/>
            <a:ext cx="8883015" cy="123317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26670" algn="just">
              <a:lnSpc>
                <a:spcPct val="100000"/>
              </a:lnSpc>
              <a:spcBef>
                <a:spcPts val="555"/>
              </a:spcBef>
            </a:pPr>
            <a:r>
              <a:rPr sz="1800" dirty="0">
                <a:latin typeface="Calibri"/>
                <a:cs typeface="Calibri"/>
              </a:rPr>
              <a:t>Python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was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created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Guido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Rossum,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born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1956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Haarlem,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Netherlands.</a:t>
            </a:r>
            <a:endParaRPr sz="1800" dirty="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  <a:spcBef>
                <a:spcPts val="290"/>
              </a:spcBef>
            </a:pPr>
            <a:r>
              <a:rPr sz="1100" b="0" i="1" dirty="0">
                <a:latin typeface="Calibri Light"/>
                <a:cs typeface="Calibri Light"/>
              </a:rPr>
              <a:t>In</a:t>
            </a:r>
            <a:r>
              <a:rPr sz="1100" b="0" i="1" spc="-5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December</a:t>
            </a:r>
            <a:r>
              <a:rPr sz="1100" b="0" i="1" spc="-45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1989,</a:t>
            </a:r>
            <a:r>
              <a:rPr sz="1100" b="0" i="1" spc="-5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I</a:t>
            </a:r>
            <a:r>
              <a:rPr sz="1100" b="0" i="1" spc="-20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was</a:t>
            </a:r>
            <a:r>
              <a:rPr sz="1100" b="0" i="1" spc="-15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looking</a:t>
            </a:r>
            <a:r>
              <a:rPr sz="1100" b="0" i="1" spc="-25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for</a:t>
            </a:r>
            <a:r>
              <a:rPr sz="1100" b="0" i="1" spc="-5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a</a:t>
            </a:r>
            <a:r>
              <a:rPr sz="1100" b="0" i="1" spc="-20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"hobby"</a:t>
            </a:r>
            <a:r>
              <a:rPr sz="1100" b="0" i="1" spc="-30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programming</a:t>
            </a:r>
            <a:r>
              <a:rPr sz="1100" b="0" i="1" spc="-15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project</a:t>
            </a:r>
            <a:r>
              <a:rPr sz="1100" b="0" i="1" spc="-25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that</a:t>
            </a:r>
            <a:r>
              <a:rPr sz="1100" b="0" i="1" spc="-15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would</a:t>
            </a:r>
            <a:r>
              <a:rPr sz="1100" b="0" i="1" spc="-15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keep</a:t>
            </a:r>
            <a:r>
              <a:rPr sz="1100" b="0" i="1" spc="-20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me</a:t>
            </a:r>
            <a:r>
              <a:rPr sz="1100" b="0" i="1" spc="-20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occupied</a:t>
            </a:r>
            <a:r>
              <a:rPr sz="1100" b="0" i="1" spc="-30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during</a:t>
            </a:r>
            <a:r>
              <a:rPr sz="1100" b="0" i="1" spc="-15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the</a:t>
            </a:r>
            <a:r>
              <a:rPr sz="1100" b="0" i="1" spc="-10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week</a:t>
            </a:r>
            <a:r>
              <a:rPr sz="1100" b="0" i="1" spc="-25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around</a:t>
            </a:r>
            <a:r>
              <a:rPr sz="1100" b="0" i="1" spc="-5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Christmas.</a:t>
            </a:r>
            <a:r>
              <a:rPr sz="1100" b="0" i="1" spc="-25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My</a:t>
            </a:r>
            <a:r>
              <a:rPr sz="1100" b="0" i="1" spc="-15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office</a:t>
            </a:r>
            <a:r>
              <a:rPr sz="1100" b="0" i="1" spc="-50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(...)</a:t>
            </a:r>
            <a:r>
              <a:rPr sz="1100" b="0" i="1" spc="-35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would</a:t>
            </a:r>
            <a:r>
              <a:rPr sz="1100" b="0" i="1" spc="-20" dirty="0">
                <a:latin typeface="Calibri Light"/>
                <a:cs typeface="Calibri Light"/>
              </a:rPr>
              <a:t> </a:t>
            </a:r>
            <a:r>
              <a:rPr sz="1100" b="0" i="1" spc="-25" dirty="0">
                <a:latin typeface="Calibri Light"/>
                <a:cs typeface="Calibri Light"/>
              </a:rPr>
              <a:t>be </a:t>
            </a:r>
            <a:r>
              <a:rPr sz="1100" b="0" i="1" dirty="0">
                <a:latin typeface="Calibri Light"/>
                <a:cs typeface="Calibri Light"/>
              </a:rPr>
              <a:t>closed,</a:t>
            </a:r>
            <a:r>
              <a:rPr sz="1100" b="0" i="1" spc="-25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but</a:t>
            </a:r>
            <a:r>
              <a:rPr sz="1100" b="0" i="1" spc="-10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I</a:t>
            </a:r>
            <a:r>
              <a:rPr sz="1100" b="0" i="1" spc="-30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had</a:t>
            </a:r>
            <a:r>
              <a:rPr sz="1100" b="0" i="1" spc="-10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a</a:t>
            </a:r>
            <a:r>
              <a:rPr sz="1100" b="0" i="1" spc="-5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home</a:t>
            </a:r>
            <a:r>
              <a:rPr sz="1100" b="0" i="1" spc="-25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computer,</a:t>
            </a:r>
            <a:r>
              <a:rPr sz="1100" b="0" i="1" spc="-20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and</a:t>
            </a:r>
            <a:r>
              <a:rPr sz="1100" b="0" i="1" spc="-15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not</a:t>
            </a:r>
            <a:r>
              <a:rPr sz="1100" b="0" i="1" spc="-10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much</a:t>
            </a:r>
            <a:r>
              <a:rPr sz="1100" b="0" i="1" spc="-20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else</a:t>
            </a:r>
            <a:r>
              <a:rPr sz="1100" b="0" i="1" spc="-35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on</a:t>
            </a:r>
            <a:r>
              <a:rPr sz="1100" b="0" i="1" spc="-10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my</a:t>
            </a:r>
            <a:r>
              <a:rPr sz="1100" b="0" i="1" spc="-20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hands.</a:t>
            </a:r>
            <a:r>
              <a:rPr sz="1100" b="0" i="1" spc="-15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I</a:t>
            </a:r>
            <a:r>
              <a:rPr sz="1100" b="0" i="1" spc="-15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decided</a:t>
            </a:r>
            <a:r>
              <a:rPr sz="1100" b="0" i="1" spc="-25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to</a:t>
            </a:r>
            <a:r>
              <a:rPr sz="1100" b="0" i="1" spc="-10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write</a:t>
            </a:r>
            <a:r>
              <a:rPr sz="1100" b="0" i="1" spc="-30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an</a:t>
            </a:r>
            <a:r>
              <a:rPr sz="1100" b="0" i="1" spc="-10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interpreter</a:t>
            </a:r>
            <a:r>
              <a:rPr sz="1100" b="0" i="1" spc="-25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for</a:t>
            </a:r>
            <a:r>
              <a:rPr sz="1100" b="0" i="1" spc="-25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the</a:t>
            </a:r>
            <a:r>
              <a:rPr sz="1100" b="0" i="1" spc="-10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new</a:t>
            </a:r>
            <a:r>
              <a:rPr sz="1100" b="0" i="1" spc="-25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scripting</a:t>
            </a:r>
            <a:r>
              <a:rPr sz="1100" b="0" i="1" spc="-20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language</a:t>
            </a:r>
            <a:r>
              <a:rPr sz="1100" b="0" i="1" spc="-35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I</a:t>
            </a:r>
            <a:r>
              <a:rPr sz="1100" b="0" i="1" spc="-15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had</a:t>
            </a:r>
            <a:r>
              <a:rPr sz="1100" b="0" i="1" spc="-20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been</a:t>
            </a:r>
            <a:r>
              <a:rPr sz="1100" b="0" i="1" spc="-20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thinking</a:t>
            </a:r>
            <a:r>
              <a:rPr sz="1100" b="0" i="1" spc="-15" dirty="0">
                <a:latin typeface="Calibri Light"/>
                <a:cs typeface="Calibri Light"/>
              </a:rPr>
              <a:t> </a:t>
            </a:r>
            <a:r>
              <a:rPr sz="1100" b="0" i="1" spc="-10" dirty="0">
                <a:latin typeface="Calibri Light"/>
                <a:cs typeface="Calibri Light"/>
              </a:rPr>
              <a:t>about </a:t>
            </a:r>
            <a:r>
              <a:rPr sz="1100" b="0" i="1" dirty="0">
                <a:latin typeface="Calibri Light"/>
                <a:cs typeface="Calibri Light"/>
              </a:rPr>
              <a:t>lately:</a:t>
            </a:r>
            <a:r>
              <a:rPr sz="1100" b="0" i="1" spc="-30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a</a:t>
            </a:r>
            <a:r>
              <a:rPr sz="1100" b="0" i="1" spc="-20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descendant</a:t>
            </a:r>
            <a:r>
              <a:rPr sz="1100" b="0" i="1" spc="-35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of</a:t>
            </a:r>
            <a:r>
              <a:rPr sz="1100" b="0" i="1" spc="-15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ABC</a:t>
            </a:r>
            <a:r>
              <a:rPr sz="1100" b="0" i="1" spc="-15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that</a:t>
            </a:r>
            <a:r>
              <a:rPr sz="1100" b="0" i="1" spc="-10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would</a:t>
            </a:r>
            <a:r>
              <a:rPr sz="1100" b="0" i="1" spc="-25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appeal</a:t>
            </a:r>
            <a:r>
              <a:rPr sz="1100" b="0" i="1" spc="-35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to</a:t>
            </a:r>
            <a:r>
              <a:rPr sz="1100" b="0" i="1" spc="-10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Unix/C</a:t>
            </a:r>
            <a:r>
              <a:rPr sz="1100" b="0" i="1" spc="-15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hackers.</a:t>
            </a:r>
            <a:r>
              <a:rPr sz="1100" b="0" i="1" spc="-30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I</a:t>
            </a:r>
            <a:r>
              <a:rPr sz="1100" b="0" i="1" spc="-15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chose</a:t>
            </a:r>
            <a:r>
              <a:rPr sz="1100" b="0" i="1" spc="-35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Python</a:t>
            </a:r>
            <a:r>
              <a:rPr sz="1100" b="0" i="1" spc="-20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as</a:t>
            </a:r>
            <a:r>
              <a:rPr sz="1100" b="0" i="1" spc="-25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a</a:t>
            </a:r>
            <a:r>
              <a:rPr sz="1100" b="0" i="1" spc="-10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working</a:t>
            </a:r>
            <a:r>
              <a:rPr sz="1100" b="0" i="1" spc="-20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title</a:t>
            </a:r>
            <a:r>
              <a:rPr sz="1100" b="0" i="1" spc="-25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for</a:t>
            </a:r>
            <a:r>
              <a:rPr sz="1100" b="0" i="1" spc="-25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the</a:t>
            </a:r>
            <a:r>
              <a:rPr sz="1100" b="0" i="1" spc="-15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project,</a:t>
            </a:r>
            <a:r>
              <a:rPr sz="1100" b="0" i="1" spc="-20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being</a:t>
            </a:r>
            <a:r>
              <a:rPr sz="1100" b="0" i="1" spc="-20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in</a:t>
            </a:r>
            <a:r>
              <a:rPr sz="1100" b="0" i="1" spc="45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a</a:t>
            </a:r>
            <a:r>
              <a:rPr sz="1100" b="0" i="1" spc="-10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slightly</a:t>
            </a:r>
            <a:r>
              <a:rPr sz="1100" b="0" i="1" spc="-35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irreverent</a:t>
            </a:r>
            <a:r>
              <a:rPr sz="1100" b="0" i="1" spc="-25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mood</a:t>
            </a:r>
            <a:r>
              <a:rPr sz="1100" b="0" i="1" spc="-10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(and</a:t>
            </a:r>
            <a:r>
              <a:rPr sz="1100" b="0" i="1" spc="-30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a</a:t>
            </a:r>
            <a:r>
              <a:rPr sz="1100" b="0" i="1" spc="-15" dirty="0">
                <a:latin typeface="Calibri Light"/>
                <a:cs typeface="Calibri Light"/>
              </a:rPr>
              <a:t> </a:t>
            </a:r>
            <a:r>
              <a:rPr sz="1100" b="0" i="1" spc="-25" dirty="0">
                <a:latin typeface="Calibri Light"/>
                <a:cs typeface="Calibri Light"/>
              </a:rPr>
              <a:t>big </a:t>
            </a:r>
            <a:r>
              <a:rPr sz="1100" b="0" i="1" dirty="0">
                <a:latin typeface="Calibri Light"/>
                <a:cs typeface="Calibri Light"/>
              </a:rPr>
              <a:t>fan</a:t>
            </a:r>
            <a:r>
              <a:rPr sz="1100" b="0" i="1" spc="-20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of</a:t>
            </a:r>
            <a:r>
              <a:rPr sz="1100" b="0" i="1" spc="-25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Monty</a:t>
            </a:r>
            <a:r>
              <a:rPr sz="1100" b="0" i="1" spc="-25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Python's</a:t>
            </a:r>
            <a:r>
              <a:rPr sz="1100" b="0" i="1" spc="-25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Flying</a:t>
            </a:r>
            <a:r>
              <a:rPr sz="1100" b="0" i="1" spc="-15" dirty="0">
                <a:latin typeface="Calibri Light"/>
                <a:cs typeface="Calibri Light"/>
              </a:rPr>
              <a:t> </a:t>
            </a:r>
            <a:r>
              <a:rPr sz="1100" b="0" i="1" spc="-10" dirty="0">
                <a:latin typeface="Calibri Light"/>
                <a:cs typeface="Calibri Light"/>
              </a:rPr>
              <a:t>Circus).</a:t>
            </a:r>
            <a:endParaRPr sz="1100" dirty="0">
              <a:latin typeface="Calibri Light"/>
              <a:cs typeface="Calibri Light"/>
            </a:endParaRPr>
          </a:p>
          <a:p>
            <a:pPr marL="12700" algn="just">
              <a:lnSpc>
                <a:spcPct val="100000"/>
              </a:lnSpc>
            </a:pPr>
            <a:r>
              <a:rPr sz="1100" b="0" i="1" dirty="0">
                <a:latin typeface="Calibri Light"/>
                <a:cs typeface="Calibri Light"/>
              </a:rPr>
              <a:t>Guido</a:t>
            </a:r>
            <a:r>
              <a:rPr sz="1100" b="0" i="1" spc="-20" dirty="0">
                <a:latin typeface="Calibri Light"/>
                <a:cs typeface="Calibri Light"/>
              </a:rPr>
              <a:t> </a:t>
            </a:r>
            <a:r>
              <a:rPr sz="1100" b="0" i="1" dirty="0">
                <a:latin typeface="Calibri Light"/>
                <a:cs typeface="Calibri Light"/>
              </a:rPr>
              <a:t>van</a:t>
            </a:r>
            <a:r>
              <a:rPr sz="1100" b="0" i="1" spc="-25" dirty="0">
                <a:latin typeface="Calibri Light"/>
                <a:cs typeface="Calibri Light"/>
              </a:rPr>
              <a:t> </a:t>
            </a:r>
            <a:r>
              <a:rPr sz="1100" b="0" i="1" spc="-10" dirty="0">
                <a:latin typeface="Calibri Light"/>
                <a:cs typeface="Calibri Light"/>
              </a:rPr>
              <a:t>Rossum</a:t>
            </a:r>
            <a:endParaRPr sz="1100" dirty="0">
              <a:latin typeface="Calibri Light"/>
              <a:cs typeface="Calibri 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027" y="1762760"/>
            <a:ext cx="7802245" cy="1587500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Python</a:t>
            </a:r>
            <a:r>
              <a:rPr sz="1800" b="1" spc="-10" dirty="0">
                <a:solidFill>
                  <a:srgbClr val="4471C4"/>
                </a:solidFill>
                <a:latin typeface="Calibri"/>
                <a:cs typeface="Calibri"/>
              </a:rPr>
              <a:t> goals</a:t>
            </a:r>
            <a:endParaRPr sz="1800">
              <a:latin typeface="Calibri"/>
              <a:cs typeface="Calibri"/>
            </a:endParaRPr>
          </a:p>
          <a:p>
            <a:pPr marL="149225" indent="-88900">
              <a:lnSpc>
                <a:spcPct val="100000"/>
              </a:lnSpc>
              <a:spcBef>
                <a:spcPts val="750"/>
              </a:spcBef>
              <a:buSzPct val="94444"/>
              <a:buFont typeface="Arial"/>
              <a:buChar char="•"/>
              <a:tabLst>
                <a:tab pos="149225" algn="l"/>
              </a:tabLst>
            </a:pPr>
            <a:r>
              <a:rPr sz="1800" dirty="0">
                <a:latin typeface="Calibri"/>
                <a:cs typeface="Calibri"/>
              </a:rPr>
              <a:t>an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easy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and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intuitive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language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just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powerful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those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major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competitors;</a:t>
            </a:r>
            <a:endParaRPr sz="1800">
              <a:latin typeface="Calibri"/>
              <a:cs typeface="Calibri"/>
            </a:endParaRPr>
          </a:p>
          <a:p>
            <a:pPr marL="149225" indent="-88900">
              <a:lnSpc>
                <a:spcPct val="100000"/>
              </a:lnSpc>
              <a:buSzPct val="94444"/>
              <a:buFont typeface="Arial"/>
              <a:buChar char="•"/>
              <a:tabLst>
                <a:tab pos="149225" algn="l"/>
              </a:tabLst>
            </a:pPr>
            <a:r>
              <a:rPr sz="1800" b="1" dirty="0">
                <a:latin typeface="Calibri"/>
                <a:cs typeface="Calibri"/>
              </a:rPr>
              <a:t>open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source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anyone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contribute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development;</a:t>
            </a:r>
            <a:endParaRPr sz="1800">
              <a:latin typeface="Calibri"/>
              <a:cs typeface="Calibri"/>
            </a:endParaRPr>
          </a:p>
          <a:p>
            <a:pPr marL="149225" indent="-88900">
              <a:lnSpc>
                <a:spcPct val="100000"/>
              </a:lnSpc>
              <a:buSzPct val="94444"/>
              <a:buFont typeface="Arial"/>
              <a:buChar char="•"/>
              <a:tabLst>
                <a:tab pos="149225" algn="l"/>
              </a:tabLst>
            </a:pPr>
            <a:r>
              <a:rPr sz="1800" dirty="0">
                <a:latin typeface="Calibri"/>
                <a:cs typeface="Calibri"/>
              </a:rPr>
              <a:t>code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understandable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plain</a:t>
            </a:r>
            <a:r>
              <a:rPr sz="1800" spc="-10" dirty="0">
                <a:latin typeface="Calibri"/>
                <a:cs typeface="Calibri"/>
              </a:rPr>
              <a:t> English;</a:t>
            </a:r>
            <a:endParaRPr sz="1800">
              <a:latin typeface="Calibri"/>
              <a:cs typeface="Calibri"/>
            </a:endParaRPr>
          </a:p>
          <a:p>
            <a:pPr marL="149225" indent="-88900">
              <a:lnSpc>
                <a:spcPct val="100000"/>
              </a:lnSpc>
              <a:spcBef>
                <a:spcPts val="5"/>
              </a:spcBef>
              <a:buSzPct val="94444"/>
              <a:buFont typeface="Arial"/>
              <a:buChar char="•"/>
              <a:tabLst>
                <a:tab pos="149225" algn="l"/>
              </a:tabLst>
            </a:pPr>
            <a:r>
              <a:rPr sz="1800" b="1" dirty="0">
                <a:latin typeface="Calibri"/>
                <a:cs typeface="Calibri"/>
              </a:rPr>
              <a:t>suitable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for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everyday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tasks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allowing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short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development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times.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4939" y="3612642"/>
            <a:ext cx="2743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What</a:t>
            </a:r>
            <a:r>
              <a:rPr sz="1800" b="1" spc="-3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makes</a:t>
            </a:r>
            <a:r>
              <a:rPr sz="1800" b="1" spc="-5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Python</a:t>
            </a:r>
            <a:r>
              <a:rPr sz="1800" b="1" spc="-5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4471C4"/>
                </a:solidFill>
                <a:latin typeface="Calibri"/>
                <a:cs typeface="Calibri"/>
              </a:rPr>
              <a:t>special?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200" y="3963923"/>
            <a:ext cx="3329940" cy="289407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350757" y="3683889"/>
            <a:ext cx="3636645" cy="746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Where</a:t>
            </a:r>
            <a:r>
              <a:rPr sz="1800" b="1" spc="-3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can</a:t>
            </a:r>
            <a:r>
              <a:rPr sz="1800" b="1" spc="-1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we</a:t>
            </a:r>
            <a:r>
              <a:rPr sz="1800" b="1" spc="-3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see</a:t>
            </a:r>
            <a:r>
              <a:rPr sz="1800" b="1" spc="-3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Python</a:t>
            </a:r>
            <a:r>
              <a:rPr sz="1800" b="1" spc="-3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in</a:t>
            </a:r>
            <a:r>
              <a:rPr sz="1800" b="1" spc="-1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4471C4"/>
                </a:solidFill>
                <a:latin typeface="Calibri"/>
                <a:cs typeface="Calibri"/>
              </a:rPr>
              <a:t>action?</a:t>
            </a:r>
            <a:endParaRPr sz="1800">
              <a:latin typeface="Calibri"/>
              <a:cs typeface="Calibri"/>
            </a:endParaRPr>
          </a:p>
          <a:p>
            <a:pPr marL="122555" marR="5080" indent="31750">
              <a:lnSpc>
                <a:spcPct val="100000"/>
              </a:lnSpc>
              <a:spcBef>
                <a:spcPts val="875"/>
              </a:spcBef>
            </a:pPr>
            <a:r>
              <a:rPr sz="1100" dirty="0">
                <a:latin typeface="Calibri"/>
                <a:cs typeface="Calibri"/>
              </a:rPr>
              <a:t>Internet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services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like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search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engines,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cloud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storage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tools, </a:t>
            </a:r>
            <a:r>
              <a:rPr sz="1100" dirty="0">
                <a:latin typeface="Calibri"/>
                <a:cs typeface="Calibri"/>
              </a:rPr>
              <a:t>social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media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so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on.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460993" y="4571746"/>
            <a:ext cx="3551554" cy="8648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Many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developing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tools</a:t>
            </a:r>
            <a:r>
              <a:rPr sz="1100" b="1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are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implemented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Python.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More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and </a:t>
            </a:r>
            <a:r>
              <a:rPr sz="1100" dirty="0">
                <a:latin typeface="Calibri"/>
                <a:cs typeface="Calibri"/>
              </a:rPr>
              <a:t>more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everyday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use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applications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are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being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written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Python. </a:t>
            </a:r>
            <a:r>
              <a:rPr sz="1100" dirty="0">
                <a:latin typeface="Calibri"/>
                <a:cs typeface="Calibri"/>
              </a:rPr>
              <a:t>Lots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scientists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have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abandoned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expensive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proprietary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tools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switched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Python.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Lots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IT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project </a:t>
            </a:r>
            <a:r>
              <a:rPr sz="1100" b="1" dirty="0">
                <a:latin typeface="Calibri"/>
                <a:cs typeface="Calibri"/>
              </a:rPr>
              <a:t>testers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have</a:t>
            </a:r>
            <a:r>
              <a:rPr sz="1100" spc="-10" dirty="0">
                <a:latin typeface="Calibri"/>
                <a:cs typeface="Calibri"/>
              </a:rPr>
              <a:t> started </a:t>
            </a:r>
            <a:r>
              <a:rPr sz="1100" dirty="0">
                <a:latin typeface="Calibri"/>
                <a:cs typeface="Calibri"/>
              </a:rPr>
              <a:t>using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Python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carry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out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repeatable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test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procedures.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89603" y="3674109"/>
            <a:ext cx="329755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Python</a:t>
            </a:r>
            <a:r>
              <a:rPr sz="1800" b="1" spc="-3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has</a:t>
            </a:r>
            <a:r>
              <a:rPr sz="1800" b="1" spc="-2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two</a:t>
            </a:r>
            <a:r>
              <a:rPr sz="1800" b="1" spc="-2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direct</a:t>
            </a:r>
            <a:r>
              <a:rPr sz="1800" b="1" spc="-3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4471C4"/>
                </a:solidFill>
                <a:latin typeface="Calibri"/>
                <a:cs typeface="Calibri"/>
              </a:rPr>
              <a:t>competitors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17163" y="4190238"/>
            <a:ext cx="433070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303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Perl</a:t>
            </a:r>
            <a:r>
              <a:rPr sz="18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-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scripting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language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originally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authored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Larry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Wall;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Ruby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-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scripting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language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originally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authored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Yukihiro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Matsumoto.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4330" y="162001"/>
            <a:ext cx="1677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Python’s</a:t>
            </a:r>
            <a:r>
              <a:rPr spc="-55" dirty="0"/>
              <a:t> </a:t>
            </a:r>
            <a:r>
              <a:rPr spc="-10" dirty="0"/>
              <a:t>versions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313" y="785052"/>
            <a:ext cx="2715841" cy="270128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76200" y="4114800"/>
            <a:ext cx="11867515" cy="2682240"/>
            <a:chOff x="76200" y="4114800"/>
            <a:chExt cx="11867515" cy="268224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200" y="4114800"/>
              <a:ext cx="5952744" cy="196291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5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990844" y="5073396"/>
              <a:ext cx="5952744" cy="172364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154379" y="6273190"/>
            <a:ext cx="3521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http</a:t>
            </a:r>
            <a:r>
              <a:rPr sz="1800" spc="-20" dirty="0">
                <a:latin typeface="Calibri"/>
                <a:cs typeface="Calibri"/>
                <a:hlinkClick r:id="rId6"/>
              </a:rPr>
              <a:t>s://w</a:t>
            </a:r>
            <a:r>
              <a:rPr sz="1800" spc="-20" dirty="0">
                <a:latin typeface="Calibri"/>
                <a:cs typeface="Calibri"/>
              </a:rPr>
              <a:t>ww.p</a:t>
            </a:r>
            <a:r>
              <a:rPr sz="1800" spc="-20" dirty="0">
                <a:latin typeface="Calibri"/>
                <a:cs typeface="Calibri"/>
                <a:hlinkClick r:id="rId6"/>
              </a:rPr>
              <a:t>ython.org/psf-</a:t>
            </a:r>
            <a:r>
              <a:rPr sz="1800" spc="-10" dirty="0">
                <a:latin typeface="Calibri"/>
                <a:cs typeface="Calibri"/>
                <a:hlinkClick r:id="rId6"/>
              </a:rPr>
              <a:t>landing/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4330" y="3644646"/>
            <a:ext cx="504634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937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alibri"/>
                <a:cs typeface="Calibri"/>
              </a:rPr>
              <a:t>maintained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by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people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gathered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around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PSF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(Python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Software Foundation)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04052" y="353059"/>
            <a:ext cx="57677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Guido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van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Rossum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used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"C"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programming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language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implement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very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first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version</a:t>
            </a:r>
            <a:r>
              <a:rPr sz="1200" spc="-25" dirty="0">
                <a:latin typeface="Calibri"/>
                <a:cs typeface="Calibri"/>
              </a:rPr>
              <a:t> of </a:t>
            </a:r>
            <a:r>
              <a:rPr sz="1200" dirty="0">
                <a:latin typeface="Calibri"/>
                <a:cs typeface="Calibri"/>
              </a:rPr>
              <a:t>his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language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this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decision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still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force.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All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Pythons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coming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from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PSF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written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in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"C"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language.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This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why the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PSF</a:t>
            </a:r>
            <a:r>
              <a:rPr sz="1200" spc="-10" dirty="0">
                <a:latin typeface="Calibri"/>
                <a:cs typeface="Calibri"/>
              </a:rPr>
              <a:t> implementation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often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referred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as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CPython</a:t>
            </a:r>
            <a:r>
              <a:rPr sz="1200" spc="-10" dirty="0"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29143" y="1709927"/>
            <a:ext cx="3031236" cy="126949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28788" y="3384803"/>
            <a:ext cx="2631948" cy="14599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09732" y="1386332"/>
            <a:ext cx="2662408" cy="4485373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4203190" y="359283"/>
            <a:ext cx="3077210" cy="671195"/>
            <a:chOff x="4203190" y="359283"/>
            <a:chExt cx="3077210" cy="67119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03190" y="824488"/>
              <a:ext cx="3076196" cy="20536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04715" y="359283"/>
              <a:ext cx="3075559" cy="58839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902309" y="2077592"/>
            <a:ext cx="7449820" cy="304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marR="5080" indent="-285750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99085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fundamentals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computer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programming,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i.e.,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how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computer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works, 	</a:t>
            </a:r>
            <a:r>
              <a:rPr sz="1800" dirty="0">
                <a:latin typeface="Calibri"/>
                <a:cs typeface="Calibri"/>
              </a:rPr>
              <a:t>how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program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executed,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how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programming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language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defined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and 	</a:t>
            </a:r>
            <a:r>
              <a:rPr sz="1800" spc="-10" dirty="0">
                <a:latin typeface="Calibri"/>
                <a:cs typeface="Calibri"/>
              </a:rPr>
              <a:t>constructed;</a:t>
            </a:r>
            <a:endParaRPr sz="18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2160"/>
              </a:spcBef>
              <a:buFont typeface="Wingdings"/>
              <a:buChar char=""/>
              <a:tabLst>
                <a:tab pos="298450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difference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between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compilation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interpretation;</a:t>
            </a:r>
            <a:endParaRPr sz="1800">
              <a:latin typeface="Calibri"/>
              <a:cs typeface="Calibri"/>
            </a:endParaRPr>
          </a:p>
          <a:p>
            <a:pPr marL="297815" marR="318135" indent="-285750">
              <a:lnSpc>
                <a:spcPct val="100000"/>
              </a:lnSpc>
              <a:spcBef>
                <a:spcPts val="2160"/>
              </a:spcBef>
              <a:buFont typeface="Wingdings"/>
              <a:buChar char=""/>
              <a:tabLst>
                <a:tab pos="299085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basic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information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about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Python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how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positioned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among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other 	programming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languages,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what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distinguishes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different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versions;</a:t>
            </a:r>
            <a:endParaRPr sz="1800">
              <a:latin typeface="Calibri"/>
              <a:cs typeface="Calibri"/>
            </a:endParaRPr>
          </a:p>
          <a:p>
            <a:pPr marL="297815" marR="115570" indent="-285750">
              <a:lnSpc>
                <a:spcPct val="100000"/>
              </a:lnSpc>
              <a:spcBef>
                <a:spcPts val="2165"/>
              </a:spcBef>
              <a:buFont typeface="Wingdings"/>
              <a:buChar char=""/>
              <a:tabLst>
                <a:tab pos="299085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study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resources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different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types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interfaces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using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 	</a:t>
            </a:r>
            <a:r>
              <a:rPr sz="1800" spc="-10" dirty="0">
                <a:latin typeface="Calibri"/>
                <a:cs typeface="Calibri"/>
              </a:rPr>
              <a:t>course.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928871" y="4626864"/>
            <a:ext cx="2100072" cy="22311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4388" y="261873"/>
            <a:ext cx="5959475" cy="1121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4471C4"/>
                </a:solidFill>
                <a:latin typeface="Calibri"/>
                <a:cs typeface="Calibri"/>
              </a:rPr>
              <a:t>Literals</a:t>
            </a:r>
            <a:r>
              <a:rPr sz="1800" b="1" spc="-3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-</a:t>
            </a:r>
            <a:r>
              <a:rPr sz="1800" b="1" spc="-1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the</a:t>
            </a:r>
            <a:r>
              <a:rPr sz="1800" b="1" spc="-1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data</a:t>
            </a:r>
            <a:r>
              <a:rPr sz="1800" b="1" spc="-2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in</a:t>
            </a:r>
            <a:r>
              <a:rPr sz="1800" b="1" spc="-1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4471C4"/>
                </a:solidFill>
                <a:latin typeface="Calibri"/>
                <a:cs typeface="Calibri"/>
              </a:rPr>
              <a:t>itself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34600"/>
              </a:lnSpc>
              <a:spcBef>
                <a:spcPts val="650"/>
              </a:spcBef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literal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whose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values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determined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literal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itself. </a:t>
            </a:r>
            <a:r>
              <a:rPr sz="1800" dirty="0">
                <a:latin typeface="Calibri"/>
                <a:cs typeface="Calibri"/>
              </a:rPr>
              <a:t>Example: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123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literal,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not.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03961" y="1546605"/>
            <a:ext cx="9137015" cy="1774825"/>
            <a:chOff x="203961" y="1546605"/>
            <a:chExt cx="9137015" cy="1774825"/>
          </a:xfrm>
        </p:grpSpPr>
        <p:sp>
          <p:nvSpPr>
            <p:cNvPr id="4" name="object 4"/>
            <p:cNvSpPr/>
            <p:nvPr/>
          </p:nvSpPr>
          <p:spPr>
            <a:xfrm>
              <a:off x="210311" y="1552955"/>
              <a:ext cx="9124315" cy="1762125"/>
            </a:xfrm>
            <a:custGeom>
              <a:avLst/>
              <a:gdLst/>
              <a:ahLst/>
              <a:cxnLst/>
              <a:rect l="l" t="t" r="r" b="b"/>
              <a:pathLst>
                <a:path w="9124315" h="1762125">
                  <a:moveTo>
                    <a:pt x="8830564" y="0"/>
                  </a:moveTo>
                  <a:lnTo>
                    <a:pt x="0" y="0"/>
                  </a:lnTo>
                  <a:lnTo>
                    <a:pt x="0" y="1761744"/>
                  </a:lnTo>
                  <a:lnTo>
                    <a:pt x="9124188" y="1761744"/>
                  </a:lnTo>
                  <a:lnTo>
                    <a:pt x="9124188" y="293624"/>
                  </a:lnTo>
                  <a:lnTo>
                    <a:pt x="9120345" y="245993"/>
                  </a:lnTo>
                  <a:lnTo>
                    <a:pt x="9109220" y="200810"/>
                  </a:lnTo>
                  <a:lnTo>
                    <a:pt x="9091417" y="158680"/>
                  </a:lnTo>
                  <a:lnTo>
                    <a:pt x="9067539" y="120207"/>
                  </a:lnTo>
                  <a:lnTo>
                    <a:pt x="9038193" y="85994"/>
                  </a:lnTo>
                  <a:lnTo>
                    <a:pt x="9003980" y="56648"/>
                  </a:lnTo>
                  <a:lnTo>
                    <a:pt x="8965507" y="32770"/>
                  </a:lnTo>
                  <a:lnTo>
                    <a:pt x="8923377" y="14967"/>
                  </a:lnTo>
                  <a:lnTo>
                    <a:pt x="8878194" y="3842"/>
                  </a:lnTo>
                  <a:lnTo>
                    <a:pt x="8830564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10311" y="1552955"/>
              <a:ext cx="9124315" cy="1762125"/>
            </a:xfrm>
            <a:custGeom>
              <a:avLst/>
              <a:gdLst/>
              <a:ahLst/>
              <a:cxnLst/>
              <a:rect l="l" t="t" r="r" b="b"/>
              <a:pathLst>
                <a:path w="9124315" h="1762125">
                  <a:moveTo>
                    <a:pt x="0" y="0"/>
                  </a:moveTo>
                  <a:lnTo>
                    <a:pt x="8830564" y="0"/>
                  </a:lnTo>
                  <a:lnTo>
                    <a:pt x="8878194" y="3842"/>
                  </a:lnTo>
                  <a:lnTo>
                    <a:pt x="8923377" y="14967"/>
                  </a:lnTo>
                  <a:lnTo>
                    <a:pt x="8965507" y="32770"/>
                  </a:lnTo>
                  <a:lnTo>
                    <a:pt x="9003980" y="56648"/>
                  </a:lnTo>
                  <a:lnTo>
                    <a:pt x="9038193" y="85994"/>
                  </a:lnTo>
                  <a:lnTo>
                    <a:pt x="9067539" y="120207"/>
                  </a:lnTo>
                  <a:lnTo>
                    <a:pt x="9091417" y="158680"/>
                  </a:lnTo>
                  <a:lnTo>
                    <a:pt x="9109220" y="200810"/>
                  </a:lnTo>
                  <a:lnTo>
                    <a:pt x="9120345" y="245993"/>
                  </a:lnTo>
                  <a:lnTo>
                    <a:pt x="9124188" y="293624"/>
                  </a:lnTo>
                  <a:lnTo>
                    <a:pt x="9124188" y="1761744"/>
                  </a:lnTo>
                  <a:lnTo>
                    <a:pt x="0" y="1761744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507D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88442" y="2131821"/>
            <a:ext cx="90931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print("2") print(2)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250950" y="1915414"/>
            <a:ext cx="3432810" cy="537210"/>
            <a:chOff x="1250950" y="1915414"/>
            <a:chExt cx="3432810" cy="537210"/>
          </a:xfrm>
        </p:grpSpPr>
        <p:sp>
          <p:nvSpPr>
            <p:cNvPr id="8" name="object 8"/>
            <p:cNvSpPr/>
            <p:nvPr/>
          </p:nvSpPr>
          <p:spPr>
            <a:xfrm>
              <a:off x="1257300" y="1921764"/>
              <a:ext cx="3420110" cy="524510"/>
            </a:xfrm>
            <a:custGeom>
              <a:avLst/>
              <a:gdLst/>
              <a:ahLst/>
              <a:cxnLst/>
              <a:rect l="l" t="t" r="r" b="b"/>
              <a:pathLst>
                <a:path w="3420110" h="524510">
                  <a:moveTo>
                    <a:pt x="262128" y="0"/>
                  </a:moveTo>
                  <a:lnTo>
                    <a:pt x="0" y="262127"/>
                  </a:lnTo>
                  <a:lnTo>
                    <a:pt x="262128" y="524256"/>
                  </a:lnTo>
                  <a:lnTo>
                    <a:pt x="262128" y="393191"/>
                  </a:lnTo>
                  <a:lnTo>
                    <a:pt x="3419855" y="393191"/>
                  </a:lnTo>
                  <a:lnTo>
                    <a:pt x="3419855" y="131063"/>
                  </a:lnTo>
                  <a:lnTo>
                    <a:pt x="262128" y="131063"/>
                  </a:lnTo>
                  <a:lnTo>
                    <a:pt x="26212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57300" y="1921764"/>
              <a:ext cx="3420110" cy="524510"/>
            </a:xfrm>
            <a:custGeom>
              <a:avLst/>
              <a:gdLst/>
              <a:ahLst/>
              <a:cxnLst/>
              <a:rect l="l" t="t" r="r" b="b"/>
              <a:pathLst>
                <a:path w="3420110" h="524510">
                  <a:moveTo>
                    <a:pt x="0" y="262127"/>
                  </a:moveTo>
                  <a:lnTo>
                    <a:pt x="262128" y="0"/>
                  </a:lnTo>
                  <a:lnTo>
                    <a:pt x="262128" y="131063"/>
                  </a:lnTo>
                  <a:lnTo>
                    <a:pt x="3419855" y="131063"/>
                  </a:lnTo>
                  <a:lnTo>
                    <a:pt x="3419855" y="393191"/>
                  </a:lnTo>
                  <a:lnTo>
                    <a:pt x="262128" y="393191"/>
                  </a:lnTo>
                  <a:lnTo>
                    <a:pt x="262128" y="524256"/>
                  </a:lnTo>
                  <a:lnTo>
                    <a:pt x="0" y="262127"/>
                  </a:lnTo>
                  <a:close/>
                </a:path>
              </a:pathLst>
            </a:custGeom>
            <a:ln w="12699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758567" y="2019046"/>
            <a:ext cx="548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string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250950" y="2416810"/>
            <a:ext cx="3432810" cy="537210"/>
            <a:chOff x="1250950" y="2416810"/>
            <a:chExt cx="3432810" cy="537210"/>
          </a:xfrm>
        </p:grpSpPr>
        <p:sp>
          <p:nvSpPr>
            <p:cNvPr id="12" name="object 12"/>
            <p:cNvSpPr/>
            <p:nvPr/>
          </p:nvSpPr>
          <p:spPr>
            <a:xfrm>
              <a:off x="1257300" y="2423160"/>
              <a:ext cx="3420110" cy="524510"/>
            </a:xfrm>
            <a:custGeom>
              <a:avLst/>
              <a:gdLst/>
              <a:ahLst/>
              <a:cxnLst/>
              <a:rect l="l" t="t" r="r" b="b"/>
              <a:pathLst>
                <a:path w="3420110" h="524510">
                  <a:moveTo>
                    <a:pt x="262128" y="0"/>
                  </a:moveTo>
                  <a:lnTo>
                    <a:pt x="0" y="262127"/>
                  </a:lnTo>
                  <a:lnTo>
                    <a:pt x="262128" y="524255"/>
                  </a:lnTo>
                  <a:lnTo>
                    <a:pt x="262128" y="393191"/>
                  </a:lnTo>
                  <a:lnTo>
                    <a:pt x="3419855" y="393191"/>
                  </a:lnTo>
                  <a:lnTo>
                    <a:pt x="3419855" y="131063"/>
                  </a:lnTo>
                  <a:lnTo>
                    <a:pt x="262128" y="131063"/>
                  </a:lnTo>
                  <a:lnTo>
                    <a:pt x="26212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57300" y="2423160"/>
              <a:ext cx="3420110" cy="524510"/>
            </a:xfrm>
            <a:custGeom>
              <a:avLst/>
              <a:gdLst/>
              <a:ahLst/>
              <a:cxnLst/>
              <a:rect l="l" t="t" r="r" b="b"/>
              <a:pathLst>
                <a:path w="3420110" h="524510">
                  <a:moveTo>
                    <a:pt x="0" y="262127"/>
                  </a:moveTo>
                  <a:lnTo>
                    <a:pt x="262128" y="0"/>
                  </a:lnTo>
                  <a:lnTo>
                    <a:pt x="262128" y="131063"/>
                  </a:lnTo>
                  <a:lnTo>
                    <a:pt x="3419855" y="131063"/>
                  </a:lnTo>
                  <a:lnTo>
                    <a:pt x="3419855" y="393191"/>
                  </a:lnTo>
                  <a:lnTo>
                    <a:pt x="262128" y="393191"/>
                  </a:lnTo>
                  <a:lnTo>
                    <a:pt x="262128" y="524255"/>
                  </a:lnTo>
                  <a:lnTo>
                    <a:pt x="0" y="262127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292223" y="2520822"/>
            <a:ext cx="14833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Literal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Integer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0868" y="3506851"/>
            <a:ext cx="774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Integers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368300" y="3851275"/>
          <a:ext cx="11555730" cy="7410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77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78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English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Python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  <a:tabLst>
                          <a:tab pos="1447165" algn="l"/>
                          <a:tab pos="2854960" algn="l"/>
                        </a:tabLst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11,111,111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11.111.111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	11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111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111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  <a:tabLst>
                          <a:tab pos="1437005" algn="l"/>
                          <a:tab pos="2907030" algn="l"/>
                        </a:tabLst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11111111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11_111_111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	+or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11_111_111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340868" y="4760976"/>
            <a:ext cx="9163050" cy="134620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1800" spc="-10" dirty="0">
                <a:latin typeface="Calibri"/>
                <a:cs typeface="Calibri"/>
              </a:rPr>
              <a:t>Integers: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octal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hexadecimal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numbers</a:t>
            </a:r>
            <a:endParaRPr sz="1800">
              <a:latin typeface="Calibri"/>
              <a:cs typeface="Calibri"/>
            </a:endParaRPr>
          </a:p>
          <a:p>
            <a:pPr marL="55244" marR="5080">
              <a:lnSpc>
                <a:spcPct val="100000"/>
              </a:lnSpc>
              <a:spcBef>
                <a:spcPts val="495"/>
              </a:spcBef>
            </a:pPr>
            <a:r>
              <a:rPr sz="1800" dirty="0">
                <a:latin typeface="Calibri"/>
                <a:cs typeface="Calibri"/>
              </a:rPr>
              <a:t>If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integer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number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preceded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prefix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(zero-</a:t>
            </a:r>
            <a:r>
              <a:rPr sz="1800" dirty="0">
                <a:latin typeface="Calibri"/>
                <a:cs typeface="Calibri"/>
              </a:rPr>
              <a:t>o),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treated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octal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value. </a:t>
            </a:r>
            <a:r>
              <a:rPr sz="1800" dirty="0">
                <a:latin typeface="Calibri"/>
                <a:cs typeface="Calibri"/>
              </a:rPr>
              <a:t>0o123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octal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number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(decimal)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value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equal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83</a:t>
            </a:r>
            <a:endParaRPr sz="1800">
              <a:latin typeface="Calibri"/>
              <a:cs typeface="Calibri"/>
            </a:endParaRPr>
          </a:p>
          <a:p>
            <a:pPr marL="55244">
              <a:lnSpc>
                <a:spcPct val="100000"/>
              </a:lnSpc>
              <a:spcBef>
                <a:spcPts val="770"/>
              </a:spcBef>
            </a:pPr>
            <a:r>
              <a:rPr sz="1800" dirty="0">
                <a:latin typeface="Calibri"/>
                <a:cs typeface="Calibri"/>
              </a:rPr>
              <a:t>If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0x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0X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(zero-</a:t>
            </a:r>
            <a:r>
              <a:rPr sz="1800" dirty="0">
                <a:latin typeface="Calibri"/>
                <a:cs typeface="Calibri"/>
              </a:rPr>
              <a:t>x).</a:t>
            </a:r>
            <a:r>
              <a:rPr sz="1800" spc="3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0x123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10" dirty="0">
                <a:latin typeface="Calibri"/>
                <a:cs typeface="Calibri"/>
              </a:rPr>
              <a:t> hexadecimal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number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 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(decimal) value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equal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291.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-77342"/>
            <a:ext cx="10381615" cy="4064635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1800" b="1" spc="-10" dirty="0">
                <a:solidFill>
                  <a:srgbClr val="4471C4"/>
                </a:solidFill>
                <a:latin typeface="Calibri"/>
                <a:cs typeface="Calibri"/>
              </a:rPr>
              <a:t>Floats</a:t>
            </a:r>
            <a:endParaRPr sz="1800">
              <a:latin typeface="Calibri"/>
              <a:cs typeface="Calibri"/>
            </a:endParaRPr>
          </a:p>
          <a:p>
            <a:pPr marL="138430">
              <a:lnSpc>
                <a:spcPct val="100000"/>
              </a:lnSpc>
              <a:spcBef>
                <a:spcPts val="750"/>
              </a:spcBef>
              <a:tabLst>
                <a:tab pos="1342390" algn="l"/>
                <a:tab pos="1945639" algn="l"/>
                <a:tab pos="2379345" algn="l"/>
              </a:tabLst>
            </a:pPr>
            <a:r>
              <a:rPr sz="1800" dirty="0">
                <a:latin typeface="Calibri"/>
                <a:cs typeface="Calibri"/>
              </a:rPr>
              <a:t>In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Python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25" dirty="0">
                <a:latin typeface="Calibri"/>
                <a:cs typeface="Calibri"/>
              </a:rPr>
              <a:t>0.4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25" dirty="0">
                <a:latin typeface="Calibri"/>
                <a:cs typeface="Calibri"/>
              </a:rPr>
              <a:t>.4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25" dirty="0">
                <a:latin typeface="Calibri"/>
                <a:cs typeface="Calibri"/>
              </a:rPr>
              <a:t>4.</a:t>
            </a:r>
            <a:endParaRPr sz="1800">
              <a:latin typeface="Calibri"/>
              <a:cs typeface="Calibri"/>
            </a:endParaRPr>
          </a:p>
          <a:p>
            <a:pPr marL="2234565" marR="1104265" indent="-2222500">
              <a:lnSpc>
                <a:spcPct val="166000"/>
              </a:lnSpc>
              <a:spcBef>
                <a:spcPts val="780"/>
              </a:spcBef>
            </a:pPr>
            <a:r>
              <a:rPr sz="1800" dirty="0">
                <a:latin typeface="Calibri"/>
                <a:cs typeface="Calibri"/>
              </a:rPr>
              <a:t>When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want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numbers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very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large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very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small,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scientific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notation </a:t>
            </a:r>
            <a:r>
              <a:rPr sz="1800" spc="-50" dirty="0">
                <a:latin typeface="Calibri"/>
                <a:cs typeface="Calibri"/>
              </a:rPr>
              <a:t>8</a:t>
            </a:r>
            <a:endParaRPr sz="1800">
              <a:latin typeface="Calibri"/>
              <a:cs typeface="Calibri"/>
            </a:endParaRPr>
          </a:p>
          <a:p>
            <a:pPr marL="138430">
              <a:lnSpc>
                <a:spcPts val="1455"/>
              </a:lnSpc>
              <a:tabLst>
                <a:tab pos="1701164" algn="l"/>
              </a:tabLst>
            </a:pPr>
            <a:r>
              <a:rPr sz="1800" spc="-10" dirty="0">
                <a:latin typeface="Calibri"/>
                <a:cs typeface="Calibri"/>
              </a:rPr>
              <a:t>300000000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=</a:t>
            </a:r>
            <a:r>
              <a:rPr sz="1800" dirty="0">
                <a:latin typeface="Calibri"/>
                <a:cs typeface="Calibri"/>
              </a:rPr>
              <a:t>	3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x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10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1800">
              <a:latin typeface="Calibri"/>
              <a:cs typeface="Calibri"/>
            </a:endParaRPr>
          </a:p>
          <a:p>
            <a:pPr marL="138430">
              <a:lnSpc>
                <a:spcPct val="100000"/>
              </a:lnSpc>
            </a:pPr>
            <a:r>
              <a:rPr sz="1800" b="1" spc="-10" dirty="0">
                <a:solidFill>
                  <a:srgbClr val="4471C4"/>
                </a:solidFill>
                <a:latin typeface="Calibri"/>
                <a:cs typeface="Calibri"/>
              </a:rPr>
              <a:t>Strings</a:t>
            </a:r>
            <a:endParaRPr sz="1800">
              <a:latin typeface="Calibri"/>
              <a:cs typeface="Calibri"/>
            </a:endParaRPr>
          </a:p>
          <a:p>
            <a:pPr marL="290830" marR="5080" indent="-76200">
              <a:lnSpc>
                <a:spcPts val="3979"/>
              </a:lnSpc>
              <a:spcBef>
                <a:spcPts val="40"/>
              </a:spcBef>
              <a:tabLst>
                <a:tab pos="1346200" algn="l"/>
              </a:tabLst>
            </a:pPr>
            <a:r>
              <a:rPr sz="1800" dirty="0">
                <a:latin typeface="Calibri"/>
                <a:cs typeface="Calibri"/>
              </a:rPr>
              <a:t>Strings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when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need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process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text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(like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names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kinds,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addresses,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novels,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etc.),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numbers. </a:t>
            </a:r>
            <a:r>
              <a:rPr sz="1800" dirty="0">
                <a:latin typeface="Calibri"/>
                <a:cs typeface="Calibri"/>
              </a:rPr>
              <a:t>Example</a:t>
            </a:r>
            <a:r>
              <a:rPr sz="1800" spc="-10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:</a:t>
            </a:r>
            <a:r>
              <a:rPr sz="1800" dirty="0">
                <a:latin typeface="Calibri"/>
                <a:cs typeface="Calibri"/>
              </a:rPr>
              <a:t>	"I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am 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string."</a:t>
            </a:r>
            <a:endParaRPr sz="1800">
              <a:latin typeface="Calibri"/>
              <a:cs typeface="Calibri"/>
            </a:endParaRPr>
          </a:p>
          <a:p>
            <a:pPr marL="357505">
              <a:lnSpc>
                <a:spcPct val="100000"/>
              </a:lnSpc>
              <a:spcBef>
                <a:spcPts val="1380"/>
              </a:spcBef>
              <a:tabLst>
                <a:tab pos="2130425" algn="l"/>
                <a:tab pos="2447290" algn="l"/>
                <a:tab pos="2997835" algn="l"/>
              </a:tabLst>
            </a:pPr>
            <a:r>
              <a:rPr sz="1800" dirty="0">
                <a:latin typeface="Calibri"/>
                <a:cs typeface="Calibri"/>
              </a:rPr>
              <a:t>How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print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this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50" dirty="0">
                <a:latin typeface="Calibri"/>
                <a:cs typeface="Calibri"/>
              </a:rPr>
              <a:t>?</a:t>
            </a:r>
            <a:r>
              <a:rPr sz="1800" dirty="0">
                <a:latin typeface="Calibri"/>
                <a:cs typeface="Calibri"/>
              </a:rPr>
              <a:t>	-</a:t>
            </a:r>
            <a:r>
              <a:rPr sz="1800" spc="-50" dirty="0">
                <a:latin typeface="Calibri"/>
                <a:cs typeface="Calibri"/>
              </a:rPr>
              <a:t>&gt;</a:t>
            </a:r>
            <a:r>
              <a:rPr sz="1800" dirty="0">
                <a:latin typeface="Calibri"/>
                <a:cs typeface="Calibri"/>
              </a:rPr>
              <a:t>	I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like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"Monty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Python"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101595" y="4024884"/>
            <a:ext cx="4556760" cy="684530"/>
          </a:xfrm>
          <a:custGeom>
            <a:avLst/>
            <a:gdLst/>
            <a:ahLst/>
            <a:cxnLst/>
            <a:rect l="l" t="t" r="r" b="b"/>
            <a:pathLst>
              <a:path w="4556759" h="684529">
                <a:moveTo>
                  <a:pt x="0" y="684276"/>
                </a:moveTo>
                <a:lnTo>
                  <a:pt x="1505" y="605821"/>
                </a:lnTo>
                <a:lnTo>
                  <a:pt x="5795" y="533804"/>
                </a:lnTo>
                <a:lnTo>
                  <a:pt x="12526" y="470278"/>
                </a:lnTo>
                <a:lnTo>
                  <a:pt x="21356" y="417296"/>
                </a:lnTo>
                <a:lnTo>
                  <a:pt x="31944" y="376910"/>
                </a:lnTo>
                <a:lnTo>
                  <a:pt x="57023" y="342138"/>
                </a:lnTo>
                <a:lnTo>
                  <a:pt x="2221357" y="342138"/>
                </a:lnTo>
                <a:lnTo>
                  <a:pt x="2234432" y="333102"/>
                </a:lnTo>
                <a:lnTo>
                  <a:pt x="2257023" y="266979"/>
                </a:lnTo>
                <a:lnTo>
                  <a:pt x="2265853" y="213997"/>
                </a:lnTo>
                <a:lnTo>
                  <a:pt x="2272584" y="150471"/>
                </a:lnTo>
                <a:lnTo>
                  <a:pt x="2276874" y="78454"/>
                </a:lnTo>
                <a:lnTo>
                  <a:pt x="2278380" y="0"/>
                </a:lnTo>
                <a:lnTo>
                  <a:pt x="2279885" y="78454"/>
                </a:lnTo>
                <a:lnTo>
                  <a:pt x="2284175" y="150471"/>
                </a:lnTo>
                <a:lnTo>
                  <a:pt x="2290906" y="213997"/>
                </a:lnTo>
                <a:lnTo>
                  <a:pt x="2299736" y="266979"/>
                </a:lnTo>
                <a:lnTo>
                  <a:pt x="2310324" y="307365"/>
                </a:lnTo>
                <a:lnTo>
                  <a:pt x="2335403" y="342138"/>
                </a:lnTo>
                <a:lnTo>
                  <a:pt x="4499736" y="342138"/>
                </a:lnTo>
                <a:lnTo>
                  <a:pt x="4512812" y="351173"/>
                </a:lnTo>
                <a:lnTo>
                  <a:pt x="4535403" y="417296"/>
                </a:lnTo>
                <a:lnTo>
                  <a:pt x="4544233" y="470278"/>
                </a:lnTo>
                <a:lnTo>
                  <a:pt x="4550964" y="533804"/>
                </a:lnTo>
                <a:lnTo>
                  <a:pt x="4555254" y="605821"/>
                </a:lnTo>
                <a:lnTo>
                  <a:pt x="4556759" y="684276"/>
                </a:lnTo>
              </a:path>
            </a:pathLst>
          </a:custGeom>
          <a:ln w="635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9946" y="4729812"/>
            <a:ext cx="3692525" cy="853440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744855">
              <a:lnSpc>
                <a:spcPct val="100000"/>
              </a:lnSpc>
              <a:spcBef>
                <a:spcPts val="1200"/>
              </a:spcBef>
            </a:pPr>
            <a:r>
              <a:rPr sz="1800" dirty="0">
                <a:latin typeface="Calibri"/>
                <a:cs typeface="Calibri"/>
              </a:rPr>
              <a:t>print("I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like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EC7C30"/>
                </a:solidFill>
                <a:latin typeface="Calibri"/>
                <a:cs typeface="Calibri"/>
              </a:rPr>
              <a:t>\</a:t>
            </a:r>
            <a:r>
              <a:rPr sz="1800" dirty="0">
                <a:latin typeface="Calibri"/>
                <a:cs typeface="Calibri"/>
              </a:rPr>
              <a:t>"Monty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Python</a:t>
            </a:r>
            <a:r>
              <a:rPr sz="1800" spc="-10" dirty="0">
                <a:solidFill>
                  <a:srgbClr val="EC7C30"/>
                </a:solidFill>
                <a:latin typeface="Calibri"/>
                <a:cs typeface="Calibri"/>
              </a:rPr>
              <a:t>\</a:t>
            </a:r>
            <a:r>
              <a:rPr sz="1800" spc="-10" dirty="0">
                <a:latin typeface="Calibri"/>
                <a:cs typeface="Calibri"/>
              </a:rPr>
              <a:t>"")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Boolean</a:t>
            </a:r>
            <a:r>
              <a:rPr sz="1800" b="1" spc="-1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4471C4"/>
                </a:solidFill>
                <a:latin typeface="Calibri"/>
                <a:cs typeface="Calibri"/>
              </a:rPr>
              <a:t>values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01385" y="4858257"/>
            <a:ext cx="2701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print(</a:t>
            </a:r>
            <a:r>
              <a:rPr sz="1800" dirty="0">
                <a:solidFill>
                  <a:srgbClr val="EC7C30"/>
                </a:solidFill>
                <a:latin typeface="Calibri"/>
                <a:cs typeface="Calibri"/>
              </a:rPr>
              <a:t>'</a:t>
            </a:r>
            <a:r>
              <a:rPr sz="1800" dirty="0">
                <a:latin typeface="Calibri"/>
                <a:cs typeface="Calibri"/>
              </a:rPr>
              <a:t>I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like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"Monty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Python"</a:t>
            </a:r>
            <a:r>
              <a:rPr sz="1800" spc="-10" dirty="0">
                <a:solidFill>
                  <a:srgbClr val="EC7C30"/>
                </a:solidFill>
                <a:latin typeface="Calibri"/>
                <a:cs typeface="Calibri"/>
              </a:rPr>
              <a:t>'</a:t>
            </a:r>
            <a:r>
              <a:rPr sz="1800" spc="-10" dirty="0"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023543" y="5662180"/>
          <a:ext cx="8128000" cy="11118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English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Python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Yes,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this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true;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True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No,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this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false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False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39" y="109473"/>
            <a:ext cx="3706495" cy="1631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What</a:t>
            </a:r>
            <a:r>
              <a:rPr sz="1800" b="1" spc="-4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are</a:t>
            </a:r>
            <a:r>
              <a:rPr sz="1800" b="1" spc="-5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4471C4"/>
                </a:solidFill>
                <a:latin typeface="Calibri"/>
                <a:cs typeface="Calibri"/>
              </a:rPr>
              <a:t>variables?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sz="1800" dirty="0">
                <a:latin typeface="Calibri"/>
                <a:cs typeface="Calibri"/>
              </a:rPr>
              <a:t>What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every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Python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variable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have?</a:t>
            </a:r>
            <a:endParaRPr sz="1800">
              <a:latin typeface="Calibri"/>
              <a:cs typeface="Calibri"/>
            </a:endParaRPr>
          </a:p>
          <a:p>
            <a:pPr marL="220979">
              <a:lnSpc>
                <a:spcPct val="100000"/>
              </a:lnSpc>
              <a:spcBef>
                <a:spcPts val="2155"/>
              </a:spcBef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name;</a:t>
            </a:r>
            <a:endParaRPr sz="1800">
              <a:latin typeface="Calibri"/>
              <a:cs typeface="Calibri"/>
            </a:endParaRPr>
          </a:p>
          <a:p>
            <a:pPr marL="220979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value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content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container)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59597" y="101598"/>
            <a:ext cx="2969898" cy="273253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81000" y="2010154"/>
            <a:ext cx="9144000" cy="4756785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endParaRPr sz="18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want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give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name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variable,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must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follow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some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strict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rules:</a:t>
            </a:r>
            <a:endParaRPr sz="1800">
              <a:latin typeface="Calibri"/>
              <a:cs typeface="Calibri"/>
            </a:endParaRPr>
          </a:p>
          <a:p>
            <a:pPr marL="434340" marR="244475" indent="-342900">
              <a:lnSpc>
                <a:spcPct val="100000"/>
              </a:lnSpc>
              <a:spcBef>
                <a:spcPts val="2160"/>
              </a:spcBef>
              <a:buAutoNum type="arabicPeriod"/>
              <a:tabLst>
                <a:tab pos="434340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name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variable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must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composed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upper-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case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lower-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case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letters,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digits,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and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character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_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(underscore)</a:t>
            </a:r>
            <a:endParaRPr sz="1800">
              <a:latin typeface="Calibri"/>
              <a:cs typeface="Calibri"/>
            </a:endParaRPr>
          </a:p>
          <a:p>
            <a:pPr marL="433705" indent="-342265">
              <a:lnSpc>
                <a:spcPct val="100000"/>
              </a:lnSpc>
              <a:buAutoNum type="arabicPeriod"/>
              <a:tabLst>
                <a:tab pos="433705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name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variable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must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begin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letter;</a:t>
            </a:r>
            <a:endParaRPr sz="1800">
              <a:latin typeface="Calibri"/>
              <a:cs typeface="Calibri"/>
            </a:endParaRPr>
          </a:p>
          <a:p>
            <a:pPr marL="433705" indent="-342265">
              <a:lnSpc>
                <a:spcPct val="100000"/>
              </a:lnSpc>
              <a:buAutoNum type="arabicPeriod"/>
              <a:tabLst>
                <a:tab pos="433705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underscore character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is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letter;</a:t>
            </a:r>
            <a:endParaRPr sz="1800">
              <a:latin typeface="Calibri"/>
              <a:cs typeface="Calibri"/>
            </a:endParaRPr>
          </a:p>
          <a:p>
            <a:pPr marL="434340" marR="589915" indent="-342900">
              <a:lnSpc>
                <a:spcPct val="100000"/>
              </a:lnSpc>
              <a:buAutoNum type="arabicPeriod"/>
              <a:tabLst>
                <a:tab pos="434340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upper-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lower-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case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letters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treated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different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(a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little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differently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than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real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world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Alice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ALICE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same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first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names,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but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Python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they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two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different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variable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names,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consequently,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two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different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variables);</a:t>
            </a:r>
            <a:endParaRPr sz="1800">
              <a:latin typeface="Calibri"/>
              <a:cs typeface="Calibri"/>
            </a:endParaRPr>
          </a:p>
          <a:p>
            <a:pPr marL="433705" indent="-342265">
              <a:lnSpc>
                <a:spcPct val="100000"/>
              </a:lnSpc>
              <a:buAutoNum type="arabicPeriod"/>
              <a:tabLst>
                <a:tab pos="433705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name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variable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must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any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Python's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words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(the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keywords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we'll</a:t>
            </a:r>
            <a:endParaRPr sz="1800">
              <a:latin typeface="Calibri"/>
              <a:cs typeface="Calibri"/>
            </a:endParaRPr>
          </a:p>
          <a:p>
            <a:pPr marL="43434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explain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more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about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soon).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1528" y="124459"/>
            <a:ext cx="11282045" cy="4822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Correct</a:t>
            </a:r>
            <a:r>
              <a:rPr sz="1800" b="1" spc="-5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and</a:t>
            </a:r>
            <a:r>
              <a:rPr sz="1800" b="1" spc="-5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incorrect</a:t>
            </a:r>
            <a:r>
              <a:rPr sz="1800" b="1" spc="-6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variable</a:t>
            </a:r>
            <a:r>
              <a:rPr sz="1800" b="1" spc="-7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4471C4"/>
                </a:solidFill>
                <a:latin typeface="Calibri"/>
                <a:cs typeface="Calibri"/>
              </a:rPr>
              <a:t>names</a:t>
            </a:r>
            <a:endParaRPr sz="1800">
              <a:latin typeface="Calibri"/>
              <a:cs typeface="Calibri"/>
            </a:endParaRPr>
          </a:p>
          <a:p>
            <a:pPr marL="182880">
              <a:lnSpc>
                <a:spcPct val="100000"/>
              </a:lnSpc>
              <a:spcBef>
                <a:spcPts val="1525"/>
              </a:spcBef>
            </a:pPr>
            <a:r>
              <a:rPr sz="1800" dirty="0">
                <a:solidFill>
                  <a:srgbClr val="EC7C30"/>
                </a:solidFill>
                <a:latin typeface="Calibri"/>
                <a:cs typeface="Calibri"/>
              </a:rPr>
              <a:t>Here</a:t>
            </a:r>
            <a:r>
              <a:rPr sz="1800" spc="-3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EC7C30"/>
                </a:solidFill>
                <a:latin typeface="Calibri"/>
                <a:cs typeface="Calibri"/>
              </a:rPr>
              <a:t>are</a:t>
            </a:r>
            <a:r>
              <a:rPr sz="1800" spc="-3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EC7C30"/>
                </a:solidFill>
                <a:latin typeface="Calibri"/>
                <a:cs typeface="Calibri"/>
              </a:rPr>
              <a:t>some</a:t>
            </a:r>
            <a:r>
              <a:rPr sz="1800" spc="-5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EC7C30"/>
                </a:solidFill>
                <a:latin typeface="Calibri"/>
                <a:cs typeface="Calibri"/>
              </a:rPr>
              <a:t>correct,</a:t>
            </a:r>
            <a:r>
              <a:rPr sz="1800" spc="-4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EC7C30"/>
                </a:solidFill>
                <a:latin typeface="Calibri"/>
                <a:cs typeface="Calibri"/>
              </a:rPr>
              <a:t>but</a:t>
            </a:r>
            <a:r>
              <a:rPr sz="1800" spc="-4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EC7C30"/>
                </a:solidFill>
                <a:latin typeface="Calibri"/>
                <a:cs typeface="Calibri"/>
              </a:rPr>
              <a:t>not</a:t>
            </a:r>
            <a:r>
              <a:rPr sz="1800" spc="-3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EC7C30"/>
                </a:solidFill>
                <a:latin typeface="Calibri"/>
                <a:cs typeface="Calibri"/>
              </a:rPr>
              <a:t>always</a:t>
            </a:r>
            <a:r>
              <a:rPr sz="1800" spc="-5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EC7C30"/>
                </a:solidFill>
                <a:latin typeface="Calibri"/>
                <a:cs typeface="Calibri"/>
              </a:rPr>
              <a:t>convenient</a:t>
            </a:r>
            <a:r>
              <a:rPr sz="1800" spc="-5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EC7C30"/>
                </a:solidFill>
                <a:latin typeface="Calibri"/>
                <a:cs typeface="Calibri"/>
              </a:rPr>
              <a:t>variable</a:t>
            </a:r>
            <a:r>
              <a:rPr sz="1800" spc="-3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EC7C30"/>
                </a:solidFill>
                <a:latin typeface="Calibri"/>
                <a:cs typeface="Calibri"/>
              </a:rPr>
              <a:t>names:</a:t>
            </a:r>
            <a:endParaRPr sz="1800">
              <a:latin typeface="Calibri"/>
              <a:cs typeface="Calibri"/>
            </a:endParaRPr>
          </a:p>
          <a:p>
            <a:pPr marL="263525" marR="151765" indent="-81280">
              <a:lnSpc>
                <a:spcPts val="4780"/>
              </a:lnSpc>
              <a:spcBef>
                <a:spcPts val="135"/>
              </a:spcBef>
            </a:pPr>
            <a:r>
              <a:rPr sz="1800" spc="-10" dirty="0">
                <a:latin typeface="Calibri"/>
                <a:cs typeface="Calibri"/>
              </a:rPr>
              <a:t>MyVariable,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i,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t34,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Exchange_Rate,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counter,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days_to_christmas, </a:t>
            </a:r>
            <a:r>
              <a:rPr sz="1800" spc="-20" dirty="0">
                <a:latin typeface="Calibri"/>
                <a:cs typeface="Calibri"/>
              </a:rPr>
              <a:t>TheNameIsSoLongThatYouWillMakeMistakesWithIt,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_. </a:t>
            </a:r>
            <a:r>
              <a:rPr sz="1800" dirty="0">
                <a:solidFill>
                  <a:srgbClr val="EC7C30"/>
                </a:solidFill>
                <a:latin typeface="Calibri"/>
                <a:cs typeface="Calibri"/>
              </a:rPr>
              <a:t>These</a:t>
            </a:r>
            <a:r>
              <a:rPr sz="1800" spc="-3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EC7C30"/>
                </a:solidFill>
                <a:latin typeface="Calibri"/>
                <a:cs typeface="Calibri"/>
              </a:rPr>
              <a:t>variable</a:t>
            </a:r>
            <a:r>
              <a:rPr sz="1800" spc="-4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EC7C30"/>
                </a:solidFill>
                <a:latin typeface="Calibri"/>
                <a:cs typeface="Calibri"/>
              </a:rPr>
              <a:t>names</a:t>
            </a:r>
            <a:r>
              <a:rPr sz="1800" spc="-4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EC7C30"/>
                </a:solidFill>
                <a:latin typeface="Calibri"/>
                <a:cs typeface="Calibri"/>
              </a:rPr>
              <a:t>are</a:t>
            </a:r>
            <a:r>
              <a:rPr sz="1800" spc="-4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EC7C30"/>
                </a:solidFill>
                <a:latin typeface="Calibri"/>
                <a:cs typeface="Calibri"/>
              </a:rPr>
              <a:t>also</a:t>
            </a:r>
            <a:r>
              <a:rPr sz="1800" spc="-4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EC7C30"/>
                </a:solidFill>
                <a:latin typeface="Calibri"/>
                <a:cs typeface="Calibri"/>
              </a:rPr>
              <a:t>correct:</a:t>
            </a:r>
            <a:endParaRPr sz="1800">
              <a:latin typeface="Calibri"/>
              <a:cs typeface="Calibri"/>
            </a:endParaRPr>
          </a:p>
          <a:p>
            <a:pPr marL="263525">
              <a:lnSpc>
                <a:spcPct val="100000"/>
              </a:lnSpc>
              <a:spcBef>
                <a:spcPts val="1565"/>
              </a:spcBef>
            </a:pPr>
            <a:r>
              <a:rPr sz="1800" spc="-10" dirty="0">
                <a:latin typeface="Calibri"/>
                <a:cs typeface="Calibri"/>
              </a:rPr>
              <a:t>Adiós_Señora,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sûr_la_mer,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Einbahnstraße,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переменная.</a:t>
            </a:r>
            <a:endParaRPr sz="1800">
              <a:latin typeface="Calibri"/>
              <a:cs typeface="Calibri"/>
            </a:endParaRPr>
          </a:p>
          <a:p>
            <a:pPr marL="315595">
              <a:lnSpc>
                <a:spcPct val="100000"/>
              </a:lnSpc>
              <a:spcBef>
                <a:spcPts val="2175"/>
              </a:spcBef>
            </a:pPr>
            <a:r>
              <a:rPr sz="1800" dirty="0">
                <a:solidFill>
                  <a:srgbClr val="EC7C30"/>
                </a:solidFill>
                <a:latin typeface="Calibri"/>
                <a:cs typeface="Calibri"/>
              </a:rPr>
              <a:t>incorrect</a:t>
            </a:r>
            <a:r>
              <a:rPr sz="1800" spc="-8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EC7C30"/>
                </a:solidFill>
                <a:latin typeface="Calibri"/>
                <a:cs typeface="Calibri"/>
              </a:rPr>
              <a:t>names:</a:t>
            </a:r>
            <a:endParaRPr sz="1800">
              <a:latin typeface="Calibri"/>
              <a:cs typeface="Calibri"/>
            </a:endParaRPr>
          </a:p>
          <a:p>
            <a:pPr marL="263525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latin typeface="Calibri"/>
                <a:cs typeface="Calibri"/>
              </a:rPr>
              <a:t>10t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(does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begin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letter),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Exchange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Rate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(contains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space)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800">
              <a:latin typeface="Calibri"/>
              <a:cs typeface="Calibri"/>
            </a:endParaRPr>
          </a:p>
          <a:p>
            <a:pPr marL="263525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Keywords</a:t>
            </a:r>
            <a:endParaRPr sz="1800">
              <a:latin typeface="Calibri"/>
              <a:cs typeface="Calibri"/>
            </a:endParaRPr>
          </a:p>
          <a:p>
            <a:pPr marL="263525">
              <a:lnSpc>
                <a:spcPct val="100000"/>
              </a:lnSpc>
              <a:spcBef>
                <a:spcPts val="750"/>
              </a:spcBef>
            </a:pPr>
            <a:r>
              <a:rPr sz="1800" dirty="0">
                <a:latin typeface="Calibri"/>
                <a:cs typeface="Calibri"/>
              </a:rPr>
              <a:t>['False',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'None',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'True',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'and',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'as',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'assert',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'break',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'class',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'continue',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'def',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'del',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'elif',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'else',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'except',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'finally',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'for',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'from',</a:t>
            </a:r>
            <a:endParaRPr sz="1800">
              <a:latin typeface="Calibri"/>
              <a:cs typeface="Calibri"/>
            </a:endParaRPr>
          </a:p>
          <a:p>
            <a:pPr marL="26352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'global',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'if',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'import',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'in',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'is',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'lambda',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'nonlocal',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'not',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'or',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'pass',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'raise',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'return',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'try',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'while',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'with',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'yield']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52716" y="5202935"/>
            <a:ext cx="3335020" cy="1278890"/>
          </a:xfrm>
          <a:prstGeom prst="rect">
            <a:avLst/>
          </a:prstGeom>
          <a:solidFill>
            <a:srgbClr val="FFC000"/>
          </a:solidFill>
          <a:ln w="12700">
            <a:solidFill>
              <a:srgbClr val="BB8B00"/>
            </a:solidFill>
          </a:ln>
        </p:spPr>
        <p:txBody>
          <a:bodyPr vert="horz" wrap="square" lIns="0" tIns="2247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770"/>
              </a:spcBef>
            </a:pPr>
            <a:endParaRPr sz="18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Note: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EC7C30"/>
                </a:solidFill>
                <a:latin typeface="Calibri"/>
                <a:cs typeface="Calibri"/>
              </a:rPr>
              <a:t>False</a:t>
            </a:r>
            <a:r>
              <a:rPr sz="1800" spc="-4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equals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EC7C30"/>
                </a:solidFill>
                <a:latin typeface="Calibri"/>
                <a:cs typeface="Calibri"/>
              </a:rPr>
              <a:t>false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2684" y="5127497"/>
            <a:ext cx="1720214" cy="91122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800" b="1" dirty="0">
                <a:latin typeface="Calibri"/>
                <a:cs typeface="Calibri"/>
              </a:rPr>
              <a:t>Creating</a:t>
            </a:r>
            <a:r>
              <a:rPr sz="1800" b="1" spc="-8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variables</a:t>
            </a:r>
            <a:endParaRPr sz="1800">
              <a:latin typeface="Calibri"/>
              <a:cs typeface="Calibri"/>
            </a:endParaRPr>
          </a:p>
          <a:p>
            <a:pPr marL="111125" marR="726440">
              <a:lnSpc>
                <a:spcPct val="100000"/>
              </a:lnSpc>
              <a:spcBef>
                <a:spcPts val="245"/>
              </a:spcBef>
            </a:pPr>
            <a:r>
              <a:rPr sz="1800" dirty="0">
                <a:latin typeface="Calibri"/>
                <a:cs typeface="Calibri"/>
              </a:rPr>
              <a:t>var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1 </a:t>
            </a:r>
            <a:r>
              <a:rPr sz="1800" spc="-10" dirty="0">
                <a:latin typeface="Calibri"/>
                <a:cs typeface="Calibri"/>
              </a:rPr>
              <a:t>print(var)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Using</a:t>
            </a:r>
            <a:r>
              <a:rPr spc="-20" dirty="0"/>
              <a:t> </a:t>
            </a:r>
            <a:r>
              <a:rPr spc="-10" dirty="0"/>
              <a:t>variables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6905" y="502666"/>
            <a:ext cx="4137025" cy="1885950"/>
            <a:chOff x="136905" y="502666"/>
            <a:chExt cx="4137025" cy="1885950"/>
          </a:xfrm>
        </p:grpSpPr>
        <p:sp>
          <p:nvSpPr>
            <p:cNvPr id="4" name="object 4"/>
            <p:cNvSpPr/>
            <p:nvPr/>
          </p:nvSpPr>
          <p:spPr>
            <a:xfrm>
              <a:off x="143255" y="509016"/>
              <a:ext cx="4124325" cy="1873250"/>
            </a:xfrm>
            <a:custGeom>
              <a:avLst/>
              <a:gdLst/>
              <a:ahLst/>
              <a:cxnLst/>
              <a:rect l="l" t="t" r="r" b="b"/>
              <a:pathLst>
                <a:path w="4124325" h="1873250">
                  <a:moveTo>
                    <a:pt x="3811778" y="0"/>
                  </a:moveTo>
                  <a:lnTo>
                    <a:pt x="0" y="0"/>
                  </a:lnTo>
                  <a:lnTo>
                    <a:pt x="0" y="1872996"/>
                  </a:lnTo>
                  <a:lnTo>
                    <a:pt x="4123944" y="1872996"/>
                  </a:lnTo>
                  <a:lnTo>
                    <a:pt x="4123944" y="312166"/>
                  </a:lnTo>
                  <a:lnTo>
                    <a:pt x="4120557" y="266051"/>
                  </a:lnTo>
                  <a:lnTo>
                    <a:pt x="4110721" y="222032"/>
                  </a:lnTo>
                  <a:lnTo>
                    <a:pt x="4094919" y="180593"/>
                  </a:lnTo>
                  <a:lnTo>
                    <a:pt x="4073635" y="142217"/>
                  </a:lnTo>
                  <a:lnTo>
                    <a:pt x="4047352" y="107388"/>
                  </a:lnTo>
                  <a:lnTo>
                    <a:pt x="4016555" y="76591"/>
                  </a:lnTo>
                  <a:lnTo>
                    <a:pt x="3981726" y="50308"/>
                  </a:lnTo>
                  <a:lnTo>
                    <a:pt x="3943350" y="29024"/>
                  </a:lnTo>
                  <a:lnTo>
                    <a:pt x="3901911" y="13222"/>
                  </a:lnTo>
                  <a:lnTo>
                    <a:pt x="3857892" y="3386"/>
                  </a:lnTo>
                  <a:lnTo>
                    <a:pt x="381177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3255" y="509016"/>
              <a:ext cx="4124325" cy="1873250"/>
            </a:xfrm>
            <a:custGeom>
              <a:avLst/>
              <a:gdLst/>
              <a:ahLst/>
              <a:cxnLst/>
              <a:rect l="l" t="t" r="r" b="b"/>
              <a:pathLst>
                <a:path w="4124325" h="1873250">
                  <a:moveTo>
                    <a:pt x="0" y="0"/>
                  </a:moveTo>
                  <a:lnTo>
                    <a:pt x="3811778" y="0"/>
                  </a:lnTo>
                  <a:lnTo>
                    <a:pt x="3857892" y="3386"/>
                  </a:lnTo>
                  <a:lnTo>
                    <a:pt x="3901911" y="13222"/>
                  </a:lnTo>
                  <a:lnTo>
                    <a:pt x="3943350" y="29024"/>
                  </a:lnTo>
                  <a:lnTo>
                    <a:pt x="3981726" y="50308"/>
                  </a:lnTo>
                  <a:lnTo>
                    <a:pt x="4016555" y="76591"/>
                  </a:lnTo>
                  <a:lnTo>
                    <a:pt x="4047352" y="107388"/>
                  </a:lnTo>
                  <a:lnTo>
                    <a:pt x="4073635" y="142217"/>
                  </a:lnTo>
                  <a:lnTo>
                    <a:pt x="4094919" y="180593"/>
                  </a:lnTo>
                  <a:lnTo>
                    <a:pt x="4110721" y="222032"/>
                  </a:lnTo>
                  <a:lnTo>
                    <a:pt x="4120557" y="266051"/>
                  </a:lnTo>
                  <a:lnTo>
                    <a:pt x="4123944" y="312166"/>
                  </a:lnTo>
                  <a:lnTo>
                    <a:pt x="4123944" y="1872996"/>
                  </a:lnTo>
                  <a:lnTo>
                    <a:pt x="0" y="1872996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21691" y="731265"/>
            <a:ext cx="382587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var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account_balance</a:t>
            </a:r>
            <a:r>
              <a:rPr sz="18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1000.0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client_name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'John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Doe'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print(var,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account_balance,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client_name) print(var)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36905" y="2537205"/>
            <a:ext cx="3413125" cy="1498600"/>
            <a:chOff x="136905" y="2537205"/>
            <a:chExt cx="3413125" cy="1498600"/>
          </a:xfrm>
        </p:grpSpPr>
        <p:sp>
          <p:nvSpPr>
            <p:cNvPr id="8" name="object 8"/>
            <p:cNvSpPr/>
            <p:nvPr/>
          </p:nvSpPr>
          <p:spPr>
            <a:xfrm>
              <a:off x="143255" y="2543555"/>
              <a:ext cx="3400425" cy="1485900"/>
            </a:xfrm>
            <a:custGeom>
              <a:avLst/>
              <a:gdLst/>
              <a:ahLst/>
              <a:cxnLst/>
              <a:rect l="l" t="t" r="r" b="b"/>
              <a:pathLst>
                <a:path w="3400425" h="1485900">
                  <a:moveTo>
                    <a:pt x="3152394" y="0"/>
                  </a:moveTo>
                  <a:lnTo>
                    <a:pt x="0" y="0"/>
                  </a:lnTo>
                  <a:lnTo>
                    <a:pt x="0" y="1485900"/>
                  </a:lnTo>
                  <a:lnTo>
                    <a:pt x="3400044" y="1485900"/>
                  </a:lnTo>
                  <a:lnTo>
                    <a:pt x="3400044" y="247650"/>
                  </a:lnTo>
                  <a:lnTo>
                    <a:pt x="3395012" y="197738"/>
                  </a:lnTo>
                  <a:lnTo>
                    <a:pt x="3380583" y="151251"/>
                  </a:lnTo>
                  <a:lnTo>
                    <a:pt x="3357750" y="109184"/>
                  </a:lnTo>
                  <a:lnTo>
                    <a:pt x="3327511" y="72532"/>
                  </a:lnTo>
                  <a:lnTo>
                    <a:pt x="3290859" y="42293"/>
                  </a:lnTo>
                  <a:lnTo>
                    <a:pt x="3248792" y="19460"/>
                  </a:lnTo>
                  <a:lnTo>
                    <a:pt x="3202305" y="5031"/>
                  </a:lnTo>
                  <a:lnTo>
                    <a:pt x="315239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43255" y="2543555"/>
              <a:ext cx="3400425" cy="1485900"/>
            </a:xfrm>
            <a:custGeom>
              <a:avLst/>
              <a:gdLst/>
              <a:ahLst/>
              <a:cxnLst/>
              <a:rect l="l" t="t" r="r" b="b"/>
              <a:pathLst>
                <a:path w="3400425" h="1485900">
                  <a:moveTo>
                    <a:pt x="0" y="0"/>
                  </a:moveTo>
                  <a:lnTo>
                    <a:pt x="3152394" y="0"/>
                  </a:lnTo>
                  <a:lnTo>
                    <a:pt x="3202305" y="5031"/>
                  </a:lnTo>
                  <a:lnTo>
                    <a:pt x="3248792" y="19460"/>
                  </a:lnTo>
                  <a:lnTo>
                    <a:pt x="3290859" y="42293"/>
                  </a:lnTo>
                  <a:lnTo>
                    <a:pt x="3327511" y="72532"/>
                  </a:lnTo>
                  <a:lnTo>
                    <a:pt x="3357750" y="109184"/>
                  </a:lnTo>
                  <a:lnTo>
                    <a:pt x="3380583" y="151251"/>
                  </a:lnTo>
                  <a:lnTo>
                    <a:pt x="3395012" y="197738"/>
                  </a:lnTo>
                  <a:lnTo>
                    <a:pt x="3400044" y="247650"/>
                  </a:lnTo>
                  <a:lnTo>
                    <a:pt x="3400044" y="1485900"/>
                  </a:lnTo>
                  <a:lnTo>
                    <a:pt x="0" y="14859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1691" y="2984372"/>
            <a:ext cx="28060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var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"3.8.5"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print("Python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version: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"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var)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36905" y="4730241"/>
            <a:ext cx="2175510" cy="1907539"/>
            <a:chOff x="136905" y="4730241"/>
            <a:chExt cx="2175510" cy="1907539"/>
          </a:xfrm>
        </p:grpSpPr>
        <p:sp>
          <p:nvSpPr>
            <p:cNvPr id="12" name="object 12"/>
            <p:cNvSpPr/>
            <p:nvPr/>
          </p:nvSpPr>
          <p:spPr>
            <a:xfrm>
              <a:off x="143255" y="4736591"/>
              <a:ext cx="2162810" cy="1894839"/>
            </a:xfrm>
            <a:custGeom>
              <a:avLst/>
              <a:gdLst/>
              <a:ahLst/>
              <a:cxnLst/>
              <a:rect l="l" t="t" r="r" b="b"/>
              <a:pathLst>
                <a:path w="2162810" h="1894840">
                  <a:moveTo>
                    <a:pt x="1846833" y="0"/>
                  </a:moveTo>
                  <a:lnTo>
                    <a:pt x="0" y="0"/>
                  </a:lnTo>
                  <a:lnTo>
                    <a:pt x="0" y="1894331"/>
                  </a:lnTo>
                  <a:lnTo>
                    <a:pt x="2162556" y="1894331"/>
                  </a:lnTo>
                  <a:lnTo>
                    <a:pt x="2162556" y="315721"/>
                  </a:lnTo>
                  <a:lnTo>
                    <a:pt x="2159132" y="269066"/>
                  </a:lnTo>
                  <a:lnTo>
                    <a:pt x="2149188" y="224536"/>
                  </a:lnTo>
                  <a:lnTo>
                    <a:pt x="2133212" y="182620"/>
                  </a:lnTo>
                  <a:lnTo>
                    <a:pt x="2111691" y="143806"/>
                  </a:lnTo>
                  <a:lnTo>
                    <a:pt x="2085115" y="108584"/>
                  </a:lnTo>
                  <a:lnTo>
                    <a:pt x="2053971" y="77440"/>
                  </a:lnTo>
                  <a:lnTo>
                    <a:pt x="2018749" y="50864"/>
                  </a:lnTo>
                  <a:lnTo>
                    <a:pt x="1979935" y="29343"/>
                  </a:lnTo>
                  <a:lnTo>
                    <a:pt x="1938019" y="13367"/>
                  </a:lnTo>
                  <a:lnTo>
                    <a:pt x="1893489" y="3423"/>
                  </a:lnTo>
                  <a:lnTo>
                    <a:pt x="184683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43255" y="4736591"/>
              <a:ext cx="2162810" cy="1894839"/>
            </a:xfrm>
            <a:custGeom>
              <a:avLst/>
              <a:gdLst/>
              <a:ahLst/>
              <a:cxnLst/>
              <a:rect l="l" t="t" r="r" b="b"/>
              <a:pathLst>
                <a:path w="2162810" h="1894840">
                  <a:moveTo>
                    <a:pt x="0" y="0"/>
                  </a:moveTo>
                  <a:lnTo>
                    <a:pt x="1846833" y="0"/>
                  </a:lnTo>
                  <a:lnTo>
                    <a:pt x="1893489" y="3423"/>
                  </a:lnTo>
                  <a:lnTo>
                    <a:pt x="1938019" y="13367"/>
                  </a:lnTo>
                  <a:lnTo>
                    <a:pt x="1979935" y="29343"/>
                  </a:lnTo>
                  <a:lnTo>
                    <a:pt x="2018749" y="50864"/>
                  </a:lnTo>
                  <a:lnTo>
                    <a:pt x="2053971" y="77440"/>
                  </a:lnTo>
                  <a:lnTo>
                    <a:pt x="2085115" y="108584"/>
                  </a:lnTo>
                  <a:lnTo>
                    <a:pt x="2111691" y="143806"/>
                  </a:lnTo>
                  <a:lnTo>
                    <a:pt x="2133212" y="182620"/>
                  </a:lnTo>
                  <a:lnTo>
                    <a:pt x="2149188" y="224536"/>
                  </a:lnTo>
                  <a:lnTo>
                    <a:pt x="2159132" y="269066"/>
                  </a:lnTo>
                  <a:lnTo>
                    <a:pt x="2162556" y="315721"/>
                  </a:lnTo>
                  <a:lnTo>
                    <a:pt x="2162556" y="1894331"/>
                  </a:lnTo>
                  <a:lnTo>
                    <a:pt x="0" y="1894331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21691" y="5108194"/>
            <a:ext cx="1710689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var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print(var)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#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OT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1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var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var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1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print(var)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#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OT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456433" y="4730241"/>
            <a:ext cx="2418080" cy="1907539"/>
            <a:chOff x="2456433" y="4730241"/>
            <a:chExt cx="2418080" cy="1907539"/>
          </a:xfrm>
        </p:grpSpPr>
        <p:sp>
          <p:nvSpPr>
            <p:cNvPr id="16" name="object 16"/>
            <p:cNvSpPr/>
            <p:nvPr/>
          </p:nvSpPr>
          <p:spPr>
            <a:xfrm>
              <a:off x="2462783" y="4736591"/>
              <a:ext cx="2405380" cy="1894839"/>
            </a:xfrm>
            <a:custGeom>
              <a:avLst/>
              <a:gdLst/>
              <a:ahLst/>
              <a:cxnLst/>
              <a:rect l="l" t="t" r="r" b="b"/>
              <a:pathLst>
                <a:path w="2405379" h="1894840">
                  <a:moveTo>
                    <a:pt x="2089150" y="0"/>
                  </a:moveTo>
                  <a:lnTo>
                    <a:pt x="0" y="0"/>
                  </a:lnTo>
                  <a:lnTo>
                    <a:pt x="0" y="1894331"/>
                  </a:lnTo>
                  <a:lnTo>
                    <a:pt x="2404872" y="1894331"/>
                  </a:lnTo>
                  <a:lnTo>
                    <a:pt x="2404872" y="315721"/>
                  </a:lnTo>
                  <a:lnTo>
                    <a:pt x="2401448" y="269066"/>
                  </a:lnTo>
                  <a:lnTo>
                    <a:pt x="2391504" y="224536"/>
                  </a:lnTo>
                  <a:lnTo>
                    <a:pt x="2375528" y="182620"/>
                  </a:lnTo>
                  <a:lnTo>
                    <a:pt x="2354007" y="143806"/>
                  </a:lnTo>
                  <a:lnTo>
                    <a:pt x="2327431" y="108584"/>
                  </a:lnTo>
                  <a:lnTo>
                    <a:pt x="2296287" y="77440"/>
                  </a:lnTo>
                  <a:lnTo>
                    <a:pt x="2261065" y="50864"/>
                  </a:lnTo>
                  <a:lnTo>
                    <a:pt x="2222251" y="29343"/>
                  </a:lnTo>
                  <a:lnTo>
                    <a:pt x="2180335" y="13367"/>
                  </a:lnTo>
                  <a:lnTo>
                    <a:pt x="2135805" y="3423"/>
                  </a:lnTo>
                  <a:lnTo>
                    <a:pt x="208915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462783" y="4736591"/>
              <a:ext cx="2405380" cy="1894839"/>
            </a:xfrm>
            <a:custGeom>
              <a:avLst/>
              <a:gdLst/>
              <a:ahLst/>
              <a:cxnLst/>
              <a:rect l="l" t="t" r="r" b="b"/>
              <a:pathLst>
                <a:path w="2405379" h="1894840">
                  <a:moveTo>
                    <a:pt x="0" y="0"/>
                  </a:moveTo>
                  <a:lnTo>
                    <a:pt x="2089150" y="0"/>
                  </a:lnTo>
                  <a:lnTo>
                    <a:pt x="2135805" y="3423"/>
                  </a:lnTo>
                  <a:lnTo>
                    <a:pt x="2180335" y="13367"/>
                  </a:lnTo>
                  <a:lnTo>
                    <a:pt x="2222251" y="29343"/>
                  </a:lnTo>
                  <a:lnTo>
                    <a:pt x="2261065" y="50864"/>
                  </a:lnTo>
                  <a:lnTo>
                    <a:pt x="2296287" y="77440"/>
                  </a:lnTo>
                  <a:lnTo>
                    <a:pt x="2327431" y="108584"/>
                  </a:lnTo>
                  <a:lnTo>
                    <a:pt x="2354007" y="143806"/>
                  </a:lnTo>
                  <a:lnTo>
                    <a:pt x="2375528" y="182620"/>
                  </a:lnTo>
                  <a:lnTo>
                    <a:pt x="2391504" y="224536"/>
                  </a:lnTo>
                  <a:lnTo>
                    <a:pt x="2401448" y="269066"/>
                  </a:lnTo>
                  <a:lnTo>
                    <a:pt x="2404872" y="315721"/>
                  </a:lnTo>
                  <a:lnTo>
                    <a:pt x="2404872" y="1894331"/>
                  </a:lnTo>
                  <a:lnTo>
                    <a:pt x="0" y="1894331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541270" y="5245353"/>
            <a:ext cx="1942464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var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100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var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200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300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print(var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)#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OT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500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975350" y="-6350"/>
            <a:ext cx="6223000" cy="6870700"/>
            <a:chOff x="5975350" y="-6350"/>
            <a:chExt cx="6223000" cy="6870700"/>
          </a:xfrm>
        </p:grpSpPr>
        <p:sp>
          <p:nvSpPr>
            <p:cNvPr id="20" name="object 20"/>
            <p:cNvSpPr/>
            <p:nvPr/>
          </p:nvSpPr>
          <p:spPr>
            <a:xfrm>
              <a:off x="5981700" y="0"/>
              <a:ext cx="6210300" cy="6858000"/>
            </a:xfrm>
            <a:custGeom>
              <a:avLst/>
              <a:gdLst/>
              <a:ahLst/>
              <a:cxnLst/>
              <a:rect l="l" t="t" r="r" b="b"/>
              <a:pathLst>
                <a:path w="6210300" h="6858000">
                  <a:moveTo>
                    <a:pt x="5175250" y="0"/>
                  </a:moveTo>
                  <a:lnTo>
                    <a:pt x="0" y="0"/>
                  </a:lnTo>
                  <a:lnTo>
                    <a:pt x="0" y="6857999"/>
                  </a:lnTo>
                  <a:lnTo>
                    <a:pt x="6210300" y="6857999"/>
                  </a:lnTo>
                  <a:lnTo>
                    <a:pt x="6210300" y="1035050"/>
                  </a:lnTo>
                  <a:lnTo>
                    <a:pt x="6209173" y="986326"/>
                  </a:lnTo>
                  <a:lnTo>
                    <a:pt x="6205826" y="938183"/>
                  </a:lnTo>
                  <a:lnTo>
                    <a:pt x="6200309" y="890668"/>
                  </a:lnTo>
                  <a:lnTo>
                    <a:pt x="6192671" y="843833"/>
                  </a:lnTo>
                  <a:lnTo>
                    <a:pt x="6182962" y="797727"/>
                  </a:lnTo>
                  <a:lnTo>
                    <a:pt x="6171232" y="752399"/>
                  </a:lnTo>
                  <a:lnTo>
                    <a:pt x="6157530" y="707900"/>
                  </a:lnTo>
                  <a:lnTo>
                    <a:pt x="6141907" y="664278"/>
                  </a:lnTo>
                  <a:lnTo>
                    <a:pt x="6124411" y="621584"/>
                  </a:lnTo>
                  <a:lnTo>
                    <a:pt x="6105093" y="579867"/>
                  </a:lnTo>
                  <a:lnTo>
                    <a:pt x="6084002" y="539178"/>
                  </a:lnTo>
                  <a:lnTo>
                    <a:pt x="6061188" y="499565"/>
                  </a:lnTo>
                  <a:lnTo>
                    <a:pt x="6036701" y="461079"/>
                  </a:lnTo>
                  <a:lnTo>
                    <a:pt x="6010590" y="423769"/>
                  </a:lnTo>
                  <a:lnTo>
                    <a:pt x="5982906" y="387685"/>
                  </a:lnTo>
                  <a:lnTo>
                    <a:pt x="5953697" y="352877"/>
                  </a:lnTo>
                  <a:lnTo>
                    <a:pt x="5923014" y="319393"/>
                  </a:lnTo>
                  <a:lnTo>
                    <a:pt x="5890906" y="287285"/>
                  </a:lnTo>
                  <a:lnTo>
                    <a:pt x="5857422" y="256602"/>
                  </a:lnTo>
                  <a:lnTo>
                    <a:pt x="5822614" y="227393"/>
                  </a:lnTo>
                  <a:lnTo>
                    <a:pt x="5786530" y="199709"/>
                  </a:lnTo>
                  <a:lnTo>
                    <a:pt x="5749220" y="173598"/>
                  </a:lnTo>
                  <a:lnTo>
                    <a:pt x="5710734" y="149111"/>
                  </a:lnTo>
                  <a:lnTo>
                    <a:pt x="5671121" y="126297"/>
                  </a:lnTo>
                  <a:lnTo>
                    <a:pt x="5630432" y="105206"/>
                  </a:lnTo>
                  <a:lnTo>
                    <a:pt x="5588715" y="85888"/>
                  </a:lnTo>
                  <a:lnTo>
                    <a:pt x="5546021" y="68392"/>
                  </a:lnTo>
                  <a:lnTo>
                    <a:pt x="5502399" y="52769"/>
                  </a:lnTo>
                  <a:lnTo>
                    <a:pt x="5457900" y="39067"/>
                  </a:lnTo>
                  <a:lnTo>
                    <a:pt x="5412572" y="27337"/>
                  </a:lnTo>
                  <a:lnTo>
                    <a:pt x="5366466" y="17628"/>
                  </a:lnTo>
                  <a:lnTo>
                    <a:pt x="5319631" y="9990"/>
                  </a:lnTo>
                  <a:lnTo>
                    <a:pt x="5272116" y="4473"/>
                  </a:lnTo>
                  <a:lnTo>
                    <a:pt x="5223973" y="1126"/>
                  </a:lnTo>
                  <a:lnTo>
                    <a:pt x="517525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981700" y="0"/>
              <a:ext cx="6210300" cy="6858000"/>
            </a:xfrm>
            <a:custGeom>
              <a:avLst/>
              <a:gdLst/>
              <a:ahLst/>
              <a:cxnLst/>
              <a:rect l="l" t="t" r="r" b="b"/>
              <a:pathLst>
                <a:path w="6210300" h="6858000">
                  <a:moveTo>
                    <a:pt x="0" y="0"/>
                  </a:moveTo>
                  <a:lnTo>
                    <a:pt x="5175250" y="0"/>
                  </a:lnTo>
                  <a:lnTo>
                    <a:pt x="5223973" y="1126"/>
                  </a:lnTo>
                  <a:lnTo>
                    <a:pt x="5272116" y="4473"/>
                  </a:lnTo>
                  <a:lnTo>
                    <a:pt x="5319631" y="9990"/>
                  </a:lnTo>
                  <a:lnTo>
                    <a:pt x="5366466" y="17628"/>
                  </a:lnTo>
                  <a:lnTo>
                    <a:pt x="5412572" y="27337"/>
                  </a:lnTo>
                  <a:lnTo>
                    <a:pt x="5457900" y="39067"/>
                  </a:lnTo>
                  <a:lnTo>
                    <a:pt x="5502399" y="52769"/>
                  </a:lnTo>
                  <a:lnTo>
                    <a:pt x="5546021" y="68392"/>
                  </a:lnTo>
                  <a:lnTo>
                    <a:pt x="5588715" y="85888"/>
                  </a:lnTo>
                  <a:lnTo>
                    <a:pt x="5630432" y="105206"/>
                  </a:lnTo>
                  <a:lnTo>
                    <a:pt x="5671121" y="126297"/>
                  </a:lnTo>
                  <a:lnTo>
                    <a:pt x="5710734" y="149111"/>
                  </a:lnTo>
                  <a:lnTo>
                    <a:pt x="5749220" y="173598"/>
                  </a:lnTo>
                  <a:lnTo>
                    <a:pt x="5786530" y="199709"/>
                  </a:lnTo>
                  <a:lnTo>
                    <a:pt x="5822614" y="227393"/>
                  </a:lnTo>
                  <a:lnTo>
                    <a:pt x="5857422" y="256602"/>
                  </a:lnTo>
                  <a:lnTo>
                    <a:pt x="5890906" y="287285"/>
                  </a:lnTo>
                  <a:lnTo>
                    <a:pt x="5923014" y="319393"/>
                  </a:lnTo>
                  <a:lnTo>
                    <a:pt x="5953697" y="352877"/>
                  </a:lnTo>
                  <a:lnTo>
                    <a:pt x="5982906" y="387685"/>
                  </a:lnTo>
                  <a:lnTo>
                    <a:pt x="6010590" y="423769"/>
                  </a:lnTo>
                  <a:lnTo>
                    <a:pt x="6036701" y="461079"/>
                  </a:lnTo>
                  <a:lnTo>
                    <a:pt x="6061188" y="499565"/>
                  </a:lnTo>
                  <a:lnTo>
                    <a:pt x="6084002" y="539178"/>
                  </a:lnTo>
                  <a:lnTo>
                    <a:pt x="6105093" y="579867"/>
                  </a:lnTo>
                  <a:lnTo>
                    <a:pt x="6124411" y="621584"/>
                  </a:lnTo>
                  <a:lnTo>
                    <a:pt x="6141907" y="664278"/>
                  </a:lnTo>
                  <a:lnTo>
                    <a:pt x="6157530" y="707900"/>
                  </a:lnTo>
                  <a:lnTo>
                    <a:pt x="6171232" y="752399"/>
                  </a:lnTo>
                  <a:lnTo>
                    <a:pt x="6182962" y="797727"/>
                  </a:lnTo>
                  <a:lnTo>
                    <a:pt x="6192671" y="843833"/>
                  </a:lnTo>
                  <a:lnTo>
                    <a:pt x="6200309" y="890668"/>
                  </a:lnTo>
                  <a:lnTo>
                    <a:pt x="6205826" y="938183"/>
                  </a:lnTo>
                  <a:lnTo>
                    <a:pt x="6209173" y="986326"/>
                  </a:lnTo>
                  <a:lnTo>
                    <a:pt x="6210300" y="1035050"/>
                  </a:lnTo>
                  <a:lnTo>
                    <a:pt x="6210300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8051672" y="1481073"/>
            <a:ext cx="17672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Shortcut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operators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061328" y="2032457"/>
            <a:ext cx="3160395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70305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x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x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*</a:t>
            </a:r>
            <a:r>
              <a:rPr sz="18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⇒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	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x*=2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2228850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Sheep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Sheep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⇒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	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Sheep+=1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061328" y="2856103"/>
            <a:ext cx="2035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*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j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⇒</a:t>
            </a:r>
            <a:r>
              <a:rPr sz="1800" spc="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+=</a:t>
            </a:r>
            <a:r>
              <a:rPr sz="18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*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j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061328" y="3404438"/>
            <a:ext cx="21475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var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var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⇒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var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/=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21691" y="3953636"/>
            <a:ext cx="959612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52160">
              <a:lnSpc>
                <a:spcPts val="215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rem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rem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%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⇒</a:t>
            </a:r>
            <a:r>
              <a:rPr sz="1800" spc="-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rem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%=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150"/>
              </a:lnSpc>
            </a:pPr>
            <a:r>
              <a:rPr sz="1800" dirty="0">
                <a:latin typeface="Calibri"/>
                <a:cs typeface="Calibri"/>
              </a:rPr>
              <a:t>Assigning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new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value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already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existing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variable</a:t>
            </a:r>
            <a:endParaRPr sz="1800">
              <a:latin typeface="Calibri"/>
              <a:cs typeface="Calibri"/>
            </a:endParaRPr>
          </a:p>
          <a:p>
            <a:pPr marL="5852160">
              <a:lnSpc>
                <a:spcPct val="100000"/>
              </a:lnSpc>
              <a:spcBef>
                <a:spcPts val="2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j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j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(i</a:t>
            </a:r>
            <a:r>
              <a:rPr sz="18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var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rem)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⇒</a:t>
            </a:r>
            <a:r>
              <a:rPr sz="1800" spc="1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j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-=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(i</a:t>
            </a:r>
            <a:r>
              <a:rPr sz="18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var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rem)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061328" y="5050612"/>
            <a:ext cx="18561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x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x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** 2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⇒</a:t>
            </a:r>
            <a:r>
              <a:rPr sz="1800" spc="1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x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**=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213817"/>
            <a:ext cx="11846560" cy="1838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Leaving</a:t>
            </a:r>
            <a:r>
              <a:rPr sz="1800" b="1" spc="-5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comments</a:t>
            </a:r>
            <a:r>
              <a:rPr sz="1800" b="1" spc="-8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in</a:t>
            </a:r>
            <a:r>
              <a:rPr sz="1800" b="1" spc="-3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code:</a:t>
            </a:r>
            <a:r>
              <a:rPr sz="1800" b="1" spc="-6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4471C4"/>
                </a:solidFill>
                <a:latin typeface="Calibri"/>
                <a:cs typeface="Calibri"/>
              </a:rPr>
              <a:t>why,</a:t>
            </a:r>
            <a:r>
              <a:rPr sz="1800" b="1" spc="-4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4471C4"/>
                </a:solidFill>
                <a:latin typeface="Calibri"/>
                <a:cs typeface="Calibri"/>
              </a:rPr>
              <a:t>how,</a:t>
            </a:r>
            <a:r>
              <a:rPr sz="1800" b="1" spc="-5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and</a:t>
            </a:r>
            <a:r>
              <a:rPr sz="1800" b="1" spc="-4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4471C4"/>
                </a:solidFill>
                <a:latin typeface="Calibri"/>
                <a:cs typeface="Calibri"/>
              </a:rPr>
              <a:t>when</a:t>
            </a:r>
            <a:endParaRPr sz="1800">
              <a:latin typeface="Calibri"/>
              <a:cs typeface="Calibri"/>
            </a:endParaRPr>
          </a:p>
          <a:p>
            <a:pPr marL="167005" marR="5080">
              <a:lnSpc>
                <a:spcPct val="100000"/>
              </a:lnSpc>
              <a:spcBef>
                <a:spcPts val="1310"/>
              </a:spcBef>
            </a:pPr>
            <a:r>
              <a:rPr sz="1800" spc="-40" dirty="0">
                <a:latin typeface="Calibri"/>
                <a:cs typeface="Calibri"/>
              </a:rPr>
              <a:t>You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want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put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few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words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addressed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Python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but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humans,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usually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explain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other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readers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code </a:t>
            </a:r>
            <a:r>
              <a:rPr sz="1800" dirty="0">
                <a:latin typeface="Calibri"/>
                <a:cs typeface="Calibri"/>
              </a:rPr>
              <a:t>how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tricks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code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work,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meanings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variables,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eventually,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order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keep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stored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information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on </a:t>
            </a:r>
            <a:r>
              <a:rPr sz="1800" dirty="0">
                <a:latin typeface="Calibri"/>
                <a:cs typeface="Calibri"/>
              </a:rPr>
              <a:t>who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author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when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program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was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written.</a:t>
            </a:r>
            <a:endParaRPr sz="1800">
              <a:latin typeface="Calibri"/>
              <a:cs typeface="Calibri"/>
            </a:endParaRPr>
          </a:p>
          <a:p>
            <a:pPr marL="167005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remark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inserted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program,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which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omitted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runtime,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called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comment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17905" y="2288794"/>
            <a:ext cx="10013315" cy="2652395"/>
            <a:chOff x="517905" y="2288794"/>
            <a:chExt cx="10013315" cy="2652395"/>
          </a:xfrm>
        </p:grpSpPr>
        <p:sp>
          <p:nvSpPr>
            <p:cNvPr id="4" name="object 4"/>
            <p:cNvSpPr/>
            <p:nvPr/>
          </p:nvSpPr>
          <p:spPr>
            <a:xfrm>
              <a:off x="524255" y="2295144"/>
              <a:ext cx="10000615" cy="2639695"/>
            </a:xfrm>
            <a:custGeom>
              <a:avLst/>
              <a:gdLst/>
              <a:ahLst/>
              <a:cxnLst/>
              <a:rect l="l" t="t" r="r" b="b"/>
              <a:pathLst>
                <a:path w="10000615" h="2639695">
                  <a:moveTo>
                    <a:pt x="9560560" y="0"/>
                  </a:moveTo>
                  <a:lnTo>
                    <a:pt x="0" y="0"/>
                  </a:lnTo>
                  <a:lnTo>
                    <a:pt x="0" y="2639567"/>
                  </a:lnTo>
                  <a:lnTo>
                    <a:pt x="10000488" y="2639567"/>
                  </a:lnTo>
                  <a:lnTo>
                    <a:pt x="10000488" y="439927"/>
                  </a:lnTo>
                  <a:lnTo>
                    <a:pt x="9997906" y="391995"/>
                  </a:lnTo>
                  <a:lnTo>
                    <a:pt x="9990340" y="345557"/>
                  </a:lnTo>
                  <a:lnTo>
                    <a:pt x="9978058" y="300882"/>
                  </a:lnTo>
                  <a:lnTo>
                    <a:pt x="9961329" y="258238"/>
                  </a:lnTo>
                  <a:lnTo>
                    <a:pt x="9940421" y="217894"/>
                  </a:lnTo>
                  <a:lnTo>
                    <a:pt x="9915603" y="180118"/>
                  </a:lnTo>
                  <a:lnTo>
                    <a:pt x="9887142" y="145179"/>
                  </a:lnTo>
                  <a:lnTo>
                    <a:pt x="9855308" y="113345"/>
                  </a:lnTo>
                  <a:lnTo>
                    <a:pt x="9820369" y="84884"/>
                  </a:lnTo>
                  <a:lnTo>
                    <a:pt x="9782593" y="60066"/>
                  </a:lnTo>
                  <a:lnTo>
                    <a:pt x="9742249" y="39158"/>
                  </a:lnTo>
                  <a:lnTo>
                    <a:pt x="9699605" y="22429"/>
                  </a:lnTo>
                  <a:lnTo>
                    <a:pt x="9654930" y="10147"/>
                  </a:lnTo>
                  <a:lnTo>
                    <a:pt x="9608492" y="2581"/>
                  </a:lnTo>
                  <a:lnTo>
                    <a:pt x="956056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24255" y="2295144"/>
              <a:ext cx="10000615" cy="2639695"/>
            </a:xfrm>
            <a:custGeom>
              <a:avLst/>
              <a:gdLst/>
              <a:ahLst/>
              <a:cxnLst/>
              <a:rect l="l" t="t" r="r" b="b"/>
              <a:pathLst>
                <a:path w="10000615" h="2639695">
                  <a:moveTo>
                    <a:pt x="0" y="0"/>
                  </a:moveTo>
                  <a:lnTo>
                    <a:pt x="9560560" y="0"/>
                  </a:lnTo>
                  <a:lnTo>
                    <a:pt x="9608492" y="2581"/>
                  </a:lnTo>
                  <a:lnTo>
                    <a:pt x="9654930" y="10147"/>
                  </a:lnTo>
                  <a:lnTo>
                    <a:pt x="9699605" y="22429"/>
                  </a:lnTo>
                  <a:lnTo>
                    <a:pt x="9742249" y="39158"/>
                  </a:lnTo>
                  <a:lnTo>
                    <a:pt x="9782593" y="60066"/>
                  </a:lnTo>
                  <a:lnTo>
                    <a:pt x="9820369" y="84884"/>
                  </a:lnTo>
                  <a:lnTo>
                    <a:pt x="9855308" y="113345"/>
                  </a:lnTo>
                  <a:lnTo>
                    <a:pt x="9887142" y="145179"/>
                  </a:lnTo>
                  <a:lnTo>
                    <a:pt x="9915603" y="180118"/>
                  </a:lnTo>
                  <a:lnTo>
                    <a:pt x="9940421" y="217894"/>
                  </a:lnTo>
                  <a:lnTo>
                    <a:pt x="9961329" y="258238"/>
                  </a:lnTo>
                  <a:lnTo>
                    <a:pt x="9978058" y="300882"/>
                  </a:lnTo>
                  <a:lnTo>
                    <a:pt x="9990340" y="345557"/>
                  </a:lnTo>
                  <a:lnTo>
                    <a:pt x="9997906" y="391995"/>
                  </a:lnTo>
                  <a:lnTo>
                    <a:pt x="10000488" y="439927"/>
                  </a:lnTo>
                  <a:lnTo>
                    <a:pt x="10000488" y="2639567"/>
                  </a:lnTo>
                  <a:lnTo>
                    <a:pt x="0" y="2639567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02691" y="2764282"/>
            <a:ext cx="5845175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79260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#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program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evaluates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hypotenuse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c.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#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lengths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legs.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3.0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 =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4.0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(a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**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**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2)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**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0.5</a:t>
            </a:r>
            <a:r>
              <a:rPr sz="1800" spc="3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#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use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**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instead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square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root.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print("c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=",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c)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4142" y="24255"/>
            <a:ext cx="10538460" cy="782955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The</a:t>
            </a:r>
            <a:r>
              <a:rPr sz="1800" b="1" spc="1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4471C4"/>
                </a:solidFill>
                <a:latin typeface="Courier New"/>
                <a:cs typeface="Courier New"/>
              </a:rPr>
              <a:t>input()</a:t>
            </a:r>
            <a:r>
              <a:rPr sz="1800" b="1" spc="-695" dirty="0">
                <a:solidFill>
                  <a:srgbClr val="4471C4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4471C4"/>
                </a:solidFill>
                <a:latin typeface="Calibri"/>
                <a:cs typeface="Calibri"/>
              </a:rPr>
              <a:t>function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input()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function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able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read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entered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return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same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running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program.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5862" y="1013205"/>
            <a:ext cx="4422140" cy="1936114"/>
            <a:chOff x="165862" y="1013205"/>
            <a:chExt cx="4422140" cy="1936114"/>
          </a:xfrm>
        </p:grpSpPr>
        <p:sp>
          <p:nvSpPr>
            <p:cNvPr id="4" name="object 4"/>
            <p:cNvSpPr/>
            <p:nvPr/>
          </p:nvSpPr>
          <p:spPr>
            <a:xfrm>
              <a:off x="172212" y="1019555"/>
              <a:ext cx="4409440" cy="1923414"/>
            </a:xfrm>
            <a:custGeom>
              <a:avLst/>
              <a:gdLst/>
              <a:ahLst/>
              <a:cxnLst/>
              <a:rect l="l" t="t" r="r" b="b"/>
              <a:pathLst>
                <a:path w="4409440" h="1923414">
                  <a:moveTo>
                    <a:pt x="4088384" y="0"/>
                  </a:moveTo>
                  <a:lnTo>
                    <a:pt x="0" y="0"/>
                  </a:lnTo>
                  <a:lnTo>
                    <a:pt x="0" y="1923288"/>
                  </a:lnTo>
                  <a:lnTo>
                    <a:pt x="4408932" y="1923288"/>
                  </a:lnTo>
                  <a:lnTo>
                    <a:pt x="4408932" y="320548"/>
                  </a:lnTo>
                  <a:lnTo>
                    <a:pt x="4405456" y="273178"/>
                  </a:lnTo>
                  <a:lnTo>
                    <a:pt x="4395360" y="227967"/>
                  </a:lnTo>
                  <a:lnTo>
                    <a:pt x="4379140" y="185411"/>
                  </a:lnTo>
                  <a:lnTo>
                    <a:pt x="4357290" y="146004"/>
                  </a:lnTo>
                  <a:lnTo>
                    <a:pt x="4330308" y="110243"/>
                  </a:lnTo>
                  <a:lnTo>
                    <a:pt x="4298688" y="78623"/>
                  </a:lnTo>
                  <a:lnTo>
                    <a:pt x="4262927" y="51641"/>
                  </a:lnTo>
                  <a:lnTo>
                    <a:pt x="4223520" y="29791"/>
                  </a:lnTo>
                  <a:lnTo>
                    <a:pt x="4180964" y="13571"/>
                  </a:lnTo>
                  <a:lnTo>
                    <a:pt x="4135753" y="3475"/>
                  </a:lnTo>
                  <a:lnTo>
                    <a:pt x="408838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72212" y="1019555"/>
              <a:ext cx="4409440" cy="1923414"/>
            </a:xfrm>
            <a:custGeom>
              <a:avLst/>
              <a:gdLst/>
              <a:ahLst/>
              <a:cxnLst/>
              <a:rect l="l" t="t" r="r" b="b"/>
              <a:pathLst>
                <a:path w="4409440" h="1923414">
                  <a:moveTo>
                    <a:pt x="0" y="0"/>
                  </a:moveTo>
                  <a:lnTo>
                    <a:pt x="4088384" y="0"/>
                  </a:lnTo>
                  <a:lnTo>
                    <a:pt x="4135753" y="3475"/>
                  </a:lnTo>
                  <a:lnTo>
                    <a:pt x="4180964" y="13571"/>
                  </a:lnTo>
                  <a:lnTo>
                    <a:pt x="4223520" y="29791"/>
                  </a:lnTo>
                  <a:lnTo>
                    <a:pt x="4262927" y="51641"/>
                  </a:lnTo>
                  <a:lnTo>
                    <a:pt x="4298688" y="78623"/>
                  </a:lnTo>
                  <a:lnTo>
                    <a:pt x="4330308" y="110243"/>
                  </a:lnTo>
                  <a:lnTo>
                    <a:pt x="4357290" y="146004"/>
                  </a:lnTo>
                  <a:lnTo>
                    <a:pt x="4379140" y="185411"/>
                  </a:lnTo>
                  <a:lnTo>
                    <a:pt x="4395360" y="227967"/>
                  </a:lnTo>
                  <a:lnTo>
                    <a:pt x="4405456" y="273178"/>
                  </a:lnTo>
                  <a:lnTo>
                    <a:pt x="4408932" y="320548"/>
                  </a:lnTo>
                  <a:lnTo>
                    <a:pt x="4408932" y="1923288"/>
                  </a:lnTo>
                  <a:lnTo>
                    <a:pt x="0" y="1923288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50342" y="1542034"/>
            <a:ext cx="356870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8458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print("Tell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me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anything...")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anything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input()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print("Hmm...",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anything,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"...</a:t>
            </a:r>
            <a:r>
              <a:rPr sz="18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Really?")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14415" y="1452372"/>
            <a:ext cx="5954268" cy="1057655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284734" y="3096514"/>
            <a:ext cx="4184015" cy="1176020"/>
            <a:chOff x="284734" y="3096514"/>
            <a:chExt cx="4184015" cy="1176020"/>
          </a:xfrm>
        </p:grpSpPr>
        <p:sp>
          <p:nvSpPr>
            <p:cNvPr id="9" name="object 9"/>
            <p:cNvSpPr/>
            <p:nvPr/>
          </p:nvSpPr>
          <p:spPr>
            <a:xfrm>
              <a:off x="291084" y="3102864"/>
              <a:ext cx="4171315" cy="1163320"/>
            </a:xfrm>
            <a:custGeom>
              <a:avLst/>
              <a:gdLst/>
              <a:ahLst/>
              <a:cxnLst/>
              <a:rect l="l" t="t" r="r" b="b"/>
              <a:pathLst>
                <a:path w="4171315" h="1163320">
                  <a:moveTo>
                    <a:pt x="3977386" y="0"/>
                  </a:moveTo>
                  <a:lnTo>
                    <a:pt x="0" y="0"/>
                  </a:lnTo>
                  <a:lnTo>
                    <a:pt x="0" y="1162812"/>
                  </a:lnTo>
                  <a:lnTo>
                    <a:pt x="4171188" y="1162812"/>
                  </a:lnTo>
                  <a:lnTo>
                    <a:pt x="4171188" y="193801"/>
                  </a:lnTo>
                  <a:lnTo>
                    <a:pt x="4166070" y="149356"/>
                  </a:lnTo>
                  <a:lnTo>
                    <a:pt x="4151494" y="108560"/>
                  </a:lnTo>
                  <a:lnTo>
                    <a:pt x="4128620" y="72577"/>
                  </a:lnTo>
                  <a:lnTo>
                    <a:pt x="4098610" y="42567"/>
                  </a:lnTo>
                  <a:lnTo>
                    <a:pt x="4062627" y="19693"/>
                  </a:lnTo>
                  <a:lnTo>
                    <a:pt x="4021831" y="5117"/>
                  </a:lnTo>
                  <a:lnTo>
                    <a:pt x="397738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91084" y="3102864"/>
              <a:ext cx="4171315" cy="1163320"/>
            </a:xfrm>
            <a:custGeom>
              <a:avLst/>
              <a:gdLst/>
              <a:ahLst/>
              <a:cxnLst/>
              <a:rect l="l" t="t" r="r" b="b"/>
              <a:pathLst>
                <a:path w="4171315" h="1163320">
                  <a:moveTo>
                    <a:pt x="0" y="0"/>
                  </a:moveTo>
                  <a:lnTo>
                    <a:pt x="3977386" y="0"/>
                  </a:lnTo>
                  <a:lnTo>
                    <a:pt x="4021831" y="5117"/>
                  </a:lnTo>
                  <a:lnTo>
                    <a:pt x="4062627" y="19693"/>
                  </a:lnTo>
                  <a:lnTo>
                    <a:pt x="4098610" y="42567"/>
                  </a:lnTo>
                  <a:lnTo>
                    <a:pt x="4128620" y="72577"/>
                  </a:lnTo>
                  <a:lnTo>
                    <a:pt x="4151494" y="108560"/>
                  </a:lnTo>
                  <a:lnTo>
                    <a:pt x="4166070" y="149356"/>
                  </a:lnTo>
                  <a:lnTo>
                    <a:pt x="4171188" y="193801"/>
                  </a:lnTo>
                  <a:lnTo>
                    <a:pt x="4171188" y="1162812"/>
                  </a:lnTo>
                  <a:lnTo>
                    <a:pt x="0" y="116281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69163" y="3383026"/>
            <a:ext cx="355790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84" marR="5080" indent="-2032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anything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input("Tell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me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anything...")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print("Hmm...",</a:t>
            </a:r>
            <a:r>
              <a:rPr sz="18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anything,</a:t>
            </a:r>
            <a:r>
              <a:rPr sz="18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"...Really?")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003805" y="2729229"/>
            <a:ext cx="584200" cy="589280"/>
            <a:chOff x="2003805" y="2729229"/>
            <a:chExt cx="584200" cy="589280"/>
          </a:xfrm>
        </p:grpSpPr>
        <p:sp>
          <p:nvSpPr>
            <p:cNvPr id="13" name="object 13"/>
            <p:cNvSpPr/>
            <p:nvPr/>
          </p:nvSpPr>
          <p:spPr>
            <a:xfrm>
              <a:off x="2010155" y="2735579"/>
              <a:ext cx="571500" cy="576580"/>
            </a:xfrm>
            <a:custGeom>
              <a:avLst/>
              <a:gdLst/>
              <a:ahLst/>
              <a:cxnLst/>
              <a:rect l="l" t="t" r="r" b="b"/>
              <a:pathLst>
                <a:path w="571500" h="576579">
                  <a:moveTo>
                    <a:pt x="285750" y="0"/>
                  </a:moveTo>
                  <a:lnTo>
                    <a:pt x="0" y="285750"/>
                  </a:lnTo>
                  <a:lnTo>
                    <a:pt x="142875" y="285750"/>
                  </a:lnTo>
                  <a:lnTo>
                    <a:pt x="142875" y="576072"/>
                  </a:lnTo>
                  <a:lnTo>
                    <a:pt x="428625" y="576072"/>
                  </a:lnTo>
                  <a:lnTo>
                    <a:pt x="428625" y="285750"/>
                  </a:lnTo>
                  <a:lnTo>
                    <a:pt x="571500" y="285750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010155" y="2735579"/>
              <a:ext cx="571500" cy="576580"/>
            </a:xfrm>
            <a:custGeom>
              <a:avLst/>
              <a:gdLst/>
              <a:ahLst/>
              <a:cxnLst/>
              <a:rect l="l" t="t" r="r" b="b"/>
              <a:pathLst>
                <a:path w="571500" h="576579">
                  <a:moveTo>
                    <a:pt x="571500" y="285750"/>
                  </a:moveTo>
                  <a:lnTo>
                    <a:pt x="428625" y="285750"/>
                  </a:lnTo>
                  <a:lnTo>
                    <a:pt x="428625" y="576072"/>
                  </a:lnTo>
                  <a:lnTo>
                    <a:pt x="142875" y="576072"/>
                  </a:lnTo>
                  <a:lnTo>
                    <a:pt x="142875" y="285750"/>
                  </a:lnTo>
                  <a:lnTo>
                    <a:pt x="0" y="285750"/>
                  </a:lnTo>
                  <a:lnTo>
                    <a:pt x="285750" y="0"/>
                  </a:lnTo>
                  <a:lnTo>
                    <a:pt x="571500" y="285750"/>
                  </a:lnTo>
                  <a:close/>
                </a:path>
              </a:pathLst>
            </a:custGeom>
            <a:ln w="12700">
              <a:solidFill>
                <a:srgbClr val="BB8B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26542" y="4577842"/>
            <a:ext cx="344042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The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result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 the </a:t>
            </a:r>
            <a:r>
              <a:rPr sz="1800" b="1" spc="-10" dirty="0">
                <a:latin typeface="Courier New"/>
                <a:cs typeface="Courier New"/>
              </a:rPr>
              <a:t>input()</a:t>
            </a:r>
            <a:r>
              <a:rPr sz="1800" b="1" spc="-71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function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65862" y="5166105"/>
            <a:ext cx="5288915" cy="1508125"/>
            <a:chOff x="165862" y="5166105"/>
            <a:chExt cx="5288915" cy="1508125"/>
          </a:xfrm>
        </p:grpSpPr>
        <p:sp>
          <p:nvSpPr>
            <p:cNvPr id="17" name="object 17"/>
            <p:cNvSpPr/>
            <p:nvPr/>
          </p:nvSpPr>
          <p:spPr>
            <a:xfrm>
              <a:off x="172212" y="5172455"/>
              <a:ext cx="5276215" cy="1495425"/>
            </a:xfrm>
            <a:custGeom>
              <a:avLst/>
              <a:gdLst/>
              <a:ahLst/>
              <a:cxnLst/>
              <a:rect l="l" t="t" r="r" b="b"/>
              <a:pathLst>
                <a:path w="5276215" h="1495425">
                  <a:moveTo>
                    <a:pt x="5026914" y="0"/>
                  </a:moveTo>
                  <a:lnTo>
                    <a:pt x="0" y="0"/>
                  </a:lnTo>
                  <a:lnTo>
                    <a:pt x="0" y="1495044"/>
                  </a:lnTo>
                  <a:lnTo>
                    <a:pt x="5276088" y="1495044"/>
                  </a:lnTo>
                  <a:lnTo>
                    <a:pt x="5276088" y="249174"/>
                  </a:lnTo>
                  <a:lnTo>
                    <a:pt x="5272075" y="204370"/>
                  </a:lnTo>
                  <a:lnTo>
                    <a:pt x="5260505" y="162207"/>
                  </a:lnTo>
                  <a:lnTo>
                    <a:pt x="5242080" y="123387"/>
                  </a:lnTo>
                  <a:lnTo>
                    <a:pt x="5217502" y="88612"/>
                  </a:lnTo>
                  <a:lnTo>
                    <a:pt x="5187475" y="58585"/>
                  </a:lnTo>
                  <a:lnTo>
                    <a:pt x="5152700" y="34007"/>
                  </a:lnTo>
                  <a:lnTo>
                    <a:pt x="5113880" y="15582"/>
                  </a:lnTo>
                  <a:lnTo>
                    <a:pt x="5071717" y="4012"/>
                  </a:lnTo>
                  <a:lnTo>
                    <a:pt x="502691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72212" y="5172455"/>
              <a:ext cx="5276215" cy="1495425"/>
            </a:xfrm>
            <a:custGeom>
              <a:avLst/>
              <a:gdLst/>
              <a:ahLst/>
              <a:cxnLst/>
              <a:rect l="l" t="t" r="r" b="b"/>
              <a:pathLst>
                <a:path w="5276215" h="1495425">
                  <a:moveTo>
                    <a:pt x="0" y="0"/>
                  </a:moveTo>
                  <a:lnTo>
                    <a:pt x="5026914" y="0"/>
                  </a:lnTo>
                  <a:lnTo>
                    <a:pt x="5071717" y="4012"/>
                  </a:lnTo>
                  <a:lnTo>
                    <a:pt x="5113880" y="15582"/>
                  </a:lnTo>
                  <a:lnTo>
                    <a:pt x="5152700" y="34007"/>
                  </a:lnTo>
                  <a:lnTo>
                    <a:pt x="5187475" y="58585"/>
                  </a:lnTo>
                  <a:lnTo>
                    <a:pt x="5217502" y="88612"/>
                  </a:lnTo>
                  <a:lnTo>
                    <a:pt x="5242080" y="123387"/>
                  </a:lnTo>
                  <a:lnTo>
                    <a:pt x="5260505" y="162207"/>
                  </a:lnTo>
                  <a:lnTo>
                    <a:pt x="5272075" y="204370"/>
                  </a:lnTo>
                  <a:lnTo>
                    <a:pt x="5276088" y="249174"/>
                  </a:lnTo>
                  <a:lnTo>
                    <a:pt x="5276088" y="1495044"/>
                  </a:lnTo>
                  <a:lnTo>
                    <a:pt x="0" y="1495044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50342" y="5481624"/>
            <a:ext cx="461962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9634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EC7C30"/>
                </a:solidFill>
                <a:latin typeface="Calibri"/>
                <a:cs typeface="Calibri"/>
              </a:rPr>
              <a:t>anything</a:t>
            </a:r>
            <a:r>
              <a:rPr sz="1800" spc="-3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EC7C30"/>
                </a:solidFill>
                <a:latin typeface="Calibri"/>
                <a:cs typeface="Calibri"/>
              </a:rPr>
              <a:t>=</a:t>
            </a:r>
            <a:r>
              <a:rPr sz="1800" spc="-5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EC7C30"/>
                </a:solidFill>
                <a:latin typeface="Calibri"/>
                <a:cs typeface="Calibri"/>
              </a:rPr>
              <a:t>input("Enter</a:t>
            </a:r>
            <a:r>
              <a:rPr sz="1800" spc="-2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EC7C30"/>
                </a:solidFill>
                <a:latin typeface="Calibri"/>
                <a:cs typeface="Calibri"/>
              </a:rPr>
              <a:t>a</a:t>
            </a:r>
            <a:r>
              <a:rPr sz="1800" spc="-5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EC7C30"/>
                </a:solidFill>
                <a:latin typeface="Calibri"/>
                <a:cs typeface="Calibri"/>
              </a:rPr>
              <a:t>number:</a:t>
            </a:r>
            <a:r>
              <a:rPr sz="1800" spc="-4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1800" spc="-35" dirty="0">
                <a:solidFill>
                  <a:srgbClr val="EC7C30"/>
                </a:solidFill>
                <a:latin typeface="Calibri"/>
                <a:cs typeface="Calibri"/>
              </a:rPr>
              <a:t>") </a:t>
            </a:r>
            <a:r>
              <a:rPr sz="1800" dirty="0">
                <a:solidFill>
                  <a:srgbClr val="EC7C30"/>
                </a:solidFill>
                <a:latin typeface="Calibri"/>
                <a:cs typeface="Calibri"/>
              </a:rPr>
              <a:t>something</a:t>
            </a:r>
            <a:r>
              <a:rPr sz="1800" spc="-4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EC7C30"/>
                </a:solidFill>
                <a:latin typeface="Calibri"/>
                <a:cs typeface="Calibri"/>
              </a:rPr>
              <a:t>=</a:t>
            </a:r>
            <a:r>
              <a:rPr sz="1800" spc="-3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EC7C30"/>
                </a:solidFill>
                <a:latin typeface="Calibri"/>
                <a:cs typeface="Calibri"/>
              </a:rPr>
              <a:t>anything</a:t>
            </a:r>
            <a:r>
              <a:rPr sz="1800" spc="-4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EC7C30"/>
                </a:solidFill>
                <a:latin typeface="Calibri"/>
                <a:cs typeface="Calibri"/>
              </a:rPr>
              <a:t>**</a:t>
            </a:r>
            <a:r>
              <a:rPr sz="1800" spc="-3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EC7C30"/>
                </a:solidFill>
                <a:latin typeface="Calibri"/>
                <a:cs typeface="Calibri"/>
              </a:rPr>
              <a:t>2.0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EC7C30"/>
                </a:solidFill>
                <a:latin typeface="Calibri"/>
                <a:cs typeface="Calibri"/>
              </a:rPr>
              <a:t>print(anything,</a:t>
            </a:r>
            <a:r>
              <a:rPr sz="1800" spc="-1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EC7C30"/>
                </a:solidFill>
                <a:latin typeface="Calibri"/>
                <a:cs typeface="Calibri"/>
              </a:rPr>
              <a:t>"to</a:t>
            </a:r>
            <a:r>
              <a:rPr sz="1800" spc="-2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EC7C30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EC7C30"/>
                </a:solidFill>
                <a:latin typeface="Calibri"/>
                <a:cs typeface="Calibri"/>
              </a:rPr>
              <a:t>power</a:t>
            </a:r>
            <a:r>
              <a:rPr sz="1800" spc="-2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EC7C30"/>
                </a:solidFill>
                <a:latin typeface="Calibri"/>
                <a:cs typeface="Calibri"/>
              </a:rPr>
              <a:t>of</a:t>
            </a:r>
            <a:r>
              <a:rPr sz="1800" spc="-1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EC7C30"/>
                </a:solidFill>
                <a:latin typeface="Calibri"/>
                <a:cs typeface="Calibri"/>
              </a:rPr>
              <a:t>2</a:t>
            </a:r>
            <a:r>
              <a:rPr sz="1800" spc="-3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EC7C30"/>
                </a:solidFill>
                <a:latin typeface="Calibri"/>
                <a:cs typeface="Calibri"/>
              </a:rPr>
              <a:t>is",</a:t>
            </a:r>
            <a:r>
              <a:rPr sz="1800" spc="-2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EC7C30"/>
                </a:solidFill>
                <a:latin typeface="Calibri"/>
                <a:cs typeface="Calibri"/>
              </a:rPr>
              <a:t>something)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441950" y="5341365"/>
            <a:ext cx="5748020" cy="1402715"/>
            <a:chOff x="5441950" y="5341365"/>
            <a:chExt cx="5748020" cy="1402715"/>
          </a:xfrm>
        </p:grpSpPr>
        <p:sp>
          <p:nvSpPr>
            <p:cNvPr id="21" name="object 21"/>
            <p:cNvSpPr/>
            <p:nvPr/>
          </p:nvSpPr>
          <p:spPr>
            <a:xfrm>
              <a:off x="5448300" y="5347715"/>
              <a:ext cx="5735320" cy="1390015"/>
            </a:xfrm>
            <a:custGeom>
              <a:avLst/>
              <a:gdLst/>
              <a:ahLst/>
              <a:cxnLst/>
              <a:rect l="l" t="t" r="r" b="b"/>
              <a:pathLst>
                <a:path w="5735320" h="1390015">
                  <a:moveTo>
                    <a:pt x="694944" y="0"/>
                  </a:moveTo>
                  <a:lnTo>
                    <a:pt x="0" y="694944"/>
                  </a:lnTo>
                  <a:lnTo>
                    <a:pt x="694944" y="1389888"/>
                  </a:lnTo>
                  <a:lnTo>
                    <a:pt x="694944" y="1042416"/>
                  </a:lnTo>
                  <a:lnTo>
                    <a:pt x="5734811" y="1042416"/>
                  </a:lnTo>
                  <a:lnTo>
                    <a:pt x="5734811" y="347472"/>
                  </a:lnTo>
                  <a:lnTo>
                    <a:pt x="694944" y="347472"/>
                  </a:lnTo>
                  <a:lnTo>
                    <a:pt x="694944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448300" y="5347715"/>
              <a:ext cx="5735320" cy="1390015"/>
            </a:xfrm>
            <a:custGeom>
              <a:avLst/>
              <a:gdLst/>
              <a:ahLst/>
              <a:cxnLst/>
              <a:rect l="l" t="t" r="r" b="b"/>
              <a:pathLst>
                <a:path w="5735320" h="1390015">
                  <a:moveTo>
                    <a:pt x="0" y="694944"/>
                  </a:moveTo>
                  <a:lnTo>
                    <a:pt x="694944" y="0"/>
                  </a:lnTo>
                  <a:lnTo>
                    <a:pt x="694944" y="347472"/>
                  </a:lnTo>
                  <a:lnTo>
                    <a:pt x="5734811" y="347472"/>
                  </a:lnTo>
                  <a:lnTo>
                    <a:pt x="5734811" y="1042416"/>
                  </a:lnTo>
                  <a:lnTo>
                    <a:pt x="694944" y="1042416"/>
                  </a:lnTo>
                  <a:lnTo>
                    <a:pt x="694944" y="1389888"/>
                  </a:lnTo>
                  <a:lnTo>
                    <a:pt x="0" y="694944"/>
                  </a:lnTo>
                  <a:close/>
                </a:path>
              </a:pathLst>
            </a:custGeom>
            <a:ln w="12700">
              <a:solidFill>
                <a:srgbClr val="507D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177788" y="5741009"/>
            <a:ext cx="46247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TypeError: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unsupported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operand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type(s)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**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pow():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'str'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'float'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66496"/>
            <a:ext cx="10925810" cy="767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Type</a:t>
            </a:r>
            <a:r>
              <a:rPr sz="1800" b="1" spc="-8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4471C4"/>
                </a:solidFill>
                <a:latin typeface="Calibri"/>
                <a:cs typeface="Calibri"/>
              </a:rPr>
              <a:t>casting</a:t>
            </a:r>
            <a:endParaRPr sz="1800">
              <a:latin typeface="Calibri"/>
              <a:cs typeface="Calibri"/>
            </a:endParaRPr>
          </a:p>
          <a:p>
            <a:pPr marL="233679">
              <a:lnSpc>
                <a:spcPct val="100000"/>
              </a:lnSpc>
              <a:spcBef>
                <a:spcPts val="1520"/>
              </a:spcBef>
            </a:pPr>
            <a:r>
              <a:rPr sz="1800" dirty="0">
                <a:latin typeface="Calibri"/>
                <a:cs typeface="Calibri"/>
              </a:rPr>
              <a:t>Python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offers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two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simple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functions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specify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type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solve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this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problem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-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here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are: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int()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float().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03961" y="1174750"/>
            <a:ext cx="5089525" cy="1508125"/>
            <a:chOff x="203961" y="1174750"/>
            <a:chExt cx="5089525" cy="1508125"/>
          </a:xfrm>
        </p:grpSpPr>
        <p:sp>
          <p:nvSpPr>
            <p:cNvPr id="4" name="object 4"/>
            <p:cNvSpPr/>
            <p:nvPr/>
          </p:nvSpPr>
          <p:spPr>
            <a:xfrm>
              <a:off x="210311" y="1181100"/>
              <a:ext cx="5076825" cy="1495425"/>
            </a:xfrm>
            <a:custGeom>
              <a:avLst/>
              <a:gdLst/>
              <a:ahLst/>
              <a:cxnLst/>
              <a:rect l="l" t="t" r="r" b="b"/>
              <a:pathLst>
                <a:path w="5076825" h="1495425">
                  <a:moveTo>
                    <a:pt x="4827270" y="0"/>
                  </a:moveTo>
                  <a:lnTo>
                    <a:pt x="0" y="0"/>
                  </a:lnTo>
                  <a:lnTo>
                    <a:pt x="0" y="1495044"/>
                  </a:lnTo>
                  <a:lnTo>
                    <a:pt x="5076444" y="1495044"/>
                  </a:lnTo>
                  <a:lnTo>
                    <a:pt x="5076444" y="249174"/>
                  </a:lnTo>
                  <a:lnTo>
                    <a:pt x="5072431" y="204370"/>
                  </a:lnTo>
                  <a:lnTo>
                    <a:pt x="5060861" y="162207"/>
                  </a:lnTo>
                  <a:lnTo>
                    <a:pt x="5042436" y="123387"/>
                  </a:lnTo>
                  <a:lnTo>
                    <a:pt x="5017858" y="88612"/>
                  </a:lnTo>
                  <a:lnTo>
                    <a:pt x="4987831" y="58585"/>
                  </a:lnTo>
                  <a:lnTo>
                    <a:pt x="4953056" y="34007"/>
                  </a:lnTo>
                  <a:lnTo>
                    <a:pt x="4914236" y="15582"/>
                  </a:lnTo>
                  <a:lnTo>
                    <a:pt x="4872073" y="4012"/>
                  </a:lnTo>
                  <a:lnTo>
                    <a:pt x="482727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10311" y="1181100"/>
              <a:ext cx="5076825" cy="1495425"/>
            </a:xfrm>
            <a:custGeom>
              <a:avLst/>
              <a:gdLst/>
              <a:ahLst/>
              <a:cxnLst/>
              <a:rect l="l" t="t" r="r" b="b"/>
              <a:pathLst>
                <a:path w="5076825" h="1495425">
                  <a:moveTo>
                    <a:pt x="0" y="0"/>
                  </a:moveTo>
                  <a:lnTo>
                    <a:pt x="4827270" y="0"/>
                  </a:lnTo>
                  <a:lnTo>
                    <a:pt x="4872073" y="4012"/>
                  </a:lnTo>
                  <a:lnTo>
                    <a:pt x="4914236" y="15582"/>
                  </a:lnTo>
                  <a:lnTo>
                    <a:pt x="4953056" y="34007"/>
                  </a:lnTo>
                  <a:lnTo>
                    <a:pt x="4987831" y="58585"/>
                  </a:lnTo>
                  <a:lnTo>
                    <a:pt x="5017858" y="88612"/>
                  </a:lnTo>
                  <a:lnTo>
                    <a:pt x="5042436" y="123387"/>
                  </a:lnTo>
                  <a:lnTo>
                    <a:pt x="5060861" y="162207"/>
                  </a:lnTo>
                  <a:lnTo>
                    <a:pt x="5072431" y="204370"/>
                  </a:lnTo>
                  <a:lnTo>
                    <a:pt x="5076444" y="249174"/>
                  </a:lnTo>
                  <a:lnTo>
                    <a:pt x="5076444" y="1495044"/>
                  </a:lnTo>
                  <a:lnTo>
                    <a:pt x="0" y="1495044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88442" y="1489709"/>
            <a:ext cx="461962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anything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EC7C30"/>
                </a:solidFill>
                <a:latin typeface="Calibri"/>
                <a:cs typeface="Calibri"/>
              </a:rPr>
              <a:t>float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(input("Enter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number: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"))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something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anything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**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2.0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print(anything,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"to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power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is",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something)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813805" y="1194561"/>
            <a:ext cx="6070600" cy="1508125"/>
            <a:chOff x="5813805" y="1194561"/>
            <a:chExt cx="6070600" cy="1508125"/>
          </a:xfrm>
        </p:grpSpPr>
        <p:sp>
          <p:nvSpPr>
            <p:cNvPr id="8" name="object 8"/>
            <p:cNvSpPr/>
            <p:nvPr/>
          </p:nvSpPr>
          <p:spPr>
            <a:xfrm>
              <a:off x="5820155" y="1200911"/>
              <a:ext cx="6057900" cy="1495425"/>
            </a:xfrm>
            <a:custGeom>
              <a:avLst/>
              <a:gdLst/>
              <a:ahLst/>
              <a:cxnLst/>
              <a:rect l="l" t="t" r="r" b="b"/>
              <a:pathLst>
                <a:path w="6057900" h="1495425">
                  <a:moveTo>
                    <a:pt x="5808726" y="0"/>
                  </a:moveTo>
                  <a:lnTo>
                    <a:pt x="0" y="0"/>
                  </a:lnTo>
                  <a:lnTo>
                    <a:pt x="0" y="1495043"/>
                  </a:lnTo>
                  <a:lnTo>
                    <a:pt x="6057900" y="1495043"/>
                  </a:lnTo>
                  <a:lnTo>
                    <a:pt x="6057900" y="249174"/>
                  </a:lnTo>
                  <a:lnTo>
                    <a:pt x="6053887" y="204370"/>
                  </a:lnTo>
                  <a:lnTo>
                    <a:pt x="6042317" y="162207"/>
                  </a:lnTo>
                  <a:lnTo>
                    <a:pt x="6023892" y="123387"/>
                  </a:lnTo>
                  <a:lnTo>
                    <a:pt x="5999314" y="88612"/>
                  </a:lnTo>
                  <a:lnTo>
                    <a:pt x="5969287" y="58585"/>
                  </a:lnTo>
                  <a:lnTo>
                    <a:pt x="5934512" y="34007"/>
                  </a:lnTo>
                  <a:lnTo>
                    <a:pt x="5895692" y="15582"/>
                  </a:lnTo>
                  <a:lnTo>
                    <a:pt x="5853529" y="4012"/>
                  </a:lnTo>
                  <a:lnTo>
                    <a:pt x="580872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820155" y="1200911"/>
              <a:ext cx="6057900" cy="1495425"/>
            </a:xfrm>
            <a:custGeom>
              <a:avLst/>
              <a:gdLst/>
              <a:ahLst/>
              <a:cxnLst/>
              <a:rect l="l" t="t" r="r" b="b"/>
              <a:pathLst>
                <a:path w="6057900" h="1495425">
                  <a:moveTo>
                    <a:pt x="0" y="0"/>
                  </a:moveTo>
                  <a:lnTo>
                    <a:pt x="5808726" y="0"/>
                  </a:lnTo>
                  <a:lnTo>
                    <a:pt x="5853529" y="4012"/>
                  </a:lnTo>
                  <a:lnTo>
                    <a:pt x="5895692" y="15582"/>
                  </a:lnTo>
                  <a:lnTo>
                    <a:pt x="5934512" y="34007"/>
                  </a:lnTo>
                  <a:lnTo>
                    <a:pt x="5969287" y="58585"/>
                  </a:lnTo>
                  <a:lnTo>
                    <a:pt x="5999314" y="88612"/>
                  </a:lnTo>
                  <a:lnTo>
                    <a:pt x="6023892" y="123387"/>
                  </a:lnTo>
                  <a:lnTo>
                    <a:pt x="6042317" y="162207"/>
                  </a:lnTo>
                  <a:lnTo>
                    <a:pt x="6053887" y="204370"/>
                  </a:lnTo>
                  <a:lnTo>
                    <a:pt x="6057900" y="249174"/>
                  </a:lnTo>
                  <a:lnTo>
                    <a:pt x="6057900" y="1495043"/>
                  </a:lnTo>
                  <a:lnTo>
                    <a:pt x="0" y="1495043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899150" y="1371727"/>
            <a:ext cx="442214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leg_a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EC7C30"/>
                </a:solidFill>
                <a:latin typeface="Calibri"/>
                <a:cs typeface="Calibri"/>
              </a:rPr>
              <a:t>float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(input("Input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first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leg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length: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"))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leg_b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EC7C30"/>
                </a:solidFill>
                <a:latin typeface="Calibri"/>
                <a:cs typeface="Calibri"/>
              </a:rPr>
              <a:t>float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(input("Input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second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leg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length: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"))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hypo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(leg_a**2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leg_b**2)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**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.5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print("Hypotenuse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length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is",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hypo)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53509" y="2988690"/>
            <a:ext cx="28994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String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operators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-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introduction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8442" y="3415410"/>
            <a:ext cx="2807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Concatenation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string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string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14629" y="3974338"/>
            <a:ext cx="5677535" cy="1924050"/>
            <a:chOff x="214629" y="3974338"/>
            <a:chExt cx="5677535" cy="1924050"/>
          </a:xfrm>
        </p:grpSpPr>
        <p:sp>
          <p:nvSpPr>
            <p:cNvPr id="14" name="object 14"/>
            <p:cNvSpPr/>
            <p:nvPr/>
          </p:nvSpPr>
          <p:spPr>
            <a:xfrm>
              <a:off x="220979" y="3980688"/>
              <a:ext cx="5664835" cy="1911350"/>
            </a:xfrm>
            <a:custGeom>
              <a:avLst/>
              <a:gdLst/>
              <a:ahLst/>
              <a:cxnLst/>
              <a:rect l="l" t="t" r="r" b="b"/>
              <a:pathLst>
                <a:path w="5664835" h="1911350">
                  <a:moveTo>
                    <a:pt x="5346192" y="0"/>
                  </a:moveTo>
                  <a:lnTo>
                    <a:pt x="0" y="0"/>
                  </a:lnTo>
                  <a:lnTo>
                    <a:pt x="0" y="1911096"/>
                  </a:lnTo>
                  <a:lnTo>
                    <a:pt x="5664708" y="1911096"/>
                  </a:lnTo>
                  <a:lnTo>
                    <a:pt x="5664708" y="318516"/>
                  </a:lnTo>
                  <a:lnTo>
                    <a:pt x="5661254" y="271451"/>
                  </a:lnTo>
                  <a:lnTo>
                    <a:pt x="5651221" y="226530"/>
                  </a:lnTo>
                  <a:lnTo>
                    <a:pt x="5635101" y="184244"/>
                  </a:lnTo>
                  <a:lnTo>
                    <a:pt x="5613388" y="145088"/>
                  </a:lnTo>
                  <a:lnTo>
                    <a:pt x="5586575" y="109552"/>
                  </a:lnTo>
                  <a:lnTo>
                    <a:pt x="5555155" y="78132"/>
                  </a:lnTo>
                  <a:lnTo>
                    <a:pt x="5519619" y="51319"/>
                  </a:lnTo>
                  <a:lnTo>
                    <a:pt x="5480463" y="29606"/>
                  </a:lnTo>
                  <a:lnTo>
                    <a:pt x="5438177" y="13486"/>
                  </a:lnTo>
                  <a:lnTo>
                    <a:pt x="5393256" y="3453"/>
                  </a:lnTo>
                  <a:lnTo>
                    <a:pt x="534619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20979" y="3980688"/>
              <a:ext cx="5664835" cy="1911350"/>
            </a:xfrm>
            <a:custGeom>
              <a:avLst/>
              <a:gdLst/>
              <a:ahLst/>
              <a:cxnLst/>
              <a:rect l="l" t="t" r="r" b="b"/>
              <a:pathLst>
                <a:path w="5664835" h="1911350">
                  <a:moveTo>
                    <a:pt x="0" y="0"/>
                  </a:moveTo>
                  <a:lnTo>
                    <a:pt x="5346192" y="0"/>
                  </a:lnTo>
                  <a:lnTo>
                    <a:pt x="5393256" y="3453"/>
                  </a:lnTo>
                  <a:lnTo>
                    <a:pt x="5438177" y="13486"/>
                  </a:lnTo>
                  <a:lnTo>
                    <a:pt x="5480463" y="29606"/>
                  </a:lnTo>
                  <a:lnTo>
                    <a:pt x="5519619" y="51319"/>
                  </a:lnTo>
                  <a:lnTo>
                    <a:pt x="5555155" y="78132"/>
                  </a:lnTo>
                  <a:lnTo>
                    <a:pt x="5586575" y="109552"/>
                  </a:lnTo>
                  <a:lnTo>
                    <a:pt x="5613388" y="145088"/>
                  </a:lnTo>
                  <a:lnTo>
                    <a:pt x="5635101" y="184244"/>
                  </a:lnTo>
                  <a:lnTo>
                    <a:pt x="5651221" y="226530"/>
                  </a:lnTo>
                  <a:lnTo>
                    <a:pt x="5661254" y="271451"/>
                  </a:lnTo>
                  <a:lnTo>
                    <a:pt x="5664708" y="318516"/>
                  </a:lnTo>
                  <a:lnTo>
                    <a:pt x="5664708" y="1911096"/>
                  </a:lnTo>
                  <a:lnTo>
                    <a:pt x="0" y="1911096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00329" y="4361179"/>
            <a:ext cx="487997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fnam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input("May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have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your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first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name,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please?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")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lnam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input("May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have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your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last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name,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please?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")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print("Thank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you.")</a:t>
            </a:r>
            <a:endParaRPr sz="18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print("\nYour</a:t>
            </a:r>
            <a:r>
              <a:rPr sz="180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name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"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fnam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"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"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lnam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".")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75628" y="3467227"/>
            <a:ext cx="27101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3335" algn="r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Replication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string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*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number</a:t>
            </a:r>
            <a:endParaRPr sz="18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number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*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string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089650" y="4155694"/>
            <a:ext cx="5887720" cy="1742439"/>
            <a:chOff x="6089650" y="4155694"/>
            <a:chExt cx="5887720" cy="1742439"/>
          </a:xfrm>
        </p:grpSpPr>
        <p:sp>
          <p:nvSpPr>
            <p:cNvPr id="19" name="object 19"/>
            <p:cNvSpPr/>
            <p:nvPr/>
          </p:nvSpPr>
          <p:spPr>
            <a:xfrm>
              <a:off x="6096000" y="4162044"/>
              <a:ext cx="5875020" cy="1729739"/>
            </a:xfrm>
            <a:custGeom>
              <a:avLst/>
              <a:gdLst/>
              <a:ahLst/>
              <a:cxnLst/>
              <a:rect l="l" t="t" r="r" b="b"/>
              <a:pathLst>
                <a:path w="5875020" h="1729739">
                  <a:moveTo>
                    <a:pt x="5586730" y="0"/>
                  </a:moveTo>
                  <a:lnTo>
                    <a:pt x="0" y="0"/>
                  </a:lnTo>
                  <a:lnTo>
                    <a:pt x="0" y="1729739"/>
                  </a:lnTo>
                  <a:lnTo>
                    <a:pt x="5875020" y="1729739"/>
                  </a:lnTo>
                  <a:lnTo>
                    <a:pt x="5875020" y="288289"/>
                  </a:lnTo>
                  <a:lnTo>
                    <a:pt x="5871247" y="241518"/>
                  </a:lnTo>
                  <a:lnTo>
                    <a:pt x="5860326" y="197152"/>
                  </a:lnTo>
                  <a:lnTo>
                    <a:pt x="5842849" y="155786"/>
                  </a:lnTo>
                  <a:lnTo>
                    <a:pt x="5819408" y="118012"/>
                  </a:lnTo>
                  <a:lnTo>
                    <a:pt x="5790596" y="84423"/>
                  </a:lnTo>
                  <a:lnTo>
                    <a:pt x="5757007" y="55611"/>
                  </a:lnTo>
                  <a:lnTo>
                    <a:pt x="5719233" y="32170"/>
                  </a:lnTo>
                  <a:lnTo>
                    <a:pt x="5677867" y="14693"/>
                  </a:lnTo>
                  <a:lnTo>
                    <a:pt x="5633501" y="3772"/>
                  </a:lnTo>
                  <a:lnTo>
                    <a:pt x="558673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096000" y="4162044"/>
              <a:ext cx="5875020" cy="1729739"/>
            </a:xfrm>
            <a:custGeom>
              <a:avLst/>
              <a:gdLst/>
              <a:ahLst/>
              <a:cxnLst/>
              <a:rect l="l" t="t" r="r" b="b"/>
              <a:pathLst>
                <a:path w="5875020" h="1729739">
                  <a:moveTo>
                    <a:pt x="0" y="0"/>
                  </a:moveTo>
                  <a:lnTo>
                    <a:pt x="5586730" y="0"/>
                  </a:lnTo>
                  <a:lnTo>
                    <a:pt x="5633501" y="3772"/>
                  </a:lnTo>
                  <a:lnTo>
                    <a:pt x="5677867" y="14693"/>
                  </a:lnTo>
                  <a:lnTo>
                    <a:pt x="5719233" y="32170"/>
                  </a:lnTo>
                  <a:lnTo>
                    <a:pt x="5757007" y="55611"/>
                  </a:lnTo>
                  <a:lnTo>
                    <a:pt x="5790596" y="84423"/>
                  </a:lnTo>
                  <a:lnTo>
                    <a:pt x="5819408" y="118012"/>
                  </a:lnTo>
                  <a:lnTo>
                    <a:pt x="5842849" y="155786"/>
                  </a:lnTo>
                  <a:lnTo>
                    <a:pt x="5860326" y="197152"/>
                  </a:lnTo>
                  <a:lnTo>
                    <a:pt x="5871247" y="241518"/>
                  </a:lnTo>
                  <a:lnTo>
                    <a:pt x="5875020" y="288289"/>
                  </a:lnTo>
                  <a:lnTo>
                    <a:pt x="5875020" y="1729739"/>
                  </a:lnTo>
                  <a:lnTo>
                    <a:pt x="0" y="172973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175628" y="4451730"/>
            <a:ext cx="3761104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print("+"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*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"-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"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"+")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print(("|"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"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"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*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"|\n")</a:t>
            </a:r>
            <a:r>
              <a:rPr sz="18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*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5,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end="")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print("+"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*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"-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"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"+")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3870" y="2654934"/>
            <a:ext cx="714248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0" dirty="0">
                <a:solidFill>
                  <a:srgbClr val="000000"/>
                </a:solidFill>
                <a:latin typeface="Calibri"/>
                <a:cs typeface="Calibri"/>
              </a:rPr>
              <a:t>See</a:t>
            </a:r>
            <a:r>
              <a:rPr sz="5400" b="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5400" b="0" dirty="0">
                <a:solidFill>
                  <a:srgbClr val="000000"/>
                </a:solidFill>
                <a:latin typeface="Calibri"/>
                <a:cs typeface="Calibri"/>
              </a:rPr>
              <a:t>you</a:t>
            </a:r>
            <a:r>
              <a:rPr sz="5400" b="0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5400" b="0" dirty="0">
                <a:solidFill>
                  <a:srgbClr val="000000"/>
                </a:solidFill>
                <a:latin typeface="Calibri"/>
                <a:cs typeface="Calibri"/>
              </a:rPr>
              <a:t>in</a:t>
            </a:r>
            <a:r>
              <a:rPr sz="5400"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5400" b="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5400" b="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5400" b="0" dirty="0">
                <a:solidFill>
                  <a:srgbClr val="000000"/>
                </a:solidFill>
                <a:latin typeface="Calibri"/>
                <a:cs typeface="Calibri"/>
              </a:rPr>
              <a:t>lab</a:t>
            </a:r>
            <a:r>
              <a:rPr sz="5400" b="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5400" b="0" spc="-10" dirty="0">
                <a:solidFill>
                  <a:srgbClr val="000000"/>
                </a:solidFill>
                <a:latin typeface="Calibri"/>
                <a:cs typeface="Calibri"/>
              </a:rPr>
              <a:t>session</a:t>
            </a:r>
            <a:endParaRPr sz="5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2199</Words>
  <Application>Microsoft Office PowerPoint</Application>
  <PresentationFormat>Widescreen</PresentationFormat>
  <Paragraphs>190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Courier New</vt:lpstr>
      <vt:lpstr>Times New Roman</vt:lpstr>
      <vt:lpstr>Wingdings</vt:lpstr>
      <vt:lpstr>Office Theme</vt:lpstr>
      <vt:lpstr>Lecture -2</vt:lpstr>
      <vt:lpstr>PowerPoint Presentation</vt:lpstr>
      <vt:lpstr>Compilation vs. interpretation</vt:lpstr>
      <vt:lpstr>What is Python?</vt:lpstr>
      <vt:lpstr>Python’s versions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Using variables</vt:lpstr>
      <vt:lpstr>PowerPoint Presentation</vt:lpstr>
      <vt:lpstr>PowerPoint Presentation</vt:lpstr>
      <vt:lpstr>PowerPoint Presentation</vt:lpstr>
      <vt:lpstr>See you in the lab session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dhulfiqar aalwahab</cp:lastModifiedBy>
  <cp:revision>2</cp:revision>
  <dcterms:created xsi:type="dcterms:W3CDTF">2024-06-25T12:18:20Z</dcterms:created>
  <dcterms:modified xsi:type="dcterms:W3CDTF">2025-02-24T14:19:47Z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2022-02-17T00:00:00Z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2024-06-25T00:00:00Z</vt:filetime>
  </property>
  <property fmtid="{D5CDD505-2E9C-101B-9397-08002B2CF9AE}" pid="5" name="Producer">
    <vt:lpwstr>Microsoft® PowerPoint® for Microsoft 365</vt:lpwstr>
  </property>
</Properties>
</file>